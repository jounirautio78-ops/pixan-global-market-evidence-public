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9ca85155694c05" /><Relationship Type="http://schemas.openxmlformats.org/officeDocument/2006/relationships/extended-properties" Target="/docProps/app.xml" Id="Rdec4ae2e26974a0b" /><Relationship Type="http://schemas.openxmlformats.org/officeDocument/2006/relationships/officeDocument" Target="/ppt/presentation.xml" Id="Rd19c83b49cbe42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ff932c48c8455c"/>
  </p:sldMasterIdLst>
  <p:notesMasterIdLst>
    <p:notesMasterId xmlns:r="http://schemas.openxmlformats.org/officeDocument/2006/relationships" r:id="Rc87697b205d045fb"/>
  </p:notesMasterIdLst>
  <p:sldIdLst>
    <p:sldId xmlns:r="http://schemas.openxmlformats.org/officeDocument/2006/relationships" id="256" r:id="R5664879f63164c19"/>
    <p:sldId xmlns:r="http://schemas.openxmlformats.org/officeDocument/2006/relationships" id="257" r:id="R137852f5c4ab4d4c"/>
    <p:sldId xmlns:r="http://schemas.openxmlformats.org/officeDocument/2006/relationships" id="258" r:id="R185acb507f5b45bf"/>
    <p:sldId xmlns:r="http://schemas.openxmlformats.org/officeDocument/2006/relationships" id="259" r:id="Rb6ddd29c99394aa0"/>
    <p:sldId xmlns:r="http://schemas.openxmlformats.org/officeDocument/2006/relationships" id="260" r:id="R2dcca258a24d4c8f"/>
    <p:sldId xmlns:r="http://schemas.openxmlformats.org/officeDocument/2006/relationships" id="261" r:id="R57015e848ecd4758"/>
    <p:sldId xmlns:r="http://schemas.openxmlformats.org/officeDocument/2006/relationships" id="262" r:id="Rc935a09e211742f5"/>
    <p:sldId xmlns:r="http://schemas.openxmlformats.org/officeDocument/2006/relationships" id="263" r:id="R7d4b1b15abd64b1d"/>
    <p:sldId xmlns:r="http://schemas.openxmlformats.org/officeDocument/2006/relationships" id="264" r:id="R1040af19bc8d48d6"/>
    <p:sldId xmlns:r="http://schemas.openxmlformats.org/officeDocument/2006/relationships" id="265" r:id="R56e6a31b70494e6e"/>
    <p:sldId xmlns:r="http://schemas.openxmlformats.org/officeDocument/2006/relationships" id="266" r:id="R93c92e4543074b94"/>
    <p:sldId xmlns:r="http://schemas.openxmlformats.org/officeDocument/2006/relationships" id="267" r:id="Rb80424da47454b30"/>
  </p:sldIdLst>
  <p:sldSz cx="12191999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7525731794c5f" /><Relationship Type="http://schemas.openxmlformats.org/officeDocument/2006/relationships/slideMaster" Target="/ppt/slideMasters/slideMaster1.xml" Id="R14ff932c48c8455c" /><Relationship Type="http://schemas.openxmlformats.org/officeDocument/2006/relationships/notesMaster" Target="/ppt/notesMasters/notesMaster1.xml" Id="Rc87697b205d045fb" /><Relationship Type="http://schemas.openxmlformats.org/officeDocument/2006/relationships/presProps" Target="/ppt/presProps.xml" Id="Rfa90448537c9465c" /><Relationship Type="http://schemas.openxmlformats.org/officeDocument/2006/relationships/viewProps" Target="/ppt/viewProps.xml" Id="R6ccc3aeed84e46d1" /><Relationship Type="http://schemas.openxmlformats.org/officeDocument/2006/relationships/tableStyles" Target="/ppt/tableStyles.xml" Id="Rc9d60ec581594100" /><Relationship Type="http://schemas.openxmlformats.org/officeDocument/2006/relationships/slide" Target="/ppt/slides/slide1.xml" Id="R5664879f63164c19" /><Relationship Type="http://schemas.openxmlformats.org/officeDocument/2006/relationships/slide" Target="/ppt/slides/slide2.xml" Id="R137852f5c4ab4d4c" /><Relationship Type="http://schemas.openxmlformats.org/officeDocument/2006/relationships/slide" Target="/ppt/slides/slide3.xml" Id="R185acb507f5b45bf" /><Relationship Type="http://schemas.openxmlformats.org/officeDocument/2006/relationships/slide" Target="/ppt/slides/slide4.xml" Id="Rb6ddd29c99394aa0" /><Relationship Type="http://schemas.openxmlformats.org/officeDocument/2006/relationships/slide" Target="/ppt/slides/slide5.xml" Id="R2dcca258a24d4c8f" /><Relationship Type="http://schemas.openxmlformats.org/officeDocument/2006/relationships/slide" Target="/ppt/slides/slide6.xml" Id="R57015e848ecd4758" /><Relationship Type="http://schemas.openxmlformats.org/officeDocument/2006/relationships/slide" Target="/ppt/slides/slide7.xml" Id="Rc935a09e211742f5" /><Relationship Type="http://schemas.openxmlformats.org/officeDocument/2006/relationships/slide" Target="/ppt/slides/slide8.xml" Id="R7d4b1b15abd64b1d" /><Relationship Type="http://schemas.openxmlformats.org/officeDocument/2006/relationships/slide" Target="/ppt/slides/slide9.xml" Id="R1040af19bc8d48d6" /><Relationship Type="http://schemas.openxmlformats.org/officeDocument/2006/relationships/slide" Target="/ppt/slides/slide10.xml" Id="R56e6a31b70494e6e" /><Relationship Type="http://schemas.openxmlformats.org/officeDocument/2006/relationships/slide" Target="/ppt/slides/slide11.xml" Id="R93c92e4543074b94" /><Relationship Type="http://schemas.openxmlformats.org/officeDocument/2006/relationships/slide" Target="/ppt/slides/slide12.xml" Id="Rb80424da47454b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2571f37d9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c754fe2144e07" /><Relationship Type="http://schemas.openxmlformats.org/officeDocument/2006/relationships/notesMaster" Target="/ppt/notesMasters/notesMaster1.xml" Id="Rd25232754999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edf83daba43a9" /><Relationship Type="http://schemas.openxmlformats.org/officeDocument/2006/relationships/notesMaster" Target="/ppt/notesMasters/notesMaster1.xml" Id="Rc2893d8ade8a4d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33a66e19514a81" /><Relationship Type="http://schemas.openxmlformats.org/officeDocument/2006/relationships/notesMaster" Target="/ppt/notesMasters/notesMaster1.xml" Id="Rf24cc8e4a6fb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c660a5c6b543e7" /><Relationship Type="http://schemas.openxmlformats.org/officeDocument/2006/relationships/notesMaster" Target="/ppt/notesMasters/notesMaster1.xml" Id="Rbaffefcd7c8646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2e395f0a8d4dc2" /><Relationship Type="http://schemas.openxmlformats.org/officeDocument/2006/relationships/notesMaster" Target="/ppt/notesMasters/notesMaster1.xml" Id="Rf2695a92c362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51c72885a24739" /><Relationship Type="http://schemas.openxmlformats.org/officeDocument/2006/relationships/notesMaster" Target="/ppt/notesMasters/notesMaster1.xml" Id="R8f444359757546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ab6e04e1942e7" /><Relationship Type="http://schemas.openxmlformats.org/officeDocument/2006/relationships/notesMaster" Target="/ppt/notesMasters/notesMaster1.xml" Id="Rd93b6b73574d49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458f1d6ac74edd" /><Relationship Type="http://schemas.openxmlformats.org/officeDocument/2006/relationships/notesMaster" Target="/ppt/notesMasters/notesMaster1.xml" Id="R272dab2cf9c944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132dd2a2d4eeb" /><Relationship Type="http://schemas.openxmlformats.org/officeDocument/2006/relationships/notesMaster" Target="/ppt/notesMasters/notesMaster1.xml" Id="R1ccc9a06bc97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280d1aaa4845bd" /><Relationship Type="http://schemas.openxmlformats.org/officeDocument/2006/relationships/notesMaster" Target="/ppt/notesMasters/notesMaster1.xml" Id="R3a6d1bd764b04b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b777bf422a455b" /><Relationship Type="http://schemas.openxmlformats.org/officeDocument/2006/relationships/notesMaster" Target="/ppt/notesMasters/notesMaster1.xml" Id="R5526454c40504d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c675b159c94994" /><Relationship Type="http://schemas.openxmlformats.org/officeDocument/2006/relationships/notesMaster" Target="/ppt/notesMasters/notesMaster1.xml" Id="Rdf2daaf58723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a9b2a79f545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d2b2c94c848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612d31b344b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484933d7f4e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5f95d3e1e4e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b4987d9d94b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baa1215c748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ed4d944f74a5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2ad0691ba49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1d9f8cf0843f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349786f644df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BFE7C-DBFA-470B-BB5E-365F06FA20F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F5F6946-4A14-4457-AEC8-423F984369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8D10F0-FD90-4D7C-8CBE-72CE793202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2BF74F-AD15-4FBE-BA9D-72428C00D5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996F79-7E29-48E3-B575-CEAFE1487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6B12-972F-4BF8-8986-537761FE9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711D23-046A-4393-A053-01E58F16CA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6A6D75-3147-44D6-9A35-F6100BA00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BA0E1E-00BF-45E5-A2FF-5E81F13CFC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7A503E-8156-425A-8032-5A84E62757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AF9A4E-73C5-4533-ABF7-DBD4C086E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59FC3-7A89-4ADD-9E6E-1974A0CF0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BDEBBB-507F-4F32-B2EC-A9937B1F6D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8A3805-8E7C-41CF-9919-6A015C97B7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D852A1-38CD-407B-9D80-C261691D0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BE63F5-11DC-4640-B8F3-2F4AB3775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23A5-6E4F-4F4D-8759-519968AD86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5A32B0-C75C-40C4-800A-FCE07AC165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FB8BB0-2565-4B95-9229-F625542F05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68F1B1E-4AE4-41ED-935C-0323328908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ADCC5F-615D-405F-8CD5-C0584CA6F4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C4B6BD-A440-43B1-8869-D1E9A21DD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2EDBEE-2592-4A22-BBF0-063F6A1D4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1D6DC3-5B4B-4157-9FB4-600A5AFA54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8A2D52-7098-4F32-B6B0-01A3D03D8A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5D52EF-03CD-41AC-99A4-2F9C85529D4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32AA920-5003-4D7C-A44F-42F58F026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6C8AAC-3B78-4CE8-91FE-3D0006DD45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E2600CD-856B-434D-ABBE-BFE6253E6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61D64F-B30D-4BA0-A21F-1CC15B7F7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62E158F-8BA7-4BF5-9F01-BBA401138B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65CC351-BB6A-45F4-9A61-AD47C3839F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A4345A-30BF-4970-9DEF-8E73C73C6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47E472B-D08E-4ED1-83FD-0672785E65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3AC2B7-ABDD-4A54-9756-0C35EF52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F0F556-8B4C-4CD0-B4B9-CC03FD7750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80994E-4B99-409B-BBA2-37831CF053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54A9BB-C4A6-4486-8F3D-87FE7CCD30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2DADCC-DD06-4F54-9C47-33FEFADC5F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4B98CF-CD53-47AC-B5F3-068434BCF3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7E2E31-69CC-4875-A695-E5633FB3CE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C8719C-E6E6-4BF4-A250-A02C0EA98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FCF95-962D-48C7-87EA-7D09553CC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CE24CF6-E45D-4408-B992-D31A3B6565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3D3B57-72C4-456C-953F-500AB22D5D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81BAA7-DE87-479F-825C-02FFE2EFE8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341CB6-0185-4D11-8CA4-7921238619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D3F275-CF17-485B-B116-393F6D571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EB391-6631-4CB3-8591-930E5C0A7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905449-0E7E-415D-9EBD-6EE1FE3E2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5573B2-5444-40DD-84D7-B71F77C446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13900B-1CE5-4C71-A57F-D1E444298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17155A-3263-4612-9FE6-C0458CE31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AAE2FE-FA3E-4456-B901-6A0B25C1B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FA47AE-7046-42BB-945F-C0729FB62D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BC7815-0188-4C93-9AC6-CBC8CA9791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4D1E8F-9B03-43FA-B3F4-23D5D31732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88F74F-C99F-4B1A-80EE-18F4A51DBE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8a663d17f14e67" /><Relationship Type="http://schemas.openxmlformats.org/officeDocument/2006/relationships/slideLayout" Target="/ppt/slideLayouts/slideLayout1.xml" Id="R9443039d893d4a07" /><Relationship Type="http://schemas.openxmlformats.org/officeDocument/2006/relationships/slideLayout" Target="/ppt/slideLayouts/slideLayout2.xml" Id="R92ad09993b994a68" /><Relationship Type="http://schemas.openxmlformats.org/officeDocument/2006/relationships/slideLayout" Target="/ppt/slideLayouts/slideLayout3.xml" Id="R3dd436487b134952" /><Relationship Type="http://schemas.openxmlformats.org/officeDocument/2006/relationships/slideLayout" Target="/ppt/slideLayouts/slideLayout4.xml" Id="R3da6f22198eb4302" /><Relationship Type="http://schemas.openxmlformats.org/officeDocument/2006/relationships/slideLayout" Target="/ppt/slideLayouts/slideLayout5.xml" Id="R4a8ba36f8002429c" /><Relationship Type="http://schemas.openxmlformats.org/officeDocument/2006/relationships/slideLayout" Target="/ppt/slideLayouts/slideLayout6.xml" Id="R6742d2f3279f4719" /><Relationship Type="http://schemas.openxmlformats.org/officeDocument/2006/relationships/slideLayout" Target="/ppt/slideLayouts/slideLayout7.xml" Id="R4894858333094f16" /><Relationship Type="http://schemas.openxmlformats.org/officeDocument/2006/relationships/slideLayout" Target="/ppt/slideLayouts/slideLayout8.xml" Id="R20e7329a70914d08" /><Relationship Type="http://schemas.openxmlformats.org/officeDocument/2006/relationships/slideLayout" Target="/ppt/slideLayouts/slideLayout9.xml" Id="Rc517c42f52e04300" /><Relationship Type="http://schemas.openxmlformats.org/officeDocument/2006/relationships/slideLayout" Target="/ppt/slideLayouts/slideLayout10.xml" Id="R6cd08312f7b9442d" /><Relationship Type="http://schemas.openxmlformats.org/officeDocument/2006/relationships/slideLayout" Target="/ppt/slideLayouts/slideLayout11.xml" Id="Rd4553f29f9b14b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4465F11-837C-4EF2-8147-2C3F41FA9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DEF6D8-EA80-48DB-9CC0-EB20AEA553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5BB857-9D3C-4D42-82E2-ECA9C6FEAC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F0F6EB-056B-49A6-848B-C6D7F00F92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E769C4-7CCA-48D6-BA11-49DBD762DB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3039d893d4a07"/>
    <p:sldLayoutId xmlns:r="http://schemas.openxmlformats.org/officeDocument/2006/relationships" id="2147483650" r:id="R92ad09993b994a68"/>
    <p:sldLayoutId xmlns:r="http://schemas.openxmlformats.org/officeDocument/2006/relationships" id="2147483651" r:id="R3dd436487b134952"/>
    <p:sldLayoutId xmlns:r="http://schemas.openxmlformats.org/officeDocument/2006/relationships" id="2147483652" r:id="R3da6f22198eb4302"/>
    <p:sldLayoutId xmlns:r="http://schemas.openxmlformats.org/officeDocument/2006/relationships" id="2147483653" r:id="R4a8ba36f8002429c"/>
    <p:sldLayoutId xmlns:r="http://schemas.openxmlformats.org/officeDocument/2006/relationships" id="2147483654" r:id="R6742d2f3279f4719"/>
    <p:sldLayoutId xmlns:r="http://schemas.openxmlformats.org/officeDocument/2006/relationships" id="2147483655" r:id="R4894858333094f16"/>
    <p:sldLayoutId xmlns:r="http://schemas.openxmlformats.org/officeDocument/2006/relationships" id="2147483656" r:id="R20e7329a70914d08"/>
    <p:sldLayoutId xmlns:r="http://schemas.openxmlformats.org/officeDocument/2006/relationships" id="2147483657" r:id="Rc517c42f52e04300"/>
    <p:sldLayoutId xmlns:r="http://schemas.openxmlformats.org/officeDocument/2006/relationships" id="2147483658" r:id="R6cd08312f7b9442d"/>
    <p:sldLayoutId xmlns:r="http://schemas.openxmlformats.org/officeDocument/2006/relationships" id="2147483659" r:id="Rd4553f29f9b14b6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77812da6004ceb" /><Relationship Type="http://schemas.openxmlformats.org/officeDocument/2006/relationships/notesSlide" Target="/ppt/notesSlides/notesSlide1.xml" Id="R7f39e5f431a443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6274e62dea418b" /><Relationship Type="http://schemas.openxmlformats.org/officeDocument/2006/relationships/notesSlide" Target="/ppt/notesSlides/notesSlide2.xml" Id="Rbfb82df501854e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1fa795cb2b45bb" /><Relationship Type="http://schemas.openxmlformats.org/officeDocument/2006/relationships/notesSlide" Target="/ppt/notesSlides/notesSlide3.xml" Id="Re38e6cf9b90540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cb94a133b54237" /><Relationship Type="http://schemas.openxmlformats.org/officeDocument/2006/relationships/notesSlide" Target="/ppt/notesSlides/notesSlide4.xml" Id="Rf68d25a451d4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6e2f2c23334a37" /><Relationship Type="http://schemas.openxmlformats.org/officeDocument/2006/relationships/notesSlide" Target="/ppt/notesSlides/notesSlide5.xml" Id="R8a41ccbc5cb3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162597ec4144d3" /><Relationship Type="http://schemas.openxmlformats.org/officeDocument/2006/relationships/notesSlide" Target="/ppt/notesSlides/notesSlide6.xml" Id="R9c8c6e0bfadf46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cc973d3af4008" /><Relationship Type="http://schemas.openxmlformats.org/officeDocument/2006/relationships/notesSlide" Target="/ppt/notesSlides/notesSlide7.xml" Id="Rfc5c3960883842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0d7214c0ab466e" /><Relationship Type="http://schemas.openxmlformats.org/officeDocument/2006/relationships/notesSlide" Target="/ppt/notesSlides/notesSlide8.xml" Id="R4fc69c7e381d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fd10041b0e44e3" /><Relationship Type="http://schemas.openxmlformats.org/officeDocument/2006/relationships/notesSlide" Target="/ppt/notesSlides/notesSlide9.xml" Id="R6b8e23c7a06344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0ca233eb114f2c" /><Relationship Type="http://schemas.openxmlformats.org/officeDocument/2006/relationships/notesSlide" Target="/ppt/notesSlides/notesSlide10.xml" Id="R26bf32a5f70f46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c38505167c4fdd" /><Relationship Type="http://schemas.openxmlformats.org/officeDocument/2006/relationships/notesSlide" Target="/ppt/notesSlides/notesSlide11.xml" Id="Rf6287e73daa242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a56106bc094ca9" /><Relationship Type="http://schemas.openxmlformats.org/officeDocument/2006/relationships/notesSlide" Target="/ppt/notesSlides/notesSlide12.xml" Id="R7454fc6a68514f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3313A9-8C61-45BD-A679-81A5BB8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D0CAC7-D42A-4246-BD02-044D22E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PUBLIC EVIDENCE PACKAGE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9A632E-D226-46D2-B3A3-DBEEE2F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patent to a lender-ready</a:t>
            </a:r>
            <a:b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C3EA56-09CA-48D4-8497-54E82494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12-slide financing and technology assessment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F2F06F-53FB-4A11-AA68-2C1D0EE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D8DDBF-45CF-4A11-B058-E149E71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status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83C5A7C-D122-4FFC-A8CE-9273540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2026.07.24-17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670456-9B08-4FC5-884E-EF27703C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Updated 2026-07-24</a:t>
            </a:r>
            <a:b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 slides · 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4A8B76-B969-4DD0-BFC7-70DE3BC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338F63-93E3-4228-81BA-103F79FB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Confirmed evidence is separated from supported information, assumptions and missing evidence.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D0B23B-E8AB-49F7-ADFB-2D129F3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Not Pixan Oy's official position · not a valuation, investment, lending or legal opinion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5ADC1E-83AB-4973-9F4E-0084D93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 · Financing thesis</a:t>
            </a:r>
          </a:p>
        </p:txBody>
      </p:sp>
    </p:spTree>
    <p:extLst>
      <p:ext uri="{BB962C8B-B14F-4D97-AF65-F5344CB8AC3E}">
        <p14:creationId xmlns:p14="http://schemas.microsoft.com/office/powerpoint/2010/main" val="1154884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467A43E-5A61-491E-89A4-753A16D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 · 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26E3E5-75BD-4DD2-AAA0-DED6F9F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problem lies as much in the evidence as in the technology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86994F-1EEB-4B68-9969-99FB432A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A7CDB6-7735-42F9-A1D0-817A3B29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BD1525-2F1B-4225-9FD8-6D968A5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Atlas readiness;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DF2B85-B855-4478-9777-5D005B5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78739E-44DA-4924-9E48-8A32183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Broad market claims do not become lender-ready collateral without a country-specific rights, product, sales and cash-flow chain.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15C51C-7765-436D-A60A-E71A761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Market metrics are fragmented: shipments, taxes, litres and commercial estimates are not the same thing.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family publication does not prove current validity or absence of encumbrances.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court judgment alone does not prove paid damages or a global royalty base.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84253C-0552-499A-A904-E40E100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61F45-7044-4CA8-A2DD-E5AA7FB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Lender's core question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110566-59EE-4419-8CC9-25ED6B7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Which verified asset and cash flow covers the loan in a downside case?</a:t>
            </a:r>
          </a:p>
        </p:txBody>
      </p:sp>
    </p:spTree>
    <p:extLst>
      <p:ext uri="{BB962C8B-B14F-4D97-AF65-F5344CB8AC3E}">
        <p14:creationId xmlns:p14="http://schemas.microsoft.com/office/powerpoint/2010/main" val="10704931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2001C6E-900B-407F-B474-12587BB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 · PATENTED SOLUTION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E185EB-68DA-4228-963A-0E73452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13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solution controls vaporiser power based on measured resistance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E0E469-99AA-42DF-A082-9C8F87C2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5881EC-33F1-42E4-AEAE-AC281787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E42AD2-D7DB-4630-B582-6406880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EE80CE9-20A2-4D49-9730-3A60CDF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D01F8C-12D3-45B0-8CBC-5C8FF45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published patent specification concerns control of an electrically powered vaporiser by measuring heating-element resistance, selecting the corresponding power from stored data and controlling power delivered to the heater within defined user-adjustment limits.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018251-8853-4CE8-8A3C-DB974269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Control is based on stored resistance–power values.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power relationship is described as non-proportional.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User adjustment occurs between a non-zero minimum and a stored maximum.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2055E6-0E50-4C10-9EB9-5EB1F23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E42DFF-5C0C-4660-B833-37F5640F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ABABF5-3C6B-4E87-8AB9-E2F6FCC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This is a plain-language summary of the published patent specification. Only the operative claims in the relevant country and a product-specific claim chart are determinative.</a:t>
            </a:r>
          </a:p>
        </p:txBody>
      </p:sp>
    </p:spTree>
    <p:extLst>
      <p:ext uri="{BB962C8B-B14F-4D97-AF65-F5344CB8AC3E}">
        <p14:creationId xmlns:p14="http://schemas.microsoft.com/office/powerpoint/2010/main" val="5675071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9C23C0-7384-4161-8D4F-D3206C5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4 · PATENT AND IP STATUS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827838-98CE-46C8-9F31-BD2A44A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IP core is documented; country-level usability still requires reconciliation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DD582B1-0B6A-4405-B9BE-305F80C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75F675-CA63-4F0A-B17D-D9943C2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68C2CE-72F9-4D1A-81C0-61FE8EA2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EPO Register;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ADAD7E-DC12-464D-AE6A-E89317C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5BC6E2A-4A73-44A5-BBBE-618DFAD3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4858EA-D907-4C6B-B67F-8CE9CA4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6D662C-13EC-498B-AEFF-9CAE5F3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earliest priority year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9F19166-6EF5-4FD3-B134-CADD53D0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04F7C9-F172-450C-AF2D-9FD065B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B01F8E9-F47A-4F00-88EE-510BD2A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 claims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680A569-4346-4811-BF89-1748228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7F3D94-2E17-46E0-B9C3-A009FA02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0154F-74F7-4112-A39E-2D74E8C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family-publication records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922B05-90B2-4C83-9D3F-B5EE7AF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EPO Register: patent maintained as amended after opposition; B2 published on 24 April 2024.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714CCF9-9132-4FA8-B021-591129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C69826C-7708-4581-9DE8-4B8BE8E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DFBA14-95A8-492A-BDC4-9B73F52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Recorded proprietor in the public register: Pixan Oy. Current national validity, fees and encumbrances across the family have not yet been verified.</a:t>
            </a:r>
          </a:p>
        </p:txBody>
      </p:sp>
    </p:spTree>
    <p:extLst>
      <p:ext uri="{BB962C8B-B14F-4D97-AF65-F5344CB8AC3E}">
        <p14:creationId xmlns:p14="http://schemas.microsoft.com/office/powerpoint/2010/main" val="16609213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6CE26A-56CA-4EB4-8FD1-607AAD9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 · TECHNICAL DIFFERENTIATION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497AC-5EE1-449A-9336-ECBC46E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13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Technical differentiation lies in the claims — not product appearance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A4EA1D-2021-43A6-95AE-D0AC405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9D81A9-585B-46FB-9551-5DA9306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6F8DEA-9F9F-46FD-B354-B2F66437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D7AFEC-BD93-47E2-8585-058C0E68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D497F52-738B-4F3E-ABB0-AD31C63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financing assessment must trace every material claim limitation to a product and country.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47237E-66E2-496B-A084-DF75CDF8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patent specification provides a technical hypothesis and documented protection text.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Germany: the decision supports the link between certain products and claims 1 and 6.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Independent tests, teardown dossiers and claim charts for other countries are missing from the public evidence.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4CFE299-1B49-451E-BDA9-3786264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AD639C6-5B05-48B2-8521-8F8ECB3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0BB94E-84B6-426C-B603-37079C5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Sample → chain of custody → teardown → measurement data → claim chart → counsel review → relevant sales.</a:t>
            </a:r>
          </a:p>
        </p:txBody>
      </p:sp>
    </p:spTree>
    <p:extLst>
      <p:ext uri="{BB962C8B-B14F-4D97-AF65-F5344CB8AC3E}">
        <p14:creationId xmlns:p14="http://schemas.microsoft.com/office/powerpoint/2010/main" val="17293504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3251B6E-567D-464D-91EC-CC818B6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6 · MARKET SIZE AND SCOPE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37280-31C4-41C2-A347-794C51E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8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Market size is currently a range and a set of observations — not one number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FC4DED-36EE-48BC-BEA4-500B5549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EEFD81-A7EB-4EFE-8181-96A68C2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043428-E3C8-4EA4-9A0C-9A5A6E6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Market-values;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E1CEFF-C6D6-46B5-9510-E58A5775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B37E6A4-9872-4AB5-8D87-FC008E8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4EE265-DF59-492F-9AAE-402D335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AC71B1-5CA8-4768-BEC5-0F1CEC59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official annual observations from 6 countries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6B7B6E-BC7B-4706-A68E-C512AB5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4B19AF-803E-49D7-848C-66012A2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NZD 280.685m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859EE5-340B-45E2-9968-FFE97DB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New Zealand 2024: raw sum from 29 files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66804AA-5D23-41DF-BDE1-B712D6F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F79686D-7671-47F3-B8DE-7B71F04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EUR 4.99bn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0994E7-CBAB-4480-8582-459A2016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2023: Commission-published benchmark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6C23826-0A80-455D-862D-348E01F1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4/4 candidates failed the D1–D10 protocol; the accepted-donor gate is 0/3.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B77E487-9ACC-49B2-9EFF-15A7382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431A1FC-6A70-4B68-BDFF-A9334ADD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77332C2-C4F0-4277-B4D2-378810A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1216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New Zealand's raw sum reconciles to the official ≥NZD 280m headline; the NZD 264.561m repeated-row sensitivity is not a corrected estimate, and the identified-vaping raw sum is NZD 274.18m. The EU figure is a supported institutional benchmark based on commercial Euromonitor 2025 data; Cyprus, Luxembourg and Malta are missing. The commercial USD 26.0–46.32bn range and Germany's EUR 667.92m–1,654.62m liquid model are cross-checks, not the atlas's global estimate.</a:t>
            </a:r>
          </a:p>
        </p:txBody>
      </p:sp>
    </p:spTree>
    <p:extLst>
      <p:ext uri="{BB962C8B-B14F-4D97-AF65-F5344CB8AC3E}">
        <p14:creationId xmlns:p14="http://schemas.microsoft.com/office/powerpoint/2010/main" val="13421308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2DD201-BB1E-4AA6-903D-8069E34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7 · CUSTOMERS AND PURCHASE RATIONALE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8841C0-BBDA-4209-8916-80FA087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3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Customer demand still requires validation across three decision logics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53A31A-0979-4EBF-B14E-C0C5E2C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B60502-C357-403B-B3CF-BC6F7DD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71EBB3-58D7-4092-931D-0A2156A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licensing; WIPO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046C0D-CC03-490F-8C6C-7AB05121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3845A80-8FA2-4B09-9ACE-64D253F1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Potential segments are manufacturers, technology providers, and IP financiers or buyers.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1FBA63-92E2-4304-91E0-52E80D5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manufacturer buys freedom to operate, legal certainty or technology — if the relevant product and territory are established.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technology provider evaluates integrability, freedom to operate and unit economics.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financier evaluates title, realisable cash flow, control and downside value.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ECF484F-7EB1-428A-B319-7189484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21F958-89D8-4238-B488-9E51DC19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Current evidence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709E45-9F06-4BC6-8A3D-CE1FBC8D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public evidence does not confirm named customers, pilots, purchase intentions or signed licences.</a:t>
            </a:r>
          </a:p>
        </p:txBody>
      </p:sp>
    </p:spTree>
    <p:extLst>
      <p:ext uri="{BB962C8B-B14F-4D97-AF65-F5344CB8AC3E}">
        <p14:creationId xmlns:p14="http://schemas.microsoft.com/office/powerpoint/2010/main" val="10860881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28F889-76C9-43DF-A985-4905321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8 · COMPETITION AND ALTERNATIVES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1AE82B-51A4-494E-808F-A015996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Distinguish competition, alternatives and patent risk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B4AE7F-7264-47F3-9393-F646E40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03936-FCFD-478F-A7C0-2E1A801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EC4B82-B246-41AC-8373-916177F5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Register; EPO;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7794C-6899-45C2-B9D2-36A8136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55"/>
                <a:gridCol w="6040366"/>
                <a:gridCol w="226513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Benchmark 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solutions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Does the product solve the same problem differently?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families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Is there overlapping protection or FTO risk?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alternatives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Licence, assignment, settlement or own use?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Assumption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Non-patented alternatives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 the performance be achieved by designing around the claims?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D34ABC-F449-40F8-8D99-8FDD874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Competitor analysis is a material open workstream in the lender's technology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0527087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E39133-FA70-481D-A709-D7F650C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9 · VALIDATION AND CURRENT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AF4194-8D94-43AA-89AB-4970917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Uneven validation strength is explicitly classified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59D0FD-DC0D-40B8-88D7-82B4034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064590-C23E-4985-B9AF-A42F862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BBE4B1-0270-420B-A628-E30AE04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23BA76-D55A-43C1-B179-1C5D241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1599834"/>
                <a:gridCol w="3377427"/>
                <a:gridCol w="3910705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Claim scope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Classification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exists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is missing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core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EPO Register and B2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Country status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German proceedings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Two official decisions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Finality, enforcement, cash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Market observations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official figures from 6 countries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retail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Technical testing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specification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test and raw data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evidence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Commercialisation framework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Customers, contracts, payments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7F3F397-0DB9-4D36-9B7E-438558D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Proven legal evidence does not replace technical, commercial or financial validation.</a:t>
            </a:r>
          </a:p>
        </p:txBody>
      </p:sp>
    </p:spTree>
    <p:extLst>
      <p:ext uri="{BB962C8B-B14F-4D97-AF65-F5344CB8AC3E}">
        <p14:creationId xmlns:p14="http://schemas.microsoft.com/office/powerpoint/2010/main" val="441003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D5A351-87D5-4FC0-8C4E-AF27DA02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10 · COMMERCIALISATION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DF16A6-6735-461A-8CF2-DD6D786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3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Commercialisation proceeds through gates, not mass assertions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4F9F99-B660-497D-89AB-585E2B0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8F04C8-0DC6-4B31-9B6D-1314443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E5B3EE-F0EB-4001-982E-0E5DE9F6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licensing; dispute resolution;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436EB6-8026-4C4B-A7FD-A4A63D8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D62F44C-6DEB-4925-BEE2-AFD1F870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A66CC8-6216-404C-80A6-F287010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46A864-467E-4542-82EB-4FD9ED8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Rights matrix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7B3E55-4840-45AF-A469-B69553D0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Confirm country, proprietor, fee payment, encumbrance, operative claims and deadlines.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B6CFC91-F9AC-4295-A6BE-3ED4C3D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302EDA-CF60-4E81-847C-60FE980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D15083-27F4-476A-9FA4-1C0F7C4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Product dossier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9C5490-1317-48C7-B946-7467C1DA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Obtain a sample, document the chain and prepare a counsel-reviewed claim chart.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B3FDE2C-B09D-4AFA-94FA-16DB5A29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78C1ED0-982F-4BDE-84E5-9DFAC1D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87F29E-C434-415B-8879-3BF38E7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Target scoring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BCFA66-0DA3-483B-84C5-1FC5357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Assess rights, evidence, sales, counterparty, cost and enforcement.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306ECA0-90E7-4A46-873E-26BAC25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6F88424-872A-45FD-82BB-250164F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FCA070D-90EA-462B-A7EB-04DAFE7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Limited pilot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CED04BC-19DF-4720-AEF6-3FD9869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Test a licence, settlement, assignment or financing route on auditable terms.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2454E64-C7FE-478A-9870-9CF14CF6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Only an executed contract or receivable creates cash-flow evidence.</a:t>
            </a:r>
          </a:p>
        </p:txBody>
      </p:sp>
    </p:spTree>
    <p:extLst>
      <p:ext uri="{BB962C8B-B14F-4D97-AF65-F5344CB8AC3E}">
        <p14:creationId xmlns:p14="http://schemas.microsoft.com/office/powerpoint/2010/main" val="3265221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C9FF91-E197-46A2-ADD7-E9610F3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11 · FINANCIAL MODEL AND SENSITIVITIES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7D8C65-E0B4-49B2-99A8-AA09061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Evidence—not market share—must drive the model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B1C45C-EA35-45B3-A6F3-668A1E6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E10D64-8E9D-4DBC-A986-1AFC86E4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9303A9-DDC6-423D-80DA-AA3A9C8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2026.07.24-17 · 2026-07-24 · Sources: WIPO IP valuation; Market-values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359D59-9144-49B7-9007-E086CCC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6332677"/>
                <a:gridCol w="19997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Bridge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 to verify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Total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country-level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0/3 retail-value donors; 4 candidates failed D1–D10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Attributable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Validity × product × period × country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Cash flow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terms, costs, taxes, delay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Downside realisation and control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94190B-4748-4B21-B94A-47358E0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Show downside/base/upside only after every bridge input has been documented.</a:t>
            </a:r>
          </a:p>
        </p:txBody>
      </p:sp>
    </p:spTree>
    <p:extLst>
      <p:ext uri="{BB962C8B-B14F-4D97-AF65-F5344CB8AC3E}">
        <p14:creationId xmlns:p14="http://schemas.microsoft.com/office/powerpoint/2010/main" val="1167385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935346-65F8-40EF-96B5-5BCD4F0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DECISION FRAMEWORK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745E78-C693-454C-8CCD-F4F95F61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Financing decision only after four critical gaps are closed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56030F-8591-467A-8E4B-451B1B7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1. Counsel-signed title, encumbrance, fee-payment and rights matrix.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2. Claim charts for prioritised products and documented relevant sales.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3. Realised or contract-based cash flows and audited financial information.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4. Independent valuation and downside collateral analysis.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Next decision: approve a controlled 90-day diligence phase?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BEFC98-2B6A-44AA-833B-A57B36C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Version 2026.07.24-17 · 2026-07-24 · 12 / 12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58CA37-63A1-4AFB-B100-8257B2DB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749808"/>
            <a:ext cx="7955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12 · Risks, controls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561269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2026-07-23T22:56:23.1650000Z</dcterms:created>
  <dcterms:modified xsi:type="dcterms:W3CDTF">2026-07-23T22:56:23.1650000Z</dcterms:modified>
</coreProperties>
</file>