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a1db1ed95a4a57" /><Relationship Type="http://schemas.openxmlformats.org/officeDocument/2006/relationships/extended-properties" Target="/docProps/app.xml" Id="R30db1c1068ae46d3" /><Relationship Type="http://schemas.openxmlformats.org/officeDocument/2006/relationships/officeDocument" Target="/ppt/presentation.xml" Id="R3538f36b329e40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e29351665241b2"/>
  </p:sldMasterIdLst>
  <p:notesMasterIdLst>
    <p:notesMasterId xmlns:r="http://schemas.openxmlformats.org/officeDocument/2006/relationships" r:id="R66d5454fac524a5a"/>
  </p:notesMasterIdLst>
  <p:sldIdLst>
    <p:sldId xmlns:r="http://schemas.openxmlformats.org/officeDocument/2006/relationships" id="256" r:id="Rf792f31b4fb841cd"/>
    <p:sldId xmlns:r="http://schemas.openxmlformats.org/officeDocument/2006/relationships" id="257" r:id="R903f63f59204411f"/>
    <p:sldId xmlns:r="http://schemas.openxmlformats.org/officeDocument/2006/relationships" id="258" r:id="Rbc0aac7dc948498c"/>
    <p:sldId xmlns:r="http://schemas.openxmlformats.org/officeDocument/2006/relationships" id="259" r:id="R036b8bbba6f84a11"/>
    <p:sldId xmlns:r="http://schemas.openxmlformats.org/officeDocument/2006/relationships" id="260" r:id="R6e84f54433134414"/>
    <p:sldId xmlns:r="http://schemas.openxmlformats.org/officeDocument/2006/relationships" id="261" r:id="Rf4d04668a12a4b70"/>
    <p:sldId xmlns:r="http://schemas.openxmlformats.org/officeDocument/2006/relationships" id="262" r:id="R2cf0dfdddb3246f0"/>
    <p:sldId xmlns:r="http://schemas.openxmlformats.org/officeDocument/2006/relationships" id="263" r:id="R0da9e47a154c4929"/>
    <p:sldId xmlns:r="http://schemas.openxmlformats.org/officeDocument/2006/relationships" id="264" r:id="Rd0ba9ba4f0ff4fe3"/>
    <p:sldId xmlns:r="http://schemas.openxmlformats.org/officeDocument/2006/relationships" id="265" r:id="Rc5978b16631842f2"/>
    <p:sldId xmlns:r="http://schemas.openxmlformats.org/officeDocument/2006/relationships" id="266" r:id="R69765d97c66b4cf9"/>
    <p:sldId xmlns:r="http://schemas.openxmlformats.org/officeDocument/2006/relationships" id="267" r:id="R77a1afc1847b4ec8"/>
    <p:sldId xmlns:r="http://schemas.openxmlformats.org/officeDocument/2006/relationships" id="268" r:id="R7eece69069b14142"/>
    <p:sldId xmlns:r="http://schemas.openxmlformats.org/officeDocument/2006/relationships" id="269" r:id="R913f70bc85ab4382"/>
    <p:sldId xmlns:r="http://schemas.openxmlformats.org/officeDocument/2006/relationships" id="270" r:id="Rd3861dc796df4eb8"/>
    <p:sldId xmlns:r="http://schemas.openxmlformats.org/officeDocument/2006/relationships" id="271" r:id="R5b561467b4744eb2"/>
    <p:sldId xmlns:r="http://schemas.openxmlformats.org/officeDocument/2006/relationships" id="272" r:id="Rc36ad79442094306"/>
    <p:sldId xmlns:r="http://schemas.openxmlformats.org/officeDocument/2006/relationships" id="273" r:id="R693e3590828e4fd7"/>
    <p:sldId xmlns:r="http://schemas.openxmlformats.org/officeDocument/2006/relationships" id="274" r:id="Rc75f37765b7c4140"/>
    <p:sldId xmlns:r="http://schemas.openxmlformats.org/officeDocument/2006/relationships" id="275" r:id="R2792015774534593"/>
    <p:sldId xmlns:r="http://schemas.openxmlformats.org/officeDocument/2006/relationships" id="276" r:id="R6adfe971b9e84e68"/>
    <p:sldId xmlns:r="http://schemas.openxmlformats.org/officeDocument/2006/relationships" id="277" r:id="Re40e7c77f2194e7e"/>
    <p:sldId xmlns:r="http://schemas.openxmlformats.org/officeDocument/2006/relationships" id="278" r:id="R042c9c2fbaa74541"/>
    <p:sldId xmlns:r="http://schemas.openxmlformats.org/officeDocument/2006/relationships" id="279" r:id="Rf1e0388fb37c413e"/>
    <p:sldId xmlns:r="http://schemas.openxmlformats.org/officeDocument/2006/relationships" id="280" r:id="R1a0670525c3f44ba"/>
    <p:sldId xmlns:r="http://schemas.openxmlformats.org/officeDocument/2006/relationships" id="281" r:id="R993620b8c9c949b4"/>
    <p:sldId xmlns:r="http://schemas.openxmlformats.org/officeDocument/2006/relationships" id="282" r:id="R012ba9fa483340b3"/>
    <p:sldId xmlns:r="http://schemas.openxmlformats.org/officeDocument/2006/relationships" id="283" r:id="R5bf53ecefcfb4f54"/>
    <p:sldId xmlns:r="http://schemas.openxmlformats.org/officeDocument/2006/relationships" id="284" r:id="R4af475b3b4e84184"/>
    <p:sldId xmlns:r="http://schemas.openxmlformats.org/officeDocument/2006/relationships" id="285" r:id="R3e0fabc2a139412d"/>
  </p:sldIdLst>
  <p:sldSz cx="12191999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e214e42a5c44a4" /><Relationship Type="http://schemas.openxmlformats.org/officeDocument/2006/relationships/slideMaster" Target="/ppt/slideMasters/slideMaster1.xml" Id="R70e29351665241b2" /><Relationship Type="http://schemas.openxmlformats.org/officeDocument/2006/relationships/notesMaster" Target="/ppt/notesMasters/notesMaster1.xml" Id="R66d5454fac524a5a" /><Relationship Type="http://schemas.openxmlformats.org/officeDocument/2006/relationships/presProps" Target="/ppt/presProps.xml" Id="Rb2de6f61ab9340b7" /><Relationship Type="http://schemas.openxmlformats.org/officeDocument/2006/relationships/viewProps" Target="/ppt/viewProps.xml" Id="R11f502ed22d543d9" /><Relationship Type="http://schemas.openxmlformats.org/officeDocument/2006/relationships/tableStyles" Target="/ppt/tableStyles.xml" Id="R95dcf4316b7b4dac" /><Relationship Type="http://schemas.openxmlformats.org/officeDocument/2006/relationships/slide" Target="/ppt/slides/slide1.xml" Id="Rf792f31b4fb841cd" /><Relationship Type="http://schemas.openxmlformats.org/officeDocument/2006/relationships/slide" Target="/ppt/slides/slide2.xml" Id="R903f63f59204411f" /><Relationship Type="http://schemas.openxmlformats.org/officeDocument/2006/relationships/slide" Target="/ppt/slides/slide3.xml" Id="Rbc0aac7dc948498c" /><Relationship Type="http://schemas.openxmlformats.org/officeDocument/2006/relationships/slide" Target="/ppt/slides/slide4.xml" Id="R036b8bbba6f84a11" /><Relationship Type="http://schemas.openxmlformats.org/officeDocument/2006/relationships/slide" Target="/ppt/slides/slide5.xml" Id="R6e84f54433134414" /><Relationship Type="http://schemas.openxmlformats.org/officeDocument/2006/relationships/slide" Target="/ppt/slides/slide6.xml" Id="Rf4d04668a12a4b70" /><Relationship Type="http://schemas.openxmlformats.org/officeDocument/2006/relationships/slide" Target="/ppt/slides/slide7.xml" Id="R2cf0dfdddb3246f0" /><Relationship Type="http://schemas.openxmlformats.org/officeDocument/2006/relationships/slide" Target="/ppt/slides/slide8.xml" Id="R0da9e47a154c4929" /><Relationship Type="http://schemas.openxmlformats.org/officeDocument/2006/relationships/slide" Target="/ppt/slides/slide9.xml" Id="Rd0ba9ba4f0ff4fe3" /><Relationship Type="http://schemas.openxmlformats.org/officeDocument/2006/relationships/slide" Target="/ppt/slides/slide10.xml" Id="Rc5978b16631842f2" /><Relationship Type="http://schemas.openxmlformats.org/officeDocument/2006/relationships/slide" Target="/ppt/slides/slide11.xml" Id="R69765d97c66b4cf9" /><Relationship Type="http://schemas.openxmlformats.org/officeDocument/2006/relationships/slide" Target="/ppt/slides/slide12.xml" Id="R77a1afc1847b4ec8" /><Relationship Type="http://schemas.openxmlformats.org/officeDocument/2006/relationships/slide" Target="/ppt/slides/slide13.xml" Id="R7eece69069b14142" /><Relationship Type="http://schemas.openxmlformats.org/officeDocument/2006/relationships/slide" Target="/ppt/slides/slide14.xml" Id="R913f70bc85ab4382" /><Relationship Type="http://schemas.openxmlformats.org/officeDocument/2006/relationships/slide" Target="/ppt/slides/slide15.xml" Id="Rd3861dc796df4eb8" /><Relationship Type="http://schemas.openxmlformats.org/officeDocument/2006/relationships/slide" Target="/ppt/slides/slide16.xml" Id="R5b561467b4744eb2" /><Relationship Type="http://schemas.openxmlformats.org/officeDocument/2006/relationships/slide" Target="/ppt/slides/slide17.xml" Id="Rc36ad79442094306" /><Relationship Type="http://schemas.openxmlformats.org/officeDocument/2006/relationships/slide" Target="/ppt/slides/slide18.xml" Id="R693e3590828e4fd7" /><Relationship Type="http://schemas.openxmlformats.org/officeDocument/2006/relationships/slide" Target="/ppt/slides/slide19.xml" Id="Rc75f37765b7c4140" /><Relationship Type="http://schemas.openxmlformats.org/officeDocument/2006/relationships/slide" Target="/ppt/slides/slide20.xml" Id="R2792015774534593" /><Relationship Type="http://schemas.openxmlformats.org/officeDocument/2006/relationships/slide" Target="/ppt/slides/slide21.xml" Id="R6adfe971b9e84e68" /><Relationship Type="http://schemas.openxmlformats.org/officeDocument/2006/relationships/slide" Target="/ppt/slides/slide22.xml" Id="Re40e7c77f2194e7e" /><Relationship Type="http://schemas.openxmlformats.org/officeDocument/2006/relationships/slide" Target="/ppt/slides/slide23.xml" Id="R042c9c2fbaa74541" /><Relationship Type="http://schemas.openxmlformats.org/officeDocument/2006/relationships/slide" Target="/ppt/slides/slide24.xml" Id="Rf1e0388fb37c413e" /><Relationship Type="http://schemas.openxmlformats.org/officeDocument/2006/relationships/slide" Target="/ppt/slides/slide25.xml" Id="R1a0670525c3f44ba" /><Relationship Type="http://schemas.openxmlformats.org/officeDocument/2006/relationships/slide" Target="/ppt/slides/slide26.xml" Id="R993620b8c9c949b4" /><Relationship Type="http://schemas.openxmlformats.org/officeDocument/2006/relationships/slide" Target="/ppt/slides/slide27.xml" Id="R012ba9fa483340b3" /><Relationship Type="http://schemas.openxmlformats.org/officeDocument/2006/relationships/slide" Target="/ppt/slides/slide28.xml" Id="R5bf53ecefcfb4f54" /><Relationship Type="http://schemas.openxmlformats.org/officeDocument/2006/relationships/slide" Target="/ppt/slides/slide29.xml" Id="R4af475b3b4e84184" /><Relationship Type="http://schemas.openxmlformats.org/officeDocument/2006/relationships/slide" Target="/ppt/slides/slide30.xml" Id="R3e0fabc2a139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caf8ea7b3a4d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d0c43dacc44a9f" /><Relationship Type="http://schemas.openxmlformats.org/officeDocument/2006/relationships/notesMaster" Target="/ppt/notesMasters/notesMaster1.xml" Id="R919a5e281508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b9112768d44928" /><Relationship Type="http://schemas.openxmlformats.org/officeDocument/2006/relationships/notesMaster" Target="/ppt/notesMasters/notesMaster1.xml" Id="R449f27adf22b4e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42c966af7d4fcc" /><Relationship Type="http://schemas.openxmlformats.org/officeDocument/2006/relationships/notesMaster" Target="/ppt/notesMasters/notesMaster1.xml" Id="R3cebaa44d9094b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b001ab36f4bbf" /><Relationship Type="http://schemas.openxmlformats.org/officeDocument/2006/relationships/notesMaster" Target="/ppt/notesMasters/notesMaster1.xml" Id="R2daa3a75a5064e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2c4ff1206b46f0" /><Relationship Type="http://schemas.openxmlformats.org/officeDocument/2006/relationships/notesMaster" Target="/ppt/notesMasters/notesMaster1.xml" Id="R788a77ebae234f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353035f8ff4469" /><Relationship Type="http://schemas.openxmlformats.org/officeDocument/2006/relationships/notesMaster" Target="/ppt/notesMasters/notesMaster1.xml" Id="R0a1741f67bea4b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d75f6c1ff2450f" /><Relationship Type="http://schemas.openxmlformats.org/officeDocument/2006/relationships/notesMaster" Target="/ppt/notesMasters/notesMaster1.xml" Id="R9f55783e2ee24d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a5b732c02747dd" /><Relationship Type="http://schemas.openxmlformats.org/officeDocument/2006/relationships/notesMaster" Target="/ppt/notesMasters/notesMaster1.xml" Id="R1ccc80034beb4e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3c03650d134c74" /><Relationship Type="http://schemas.openxmlformats.org/officeDocument/2006/relationships/notesMaster" Target="/ppt/notesMasters/notesMaster1.xml" Id="Rb87233face4049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b0858b90b64302" /><Relationship Type="http://schemas.openxmlformats.org/officeDocument/2006/relationships/notesMaster" Target="/ppt/notesMasters/notesMaster1.xml" Id="R06d5a776b2244c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16b7ac0c604b01" /><Relationship Type="http://schemas.openxmlformats.org/officeDocument/2006/relationships/notesMaster" Target="/ppt/notesMasters/notesMaster1.xml" Id="Rf689c07627a544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4aee193505437d" /><Relationship Type="http://schemas.openxmlformats.org/officeDocument/2006/relationships/notesMaster" Target="/ppt/notesMasters/notesMaster1.xml" Id="Rf0c01e1b822240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bde724efcb4c71" /><Relationship Type="http://schemas.openxmlformats.org/officeDocument/2006/relationships/notesMaster" Target="/ppt/notesMasters/notesMaster1.xml" Id="R645f662ce1fa4f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35317b77f24eb8" /><Relationship Type="http://schemas.openxmlformats.org/officeDocument/2006/relationships/notesMaster" Target="/ppt/notesMasters/notesMaster1.xml" Id="R827497e63a5648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11199ef358445c" /><Relationship Type="http://schemas.openxmlformats.org/officeDocument/2006/relationships/notesMaster" Target="/ppt/notesMasters/notesMaster1.xml" Id="Rcb8b10e170ee46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618bb05d2346c3" /><Relationship Type="http://schemas.openxmlformats.org/officeDocument/2006/relationships/notesMaster" Target="/ppt/notesMasters/notesMaster1.xml" Id="Red6deade12724f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881e4da7bd44a1" /><Relationship Type="http://schemas.openxmlformats.org/officeDocument/2006/relationships/notesMaster" Target="/ppt/notesMasters/notesMaster1.xml" Id="R309bb1d8e9704f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72c95ecdd143bc" /><Relationship Type="http://schemas.openxmlformats.org/officeDocument/2006/relationships/notesMaster" Target="/ppt/notesMasters/notesMaster1.xml" Id="R2e8bf72141cc41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04e435b11446c7" /><Relationship Type="http://schemas.openxmlformats.org/officeDocument/2006/relationships/notesMaster" Target="/ppt/notesMasters/notesMaster1.xml" Id="Rcb688a6db19b41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7177101f7d40c4" /><Relationship Type="http://schemas.openxmlformats.org/officeDocument/2006/relationships/notesMaster" Target="/ppt/notesMasters/notesMaster1.xml" Id="Rde330536d950415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b46393b3e34bbc" /><Relationship Type="http://schemas.openxmlformats.org/officeDocument/2006/relationships/notesMaster" Target="/ppt/notesMasters/notesMaster1.xml" Id="Ra09e6e17cc2f4c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8021beb8724099" /><Relationship Type="http://schemas.openxmlformats.org/officeDocument/2006/relationships/notesMaster" Target="/ppt/notesMasters/notesMaster1.xml" Id="Rf4fb39228d9945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69dc2cf6574da2" /><Relationship Type="http://schemas.openxmlformats.org/officeDocument/2006/relationships/notesMaster" Target="/ppt/notesMasters/notesMaster1.xml" Id="R33c712c5ea5a4a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ab12cc3847340f7" /><Relationship Type="http://schemas.openxmlformats.org/officeDocument/2006/relationships/notesMaster" Target="/ppt/notesMasters/notesMaster1.xml" Id="Rc06407bb6d6440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b0290f30daa4854" /><Relationship Type="http://schemas.openxmlformats.org/officeDocument/2006/relationships/notesMaster" Target="/ppt/notesMasters/notesMaster1.xml" Id="Rffc9e67c6ff540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efe7c24cbd44a4" /><Relationship Type="http://schemas.openxmlformats.org/officeDocument/2006/relationships/notesMaster" Target="/ppt/notesMasters/notesMaster1.xml" Id="Re262b4ef384b4db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bb2bbdf13d94990" /><Relationship Type="http://schemas.openxmlformats.org/officeDocument/2006/relationships/notesMaster" Target="/ppt/notesMasters/notesMaster1.xml" Id="R704cfd18578c47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a55d09d11df40b7" /><Relationship Type="http://schemas.openxmlformats.org/officeDocument/2006/relationships/notesMaster" Target="/ppt/notesMasters/notesMaster1.xml" Id="Rfe0fbc9dd9e449f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9aa503432964d0d" /><Relationship Type="http://schemas.openxmlformats.org/officeDocument/2006/relationships/notesMaster" Target="/ppt/notesMasters/notesMaster1.xml" Id="Re71bc19a5b4649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3663c020af947fa" /><Relationship Type="http://schemas.openxmlformats.org/officeDocument/2006/relationships/notesMaster" Target="/ppt/notesMasters/notesMaster1.xml" Id="R0947c678eb65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34aceb6f945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36dc782a84c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fd941d1744c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9d26611c74b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5e950772741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c3c55666348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eddb12b5942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362b6544446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87cf1582749e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ee0ff7aba4a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565f8e5ab470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AABC8D-3D0F-4AE2-ACB0-B6BE56226B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18EA193-DBAD-4335-B926-42E1827359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807579-33AD-4D7D-8C2E-09AA1F6D8A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3005D7-212D-457F-A581-5012EF1057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CB43B2-E122-4F7F-847E-703807E861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58543D-BEEB-4B5F-BD92-AEBF27E31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8CAC14-DD06-403B-98EB-45EF1A2DF1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4DBB64-CFF9-4F28-A8B5-4FDE4F5CA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8520B3-E6E8-4307-AB13-DA00CF81D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D38791-9CF0-4BBB-8067-9D6693BE2E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4D168E-3D89-46A1-9192-B286A7DEB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3189B9-24AA-4351-A9B9-888EB3CE08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36CD74-A166-4424-970E-25C192F5E5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67363D-2369-4A8F-8AFB-783507FA1B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A7206A-73C0-438D-9167-5E2E8345F4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432C32-C272-4B86-B757-E47BBE000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B27DB3-D8E5-4055-880C-613AB9062D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92B08F7-360A-4E13-ADA8-4C558585FE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F3A50A-94F4-4F9A-974C-DD23073C6C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AA1CC7-6634-4050-8B70-DF1E24C9EC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810495-B1F5-42BA-B2EF-43F6F05BB0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0DC1A-BD61-42C7-9653-AC2B28EB2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431A23-4C43-44CB-BBF3-58AE7C95A1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011230-7FE6-4F4E-972C-89F4B90111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06913C5-B19C-4164-B33F-C451C9FD802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FEB89E8-64AD-4C12-9DE7-11C61F43F9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6C103F1-90BA-458D-8045-B40E94B55F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C365AA2-DE68-44F2-BD27-388B835CE9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EB72308-EA4B-430D-9A28-C2E83FE546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14A15F-8471-432D-96EC-17B538ED6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BCFD97-E6FF-453C-918B-C95041FD5D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633F264-80B1-4FC2-A4EA-F57E192595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FD1E70F-E809-4BD2-AFE8-EBE18914F6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E32F459-5871-4120-949D-132724F74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E3D56C7-6C0E-45BF-929E-99D5D24E98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B7BC12-5253-4F92-8BAB-AE2147182C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4AF9D0-A94C-4A96-A494-8F3B8240F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EBF473-15FD-4307-B9C1-77937F3E3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7B471F2-1654-48D2-911D-2ED6633190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53E52F-C21B-4F06-BDE5-66DF80A872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01EED6-3912-4580-9E3E-D12805D60E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EE1DEE-3D93-45B8-BCA0-52901D13B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AE7B6C-0913-484B-89CE-CB3B86994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D4CF749-020E-4C3B-BD86-98DA1AE7B9C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D79949E-115C-446E-BBCC-2D6F0144DA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CA2923-33A7-4138-AEE4-C930B1610B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B413189-275F-4183-8407-91A969B683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D95F6C-D2A0-4D17-801E-AC4D5E1431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292B62-3179-4CE2-8874-E90BD2E16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01A5E3-7E11-4A15-A86B-1B57C9D81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CD97DF-ED6E-42C1-92AC-9DCF1F5776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724F83-E5E2-435A-9D6C-A51E726F92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A2688D-CBE7-454B-9DCE-DA146AE03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06FD5BE-2337-46E0-94AD-1C379283D9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62DF53-B1D2-450D-B16F-E73B492B0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766C48-F4A1-4FAF-B4AD-35A563DAD4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9D3230-4522-47BA-B0B8-C9B279F67C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630D6F-B513-4156-B11E-B15E1B77AE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c9c49ef6a4fe4" /><Relationship Type="http://schemas.openxmlformats.org/officeDocument/2006/relationships/slideLayout" Target="/ppt/slideLayouts/slideLayout1.xml" Id="Rf5554c774aab4369" /><Relationship Type="http://schemas.openxmlformats.org/officeDocument/2006/relationships/slideLayout" Target="/ppt/slideLayouts/slideLayout2.xml" Id="Ra65f412266494195" /><Relationship Type="http://schemas.openxmlformats.org/officeDocument/2006/relationships/slideLayout" Target="/ppt/slideLayouts/slideLayout3.xml" Id="R5f84efaa8c1d4510" /><Relationship Type="http://schemas.openxmlformats.org/officeDocument/2006/relationships/slideLayout" Target="/ppt/slideLayouts/slideLayout4.xml" Id="Rebf98a62d393477f" /><Relationship Type="http://schemas.openxmlformats.org/officeDocument/2006/relationships/slideLayout" Target="/ppt/slideLayouts/slideLayout5.xml" Id="Rdb55191602e14e46" /><Relationship Type="http://schemas.openxmlformats.org/officeDocument/2006/relationships/slideLayout" Target="/ppt/slideLayouts/slideLayout6.xml" Id="R80cc781a23dc49ad" /><Relationship Type="http://schemas.openxmlformats.org/officeDocument/2006/relationships/slideLayout" Target="/ppt/slideLayouts/slideLayout7.xml" Id="Rc94a3889275144d5" /><Relationship Type="http://schemas.openxmlformats.org/officeDocument/2006/relationships/slideLayout" Target="/ppt/slideLayouts/slideLayout8.xml" Id="R55998306a0d244a3" /><Relationship Type="http://schemas.openxmlformats.org/officeDocument/2006/relationships/slideLayout" Target="/ppt/slideLayouts/slideLayout9.xml" Id="R044c1915875f4612" /><Relationship Type="http://schemas.openxmlformats.org/officeDocument/2006/relationships/slideLayout" Target="/ppt/slideLayouts/slideLayout10.xml" Id="R5be4264832064dce" /><Relationship Type="http://schemas.openxmlformats.org/officeDocument/2006/relationships/slideLayout" Target="/ppt/slideLayouts/slideLayout11.xml" Id="R09fb803e11db42a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008837-FA19-415A-9DCE-6B7995F66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F4D0CC-0F53-4DE3-96CF-ABE207DBF2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CF7C47-0F7F-4FE3-B7A3-3119E21F0E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2AF831-9ABC-4603-8418-37529BFAC47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6A8DD6-9E26-4966-A317-4F4A441F450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554c774aab4369"/>
    <p:sldLayoutId xmlns:r="http://schemas.openxmlformats.org/officeDocument/2006/relationships" id="2147483650" r:id="Ra65f412266494195"/>
    <p:sldLayoutId xmlns:r="http://schemas.openxmlformats.org/officeDocument/2006/relationships" id="2147483651" r:id="R5f84efaa8c1d4510"/>
    <p:sldLayoutId xmlns:r="http://schemas.openxmlformats.org/officeDocument/2006/relationships" id="2147483652" r:id="Rebf98a62d393477f"/>
    <p:sldLayoutId xmlns:r="http://schemas.openxmlformats.org/officeDocument/2006/relationships" id="2147483653" r:id="Rdb55191602e14e46"/>
    <p:sldLayoutId xmlns:r="http://schemas.openxmlformats.org/officeDocument/2006/relationships" id="2147483654" r:id="R80cc781a23dc49ad"/>
    <p:sldLayoutId xmlns:r="http://schemas.openxmlformats.org/officeDocument/2006/relationships" id="2147483655" r:id="Rc94a3889275144d5"/>
    <p:sldLayoutId xmlns:r="http://schemas.openxmlformats.org/officeDocument/2006/relationships" id="2147483656" r:id="R55998306a0d244a3"/>
    <p:sldLayoutId xmlns:r="http://schemas.openxmlformats.org/officeDocument/2006/relationships" id="2147483657" r:id="R044c1915875f4612"/>
    <p:sldLayoutId xmlns:r="http://schemas.openxmlformats.org/officeDocument/2006/relationships" id="2147483658" r:id="R5be4264832064dce"/>
    <p:sldLayoutId xmlns:r="http://schemas.openxmlformats.org/officeDocument/2006/relationships" id="2147483659" r:id="R09fb803e11db42a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3ddeb72a624ecb" /><Relationship Type="http://schemas.openxmlformats.org/officeDocument/2006/relationships/notesSlide" Target="/ppt/notesSlides/notesSlide1.xml" Id="R208caadc6b1d4d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e6ec45c5084294" /><Relationship Type="http://schemas.openxmlformats.org/officeDocument/2006/relationships/notesSlide" Target="/ppt/notesSlides/notesSlide2.xml" Id="Rc8a2d5f233ff4e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d835a0a2034a1c" /><Relationship Type="http://schemas.openxmlformats.org/officeDocument/2006/relationships/notesSlide" Target="/ppt/notesSlides/notesSlide3.xml" Id="R33cbcf772f5349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2d842ba79c494c" /><Relationship Type="http://schemas.openxmlformats.org/officeDocument/2006/relationships/notesSlide" Target="/ppt/notesSlides/notesSlide4.xml" Id="R0e4113d94f444b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1e09f23f7442f3" /><Relationship Type="http://schemas.openxmlformats.org/officeDocument/2006/relationships/notesSlide" Target="/ppt/notesSlides/notesSlide5.xml" Id="Rceda93c92e04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6c635dc2f847f1" /><Relationship Type="http://schemas.openxmlformats.org/officeDocument/2006/relationships/notesSlide" Target="/ppt/notesSlides/notesSlide6.xml" Id="R7eeb732e25c543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37b7f37fe34ff7" /><Relationship Type="http://schemas.openxmlformats.org/officeDocument/2006/relationships/notesSlide" Target="/ppt/notesSlides/notesSlide7.xml" Id="R73821656dea346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6ed492796f40c8" /><Relationship Type="http://schemas.openxmlformats.org/officeDocument/2006/relationships/notesSlide" Target="/ppt/notesSlides/notesSlide8.xml" Id="Ra32c04c6901c4f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38dd063c634f42" /><Relationship Type="http://schemas.openxmlformats.org/officeDocument/2006/relationships/notesSlide" Target="/ppt/notesSlides/notesSlide9.xml" Id="R777a693b044744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490b5410294072" /><Relationship Type="http://schemas.openxmlformats.org/officeDocument/2006/relationships/notesSlide" Target="/ppt/notesSlides/notesSlide10.xml" Id="R56dcd03bc02543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66f1ccc9184592" /><Relationship Type="http://schemas.openxmlformats.org/officeDocument/2006/relationships/notesSlide" Target="/ppt/notesSlides/notesSlide11.xml" Id="R41fa086876eb45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3c012d710c4231" /><Relationship Type="http://schemas.openxmlformats.org/officeDocument/2006/relationships/notesSlide" Target="/ppt/notesSlides/notesSlide12.xml" Id="Rbeaff45d0f294b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4d3c29f5af44fb" /><Relationship Type="http://schemas.openxmlformats.org/officeDocument/2006/relationships/notesSlide" Target="/ppt/notesSlides/notesSlide13.xml" Id="Rc91b571a014d4c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7022ac32a94e04" /><Relationship Type="http://schemas.openxmlformats.org/officeDocument/2006/relationships/notesSlide" Target="/ppt/notesSlides/notesSlide14.xml" Id="R227b25f028dd4b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7278859fdd462b" /><Relationship Type="http://schemas.openxmlformats.org/officeDocument/2006/relationships/notesSlide" Target="/ppt/notesSlides/notesSlide15.xml" Id="R142313d1f53244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b883957a114803" /><Relationship Type="http://schemas.openxmlformats.org/officeDocument/2006/relationships/notesSlide" Target="/ppt/notesSlides/notesSlide16.xml" Id="Rd4bea146e85542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74953953bc48dc" /><Relationship Type="http://schemas.openxmlformats.org/officeDocument/2006/relationships/notesSlide" Target="/ppt/notesSlides/notesSlide17.xml" Id="Rc6fc876e88e241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ede706b0864e0e" /><Relationship Type="http://schemas.openxmlformats.org/officeDocument/2006/relationships/notesSlide" Target="/ppt/notesSlides/notesSlide18.xml" Id="Rc77edc618eda45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a48da393964669" /><Relationship Type="http://schemas.openxmlformats.org/officeDocument/2006/relationships/notesSlide" Target="/ppt/notesSlides/notesSlide19.xml" Id="R4fed069cbb4841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8b5760b1254328" /><Relationship Type="http://schemas.openxmlformats.org/officeDocument/2006/relationships/notesSlide" Target="/ppt/notesSlides/notesSlide20.xml" Id="R1866be67b5d74d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82dd8ea4684c99" /><Relationship Type="http://schemas.openxmlformats.org/officeDocument/2006/relationships/notesSlide" Target="/ppt/notesSlides/notesSlide21.xml" Id="R737fc09e58ce44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fa9255b4054dfa" /><Relationship Type="http://schemas.openxmlformats.org/officeDocument/2006/relationships/notesSlide" Target="/ppt/notesSlides/notesSlide22.xml" Id="Rb87b616939024f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6b84c46c80417b" /><Relationship Type="http://schemas.openxmlformats.org/officeDocument/2006/relationships/notesSlide" Target="/ppt/notesSlides/notesSlide23.xml" Id="R5cd03cb73025419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6473befbcc4887" /><Relationship Type="http://schemas.openxmlformats.org/officeDocument/2006/relationships/notesSlide" Target="/ppt/notesSlides/notesSlide24.xml" Id="R89571f11450249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823ead200f402f" /><Relationship Type="http://schemas.openxmlformats.org/officeDocument/2006/relationships/notesSlide" Target="/ppt/notesSlides/notesSlide25.xml" Id="R57df8a02b10f45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4f2e9dad894b15" /><Relationship Type="http://schemas.openxmlformats.org/officeDocument/2006/relationships/notesSlide" Target="/ppt/notesSlides/notesSlide26.xml" Id="Rc5223710ecc44b2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365ca2494b475f" /><Relationship Type="http://schemas.openxmlformats.org/officeDocument/2006/relationships/notesSlide" Target="/ppt/notesSlides/notesSlide27.xml" Id="Rb13d47217c60480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44368929d24cef" /><Relationship Type="http://schemas.openxmlformats.org/officeDocument/2006/relationships/notesSlide" Target="/ppt/notesSlides/notesSlide28.xml" Id="R864c95b0e42846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48b30e7f48418f" /><Relationship Type="http://schemas.openxmlformats.org/officeDocument/2006/relationships/notesSlide" Target="/ppt/notesSlides/notesSlide29.xml" Id="Rc2c6809511e84f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f1cd46bea643cf" /><Relationship Type="http://schemas.openxmlformats.org/officeDocument/2006/relationships/notesSlide" Target="/ppt/notesSlides/notesSlide30.xml" Id="Rc6c91e45a8544b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DFD01A-FAF3-4CD6-A055-E766385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928"/>
            <a:ext cx="10972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0DB5EF-5B9A-4A09-85F5-AE9B6FC1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PIXAN · PUBLIC EVIDENCE PACKAGE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B6EC1D-3281-4BF7-8D0D-CB4BB308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7360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patent to a lender-ready</a:t>
            </a:r>
            <a:b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package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62F838-FFF3-46EF-A848-C04BD23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7040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C6D8E2"/>
                </a:solidFill>
                <a:latin typeface="Aptos"/>
                <a:ea typeface="Aptos"/>
                <a:cs typeface="Aptos"/>
              </a:rPr>
              <a:t>Extended 30-slide reviewer and financing-decision package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89FC58-5A0F-4092-9164-A66BE585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0"/>
            <a:ext cx="39136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887B36-40AC-4A1E-8BBB-6EC6E6E5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1430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status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2BABF0C-2DF7-4A65-8AD0-041E559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00784"/>
            <a:ext cx="2880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2026.07.24-17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B607AF4-ABB2-405A-A020-46631FFA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59152"/>
            <a:ext cx="2788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Updated 2026-07-24</a:t>
            </a:r>
            <a:b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30 slides · English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8C1F43-0271-4164-9A1A-A683FDB6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2219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B8DFE2"/>
                </a:solidFill>
                <a:latin typeface="Aptos"/>
                <a:ea typeface="Aptos"/>
                <a:cs typeface="Aptos"/>
              </a:rPr>
              <a:t>Starting point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CD52267-8FC4-4F2B-B929-4A2DB74C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51960"/>
            <a:ext cx="278892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Confirmed evidence is separated from supported information, assumptions and missing evidence.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17B677B-5E50-4C81-8E0F-5BA6A4B8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54496"/>
            <a:ext cx="7040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Not Pixan Oy's official position · not a valuation, investment, lending or legal opinion</a:t>
            </a:r>
          </a:p>
        </p:txBody>
      </p:sp>
    </p:spTree>
    <p:extLst>
      <p:ext uri="{BB962C8B-B14F-4D97-AF65-F5344CB8AC3E}">
        <p14:creationId xmlns:p14="http://schemas.microsoft.com/office/powerpoint/2010/main" val="4723769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E73C5D-3689-4500-9D39-5842DC02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FINANCING 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120CE4-A2AF-40BE-A8E5-3B3F673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Financeability remains possible—not yet a conclusion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127BB5-2397-4C0E-8168-EFD25AFF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8B06F7-7917-4759-BD14-E712C852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7CBFFD-DA17-4343-9E14-F255B454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EPO; Germany — official judgments;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682363-1F40-47D2-A29D-09E02543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55C3A0-F420-4052-8310-3D75CB71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Official patent and court sources justify further diligence; they do not yet establish collateral value or repayment.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30F6C44-63F6-4A10-87F3-DD70AB6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amended EP3032975B2 and two official German decisions anchor the legal evidence.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market dataset contains 20 official annual observations from 6 countries, but the donor gate is 0/3.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financing structure requires national rights, a claim-mapped-sales bridge, cash flow and an independent valuation.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5E9F9C5-2CC0-43BF-81E0-A827064C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1BEE5B-6CFD-4191-8D25-BCFC79B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A5030E-57BC-4694-986F-4C60CB6D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Open a conditional 90-day diligence phase, not a final credit decision.</a:t>
            </a:r>
          </a:p>
        </p:txBody>
      </p:sp>
    </p:spTree>
    <p:extLst>
      <p:ext uri="{BB962C8B-B14F-4D97-AF65-F5344CB8AC3E}">
        <p14:creationId xmlns:p14="http://schemas.microsoft.com/office/powerpoint/2010/main" val="1164872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563B18C-7167-4687-82D3-FEDFE9F0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FINANCING 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8089BAD-99B0-491E-B9BA-5E4DBF5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Three reasons to proceed—and three reasons to wait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22DB40-3EE8-4C85-8F5E-56EC457D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165788-DD23-4F38-92EA-77C240A1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B97F9D-BDFD-4BCC-B49F-6ACF7C52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EPO; 8 Ni 18/24 (EP);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480567B-5D0C-4C4B-9D75-132210F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71"/>
                <a:gridCol w="4154944"/>
                <a:gridCol w="4154944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Strong signal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it supports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it does not prove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central EPO opposition concluded with the patent maintained as amended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Documented patent core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National validity and enforceability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Nullity action dismissed; appeal pending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National validity signal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Finality or worldwide validity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products examined were found to infringe the patent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Product- and claim-specific signal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Another product, country or paid damages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B2C97FD-B3E7-4B5D-ABA2-1B4CB49E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lender should price only the evidence for which title, enforceability and cash flow have been confirmed.</a:t>
            </a:r>
          </a:p>
        </p:txBody>
      </p:sp>
    </p:spTree>
    <p:extLst>
      <p:ext uri="{BB962C8B-B14F-4D97-AF65-F5344CB8AC3E}">
        <p14:creationId xmlns:p14="http://schemas.microsoft.com/office/powerpoint/2010/main" val="6454131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CA5F0DB-F54B-4718-A0A2-E7909C9D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226A72-7C04-4052-9686-F148EF6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evidence chain currently breaks before cash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6C91FA-F402-4054-8116-04331798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7EB054F-0CE4-4140-8573-0AA39D4C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27BA54-25FF-428E-A4A7-75DC964E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Evidence Register;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A8297E-7C02-456D-9EA5-E5124889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BB225-2D96-4D15-9F87-25C245B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Patent → enforceable national right → relevant product → relevant sales → contract or judgment → payment → debt service.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B80D02-35E5-4108-8B14-681BE7B9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beginning of the chain is partly confirmed by official sources.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product and sales link is confirmed only to a limited extent: Germany, 7 O 3341/24.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Evidence of contracts, payments, company finances and collateral value is missing from the public package.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946D25E-719B-40C5-81FF-23A2A7FF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C21B89-0844-4597-8B32-042138C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Credit risk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9A4C98-AED7-4C9E-9CD3-DBB6DB09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One unconfirmed link can reduce nominal market value to zero in a realisable downside scenario.</a:t>
            </a:r>
          </a:p>
        </p:txBody>
      </p:sp>
    </p:spTree>
    <p:extLst>
      <p:ext uri="{BB962C8B-B14F-4D97-AF65-F5344CB8AC3E}">
        <p14:creationId xmlns:p14="http://schemas.microsoft.com/office/powerpoint/2010/main" val="9288424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D09C662-D81C-4F56-A729-5E67B919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1C3FB55-E561-42EA-A68F-C7FAC762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Resistance data drives the patented heating control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DF46FA-88B5-4423-9C72-E312520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2468B1-1730-4837-96F3-B3D57C4F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5755A1-A114-4C11-A8B6-B3883F4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5976333-2B5E-4595-BB45-35697BCE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01A1231-6DF9-45FF-AE09-74CEEB1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627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published patent specification concerns control of an electrically powered vaporiser by measuring heating-element resistance, selecting the corresponding power from stored data and controlling power delivered to the heater within defined user-adjustment limits.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CCE6305-AF56-4E4E-BB1C-38CEC48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419856"/>
            <a:ext cx="662940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Measurement: heating-element resistance.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Data: stored resistance–power values.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Control: power delivered to the heater and the user-adjustment limits.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0C9C06-6668-4D9A-9131-F0B3776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C7E04D1-8405-4A9B-B6E3-F9DE80BE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Interpretive limit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C3B482-C8CE-4874-983D-302FDC4D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This plain-language description does not replace country-specific claim construction or product-specific claim analysis.</a:t>
            </a:r>
          </a:p>
        </p:txBody>
      </p:sp>
    </p:spTree>
    <p:extLst>
      <p:ext uri="{BB962C8B-B14F-4D97-AF65-F5344CB8AC3E}">
        <p14:creationId xmlns:p14="http://schemas.microsoft.com/office/powerpoint/2010/main" val="19996082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C4A71C-998B-4645-909D-8282CC46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PATENT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9EB133-7EA9-46E0-85A2-824E225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nine B2 claims are the starting point for review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A5FE8D-D3CB-4448-9229-5815CED6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08B73F-BE9C-40EF-99E3-9923D2E5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2E6CFC-E2F8-4517-9B67-87B7F240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45E6A2-AD81-447A-808D-A97F9EF7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13"/>
                <a:gridCol w="5852568"/>
                <a:gridCol w="3075078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Element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Public description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Diligence test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Controller / method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Control of an electric vaporiser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Which product version and country?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Resistance measurement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Heating-element resistance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How and when is it measured?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Stored values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Resistance–power mapping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Where is the data stored?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Non-proportional relationship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Defined nature of the power relationship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Is the claim limitation met?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Adjustment limits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Minimum and stored maximum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How does the interface implement the limits?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1AEC4C1-09D2-494D-A6BF-38479ED6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Every claim limitation must be evidenced; a feature list alone is insufficient.</a:t>
            </a:r>
          </a:p>
        </p:txBody>
      </p:sp>
    </p:spTree>
    <p:extLst>
      <p:ext uri="{BB962C8B-B14F-4D97-AF65-F5344CB8AC3E}">
        <p14:creationId xmlns:p14="http://schemas.microsoft.com/office/powerpoint/2010/main" val="11911052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BCF41E2-6E38-42B1-9B20-BE25328C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PATENT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91FA5C-1749-4434-A880-8AC4CB86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Core IP events are traceable to official records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C1D28F-9A84-41A8-9C17-C7099952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66CB0D4-BE07-4463-9836-4E277B6B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824B545-E5ED-4B20-BBA2-3C2BB9D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EPO Register; 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A0FF63-3482-4A94-A7D1-ADD3DA9B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A94A4A-48D0-4801-8EF7-8ABB79A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667F6E4-E5D0-4B26-9053-A05EF46B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14 August 2013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61C101F-FDDC-4012-81F8-E8641389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earliest priority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C95E02D-E297-4A92-86CE-1B48CDC4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6C8CDC-6B09-4B80-9449-177BE824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24 April 2024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AA0222-2351-4334-B45B-D0CFC98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B2 publication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8CD81F4-E35C-43C9-ADF4-84D8EB6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D2B9B4A-92A5-4C1D-B7F5-A10637AF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72DAF87-3224-4AEF-B969-5433D9A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amended claims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5A4CFBE-40C3-41B5-9030-749B033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central EPO opposition and appeal proceedings have concluded; national post-grant status remains separate.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809DB08-9D4B-4086-AF49-CDAC794C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BD6FF3-F031-4FB3-A28D-0A98B737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5FB9CD7-0B12-485A-8BBD-4ACA0F18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National post-grant rights remain separate from the central EPO proceedings.</a:t>
            </a:r>
          </a:p>
        </p:txBody>
      </p:sp>
    </p:spTree>
    <p:extLst>
      <p:ext uri="{BB962C8B-B14F-4D97-AF65-F5344CB8AC3E}">
        <p14:creationId xmlns:p14="http://schemas.microsoft.com/office/powerpoint/2010/main" val="976856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C66A6E7-5D34-47E5-99EC-2C55D39D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GEOGRAPHIC COVERAGE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0A8E39-DEBC-4BB5-ABE6-3E58694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22 family publications do not prove enforceability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1D63B8A-2A85-4919-BCE8-EAD60112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47506C-B491-472B-8A9B-BEEA45F3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50FF44A-6D17-402A-8AEE-ADF1D876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EPO family; national registers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359063-1E4C-46F1-A99C-7CAF2190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9333021-3227-4DAD-B8C4-1ABDB33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C956181-15AF-4CA7-B1B2-0052EAE3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7A0DD0D-0D6C-4AA5-BD49-9DDA908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family-publication records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BF21192-03C1-4589-B913-45A5D5F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4E3B3D-83FE-4673-9803-E6D99BB6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ACA8A1-325B-4081-8C72-210A281F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identified proceedings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F5CD70F-DD4B-4F9E-B6A2-DFCD718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A32818-52B5-4D4F-82D8-AFB3F5EE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8BC3607-63AF-4893-B7EE-BA5562F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official national-register checks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F30BE1E-F553-4E01-8067-83E07FD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0F45ED-7783-42D0-8644-3A801D40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B83C444-7287-4EE5-8088-B290A8A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enforceable countries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6872294-A5DA-407F-92EF-692E170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publication route is a map, not proof of title or validity.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D2CE942-4F1E-441C-AAF0-AA0C3F7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79DA1EA-C754-4E7E-89AD-ED8AD5C9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E9292A4-99F2-4643-9E58-71C0DB22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Counsel's country matrix should include proprietor, operative claims, renewal fee, receipt, encumbrances, UPC position and next deadline.</a:t>
            </a:r>
          </a:p>
        </p:txBody>
      </p:sp>
    </p:spTree>
    <p:extLst>
      <p:ext uri="{BB962C8B-B14F-4D97-AF65-F5344CB8AC3E}">
        <p14:creationId xmlns:p14="http://schemas.microsoft.com/office/powerpoint/2010/main" val="15312809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294FE6-EE9A-48CB-916B-6F2648FA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LEGAL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B1EBD3-FC5E-4BCB-B57E-B62B177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German decisions are strong but narrowly scoped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D330D2A-BA67-4537-AC67-6BC30364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CEE0B8-FCCC-4305-B325-7B8BEA3D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A8D17E-9B11-4ED9-8237-57434EF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Official judgments: 8 Ni 18/24 (EP);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3743D7-0FDF-4051-8050-62A926F3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604"/>
                <a:gridCol w="3589371"/>
                <a:gridCol w="4443984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Reference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Official event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Scope and finality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6779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8 Ni 18/24 (EP)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Nullity action dismissed; appeal pending (14 January 2026)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official judgment dismissed the nullity action concerning the German part of EP3032975B2. The official register records an appeal to the Federal Court of Justice under case number X ZR 21/26. Not final while the BGH appeal is pending.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6779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7 O 3341/24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products examined were found to infringe the patent (2 April 2026)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The official judgment found that the products examined directly infringed claims 1 and 6 and indirectly infringed them in relation to supplementary components, and ordered the remedies listed in the judgment. The official judgment is available; appeal status, finality and enforcement have not been independently confirmed in this publication.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B831B5-D0C9-4B91-8EEE-B5AF3E5F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German evidence does not automatically extend to another product, counterparty or country.</a:t>
            </a:r>
          </a:p>
        </p:txBody>
      </p:sp>
    </p:spTree>
    <p:extLst>
      <p:ext uri="{BB962C8B-B14F-4D97-AF65-F5344CB8AC3E}">
        <p14:creationId xmlns:p14="http://schemas.microsoft.com/office/powerpoint/2010/main" val="20136901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3A14811-3CA7-461E-9190-68F23FA0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LEGAL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D4EC16-E4EC-440E-A808-534BFC0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Chinese matter is not an infringement victory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C5C14D-BD0F-4C8D-8FFE-B4B3382D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E4FA61-39A8-4557-9979-CB300E3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8E40EB-FADF-44EC-A46C-0809AB5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RPX; CNIPA guidance; EPO family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DCF191-2539-4D78-9996-E392BAD1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1398F63-9F95-4D65-9730-BA304C0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Public secondary docket information points to an applicant-side re-examination of a rejected application.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0822FF3-44BA-4C12-9800-7B59949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proceeding is classified as a review-request matter.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official decision and detailed reasons were not obtained for the public package.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CN105764365B was later published as granted on 4 May 2021.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5B315C8-21CB-4E6E-9C83-5B7CBCF4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27EA143-66E9-4C8E-90F0-17511E6B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Use limitation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BECE4F-721A-4AD9-96A1-2F3639CE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matter must not be described as Chinese infringement litigation, a counterparty invalidity action or cash-flow evidence.</a:t>
            </a:r>
          </a:p>
        </p:txBody>
      </p:sp>
    </p:spTree>
    <p:extLst>
      <p:ext uri="{BB962C8B-B14F-4D97-AF65-F5344CB8AC3E}">
        <p14:creationId xmlns:p14="http://schemas.microsoft.com/office/powerpoint/2010/main" val="16624387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9A3EB66-B152-4E02-B5CE-CA474EB1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ADCE89-3D54-46ED-AA21-C5C2745B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Four current IP alerts require a documented owner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DFA0A9-85C8-4E05-884F-475E6AB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C1ED71-CC76-4875-9C4F-82F939E9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76B0DFA-502A-4D93-98C1-7188118F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IP Australia; PRH; EPO; EPO / UPC; USPTO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FEF084-0B34-4B99-8D77-DB862020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600"/>
                <a:gridCol w="1932166"/>
                <a:gridCol w="6859192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Country / region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Deadline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Australia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14 August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 the next Australian renewal immediately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Finland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31 August 2026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Finland's year-14 renewal fee is due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Europe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7 August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Reconcile every European national right before the payment cycle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United States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 December 2026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 and pay the United States 7.5-year maintenance fee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EDDE9CD-E650-42AC-9113-9477852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Deadline monitoring is an operational collateral-value control, not an administrative detail.</a:t>
            </a:r>
          </a:p>
        </p:txBody>
      </p:sp>
    </p:spTree>
    <p:extLst>
      <p:ext uri="{BB962C8B-B14F-4D97-AF65-F5344CB8AC3E}">
        <p14:creationId xmlns:p14="http://schemas.microsoft.com/office/powerpoint/2010/main" val="12523851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82BC4E-0234-497E-96BF-7DE47420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B8C711-E067-4D85-AE06-44F52D5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Atlas: 195 countries—not a market value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C9CCC90-43D0-4FE2-9D3A-B68F208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1C30567-BC32-4700-A5E6-4FFC7AE6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7F349D5-C0F7-4295-A37D-384F02C9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UN; Atlas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D92808-C9DA-4C41-9A83-2EA9F1D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51CCDE9-85D1-4CD3-9FA9-6FC4294E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3EECFDE-C575-472D-ADA7-A856E8E3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52AA8A-4530-4AA6-88FA-5D5F6EA8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Grade A countries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0EB8E2A-5312-4332-A767-89FC7C3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4044830-D3A2-4A90-AEDA-D5E4C69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3A0DAE-3061-47E0-A205-9EECEFCA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Grade B countries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64029E4-185B-4302-B095-8456F866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D3465E9-EDCC-4095-9164-69D10A7F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97560E-DEA0-48B3-8E67-150D3F83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Grade C countries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AF47778-DA07-4D6B-A934-A3276130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273013-769A-478B-B266-7FD676BA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4B39180-D3EF-495C-8B49-C1FFAA9A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Grade D countries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D75885E-6444-44EB-8711-99DE325A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37 evidence observations; the UN component of the universe comprises 193 Member States.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ADA349B-BC46-4C1E-82FF-3EB41D1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72A7021-D53F-4FE2-B5F5-A4207B34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793CAFE-53DB-44D1-8658-2F9C5BC2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Grades A–D describe evidence maturity, not market size or commercial attractiveness.</a:t>
            </a:r>
          </a:p>
        </p:txBody>
      </p:sp>
    </p:spTree>
    <p:extLst>
      <p:ext uri="{BB962C8B-B14F-4D97-AF65-F5344CB8AC3E}">
        <p14:creationId xmlns:p14="http://schemas.microsoft.com/office/powerpoint/2010/main" val="9521390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48A344C-3B3F-46BD-A5B3-1ED93A2B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14FF401-79E3-4971-9077-D1802AA1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20 official observations from 6 countries measure different things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BBEA8B5-0E60-45BD-B43C-2D2095C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FA7148B-A296-4E21-A4EB-BF6AFA44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616604F-77F5-4197-8F79-10BED5C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Health Canada; New Zealand Ministry of Health; Destatis; Vero; Sejm; Swedish Government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7BFC5B-1DED-45FF-8E07-93C6BBA7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6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944243"/>
                <a:gridCol w="768438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Country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Year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Official observation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Canada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CAD 1.16bn shipment value; 1,251,843 l of liquid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Germany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2023–2025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1.241m l → 1.518m l of taxed liquid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Finland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11,801.062 l; EUR 3.54m excise tax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New Zealand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2022–2024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headline at least NZD 280m; NZD 280.685m raw sum from 29 files; NZD 264.561m sensitivity from removing repeated rows, not a corrected estimate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Poland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2023 / 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805,441 l; PLN 993.1m excise tax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Sweden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26,000 l; SEK 80m excise tax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78625A3-352C-4FE1-A449-C064BC81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Litres, shipment values and excise taxes are not summed into one market.</a:t>
            </a:r>
          </a:p>
        </p:txBody>
      </p:sp>
    </p:spTree>
    <p:extLst>
      <p:ext uri="{BB962C8B-B14F-4D97-AF65-F5344CB8AC3E}">
        <p14:creationId xmlns:p14="http://schemas.microsoft.com/office/powerpoint/2010/main" val="19962327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273BF43-3CF2-4ED5-836B-A4E25F5C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CANADA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33A6C2-2427-4558-89FA-626DAB1D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Canada anchors shipment value, not retail value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FD21B4-6232-4206-9573-985A738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EA2C7FF-B6B5-4CB2-BC9D-0B5CD67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280670-6BB0-4A2F-9AEA-60348E43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Health Canada 2024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9C96A6D-90EC-4A0C-840E-A7C96AD1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CEC7B6F-0B87-41A6-B48A-7DAF1967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7BC8EE8-0170-483C-8E2A-03D407E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CAD 1.16bn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74D5E7-EB77-418F-927C-421EBDC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manufacturer/importer shipments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74D48C7-EA44-45A6-BA83-3B875DD4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DC19C7-4A14-4694-BE01-C8364C09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118.9m units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D79AA3E-0FBA-4D4A-9625-C98E5912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reported units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5F47315-60AF-4AB4-9D5E-8C9A035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2EAD98D-2C00-4933-9397-F608CA58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1.252m l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8E4E8B6-C110-4EFF-8551-06194E46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reported liquid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FA9A530-4CC9-4CEB-AC56-F69E228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official full-year shipment value to wholesalers or retailers covers all four reported product categories.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89E8F62-44D0-41FA-953A-4FF91646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8064071-9E81-447B-A55F-A32A00D4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B027A68-5278-4B38-A0AB-33D11999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official full-year shipment value to wholesalers or retailers covers all four reported product categories. It is not consumer retail purchases, and Health Canada may revise the data.</a:t>
            </a:r>
          </a:p>
        </p:txBody>
      </p:sp>
    </p:spTree>
    <p:extLst>
      <p:ext uri="{BB962C8B-B14F-4D97-AF65-F5344CB8AC3E}">
        <p14:creationId xmlns:p14="http://schemas.microsoft.com/office/powerpoint/2010/main" val="18256576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15FEC82-5D8C-4173-9DE2-AD108BF8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GERMANY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ED0EE92-D7AC-4A3E-91A5-361E22D7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Germany's liquid volume rose; value needs a price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6A3549-6C4E-4A91-84D1-9A5E0C2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322CDA-C7E4-471A-B305-CEF10EEF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F4142C5-B94B-4E3D-8DFA-9525D8DA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Destatis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5A088C-09CC-4029-8671-EA226108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571"/>
                <a:gridCol w="3362224"/>
                <a:gridCol w="3069857"/>
                <a:gridCol w="2631306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Year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Taxed liquid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Excise tax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Finality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1.241m 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 201m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1.284m 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 266m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1.518m 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 404m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Provisional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C8CD9E0-BB7E-44B1-8C94-226C2111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Taxed liquid volume excludes devices, tax-free and illicit trade and is not retail value.</a:t>
            </a:r>
          </a:p>
        </p:txBody>
      </p:sp>
    </p:spTree>
    <p:extLst>
      <p:ext uri="{BB962C8B-B14F-4D97-AF65-F5344CB8AC3E}">
        <p14:creationId xmlns:p14="http://schemas.microsoft.com/office/powerpoint/2010/main" val="13073409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F326A39-6B08-47EA-9CA3-10382719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MODELLING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7A84515-4112-4BC5-A002-8E112B6B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Germany's range is modelled—not observed sales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1734FA-D9D1-4E82-9271-FF18002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3DD469-93A3-443F-927C-4BFAEF5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0F6EC0A-4B30-4507-B389-C921921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Destatis; inTaste.de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4FECAC-E38A-4FFA-B906-E15B7315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1F5A64C-143F-42A6-B2AF-7C93EC69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971B765-8DC7-4820-89A9-E9990CE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EUR 667.92m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1ED503E-58B0-47FA-A04F-1950F4D7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EUR 0.44/ml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25F0DA3-1ADC-4571-96AE-F35A02B8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CAD2D9-3A18-4F33-879E-67E7C6E6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EUR 1,199.22m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0FFDBE1-2CA5-4444-BCEC-5795ED8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EUR 0.79/ml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548F11E-19E8-4C5E-A675-9B5BB7B9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DBEB0C9-0320-4766-8136-B8D1319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EUR 1,654.62m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8C7CDDB-4E97-48EA-80D0-EC2F8FB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EUR 1.09/ml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733AE15-CBD2-4732-8202-38025F1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Formula: volume_litres * 1000 * retail_price_eur_per_ml.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C953688-3103-46A4-8CCA-0F0D99C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86C9D92-DB41-49EE-8637-AEA70353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AD20889-E12D-426C-BFD3-57C4C2BF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Not observed sales. The provisional 2025 taxed-liquid volume is multiplied by three 2026 prices from one German online shop. The year mismatch, single-shop basket, product mix and excluded categories make confidence low.</a:t>
            </a:r>
          </a:p>
        </p:txBody>
      </p:sp>
    </p:spTree>
    <p:extLst>
      <p:ext uri="{BB962C8B-B14F-4D97-AF65-F5344CB8AC3E}">
        <p14:creationId xmlns:p14="http://schemas.microsoft.com/office/powerpoint/2010/main" val="78765340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B213E1D-5D73-4748-8D24-7407C91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GLOBAL 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31B55B-E47E-4842-A628-54F3383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Global estimates are checks, not our estimate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5501F89-7B9C-411E-AF06-9B4CB280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437512-B305-457D-9CAF-A2B495A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8964F3-E9DA-4A72-A777-FE98819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IMARC; GVR; Fortune; European Commission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480599-AB9D-4608-AFF7-FF61DCB2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1AAF22B-8D2F-4550-9AF0-CBA65BFA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599198-C694-4D79-8279-E590CCF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USD 26.0bn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E31F9C-AE3F-4872-84B1-B92652C8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IMARC 2025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F5C0820-3CD1-442D-BD80-2AEF4E78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7B3D8EB-15FD-4A4C-80F2-6CFE636B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USD 45.7bn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C5D0FA-F77F-4A42-B5E2-3DD66E86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GVR 2025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99B038D-B20B-4381-9017-014CC859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8378A9E-2431-4CB2-BA86-E164D0A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USD 46.32bn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83389FC-4060-45DC-BC57-20074954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Fortune 2025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7DEA1E3-D3A4-4E1B-B7C9-9907E53E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4C5E943-5661-412B-AB9F-D7E452BB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EUR 4.99bn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965A9AC-36D4-4CE5-8599-DA040DDD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 Commission benchmark 2023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64BEAFD-9163-45D3-8EC4-8ABDE0E6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EU benchmark supports a scale cross-check; the commercial range is wide because product scopes and methods may differ.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39F05F6-2DDE-4327-88ED-8DDFD249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1E783A2-9F0E-40ED-A82D-01126B3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43EF856-6CA5-4FC2-ACA8-2AFF76BD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EU figure is based on commercial Euromonitor 2025 data; Cyprus, Luxembourg and Malta are missing. It is not a national donor market. The estimates are compared, not summed or used automatically as a royalty base.</a:t>
            </a:r>
          </a:p>
        </p:txBody>
      </p:sp>
    </p:spTree>
    <p:extLst>
      <p:ext uri="{BB962C8B-B14F-4D97-AF65-F5344CB8AC3E}">
        <p14:creationId xmlns:p14="http://schemas.microsoft.com/office/powerpoint/2010/main" val="43596952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6BA03F-E2CA-40A6-99E6-576D6C87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A0B8F4-DE1A-4037-8DED-53E2C969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 global estimate needs ≥3 comparable markets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6CD8783-A5D0-40A5-A662-1034457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DD0EEF-65F0-4004-8294-693A9B2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A52E21-30E8-4FDB-B835-667873A7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Market-values model; Readiness, donorProtocol ja donorCandidates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7C251A1-2852-40A6-8CAF-98F8D30D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282C188-0C18-4529-8960-D6B139F3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current accepted-donor gate is 0/3; all 4 candidates remain outside the count.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575EDD0-23CC-4637-9D8E-F229964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Every candidate must pass all 10 criteria (D1–D10).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New Zealand's NZD 280.685m raw sum and NZD 264.561m repeated-row sensitivity are not a cleaned estimate; the EU benchmark, Canada's shipment proxy and Germany's liquid model were also rejected as donors.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Coverage across regions and regulatory types, plus direct validation in major economies, is still required.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C3AB0D8-DC0B-4762-B201-A7E71B8A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5950B72-ADF6-45C2-A180-36DBD22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Only then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0A9DA4-2AEE-4661-87AB-F32D78B8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Triangulate demand, tax, customs, company and price methods. Compare results; do not add alternative estimates together.</a:t>
            </a:r>
          </a:p>
        </p:txBody>
      </p:sp>
    </p:spTree>
    <p:extLst>
      <p:ext uri="{BB962C8B-B14F-4D97-AF65-F5344CB8AC3E}">
        <p14:creationId xmlns:p14="http://schemas.microsoft.com/office/powerpoint/2010/main" val="18055730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710CAB-86E0-46DA-B288-2DA498D0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VALUE BRIDGE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99A060-F14F-48C2-B4EB-A8B41CFC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market-to-patent bridge has five filters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D3221D9-1318-415F-A17F-908A2E9E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E7706AC-88A4-44BC-AA17-3D13B720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DBB59B-3B6B-40B7-A085-518B9FAB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WIPO valuation;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6742D3-9433-4D9E-BB84-EBC87CD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60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/>
                <a:gridCol w="4217670"/>
                <a:gridCol w="4732020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Level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Filter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 Total market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 and metric scope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Partial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2. Jurisdiction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Enforceable operative claim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 globally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3. Relevant products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 chart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Limited evidence: Germany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4. Relevant sales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 × country × period × net sales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5. Cash flow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Royalty/settlement − costs − taxes − delay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58570F-0647-4884-A0ED-349E0970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Only bottom-level cash flow can service debt; the upper-level market cannot do so by itself.</a:t>
            </a:r>
          </a:p>
        </p:txBody>
      </p:sp>
    </p:spTree>
    <p:extLst>
      <p:ext uri="{BB962C8B-B14F-4D97-AF65-F5344CB8AC3E}">
        <p14:creationId xmlns:p14="http://schemas.microsoft.com/office/powerpoint/2010/main" val="40788706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7582266-6625-4705-8B02-A587786E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C7A6379-6755-4717-B810-86822E29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Potential customers are hypotheses, not yet 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7034E8-2FE6-4D6C-A791-4F8D8B9A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E93C06-3E55-4C71-B35E-F95F59A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3B3D4E-43E2-47C5-838C-00F1855A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WIPO licensing; IP Finance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32981D-1F30-4F80-9016-1BC7A87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CF82D21-1220-43D7-B5BD-0C62BC19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Commercialisation routes point to manufacturers, technology providers, and IP financiers or buyers.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15F102A-26A9-47B3-A83C-476D7B35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For a manufacturer, value may be a licence, freedom to operate or settlement.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For a technology provider, value may be an integrable function or legal position.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For a financier, value is controllable, realisable cash flow and downside protection.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1A1E0B-AB82-4CA0-979C-EB087F54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9019C9-36C7-4F92-A32A-9752347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2F1E68D-3EE2-4434-80E4-91D56F3F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Document 10–15 interviews, decision criteria, objections, budget and next step. The public evidence does not yet include these.</a:t>
            </a:r>
          </a:p>
        </p:txBody>
      </p:sp>
    </p:spTree>
    <p:extLst>
      <p:ext uri="{BB962C8B-B14F-4D97-AF65-F5344CB8AC3E}">
        <p14:creationId xmlns:p14="http://schemas.microsoft.com/office/powerpoint/2010/main" val="8235398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C1F48F-DBDC-4832-A079-4268DE95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COMPETITION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B71135-1F16-43E4-B80B-7CB164F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competition map must cover four parallel levels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DADEF86-512A-4559-A1A3-E9DA462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637DA27-2239-46C2-90FC-1B2E8A1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3188BC-4A95-4152-947E-992EAE37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Evidence Register; EPO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1F1C9B-D8DA-4161-9FA4-D5D7B759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452109"/>
                <a:gridCol w="360044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Level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Analysis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Output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Function, architecture, price, market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Comparison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Claims, prior art, status, FTO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 landscape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Design-arounds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Can the performance be achieved in a different way?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Design-around assessment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Commercial alternative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Licence, acquisition, in-house development, litigation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Buy/build/license/litigate model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4BDD79-6A66-4215-B229-A24C6F6A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A technical advantage is not credible until alternatives have been documented and sourced.</a:t>
            </a:r>
          </a:p>
        </p:txBody>
      </p:sp>
    </p:spTree>
    <p:extLst>
      <p:ext uri="{BB962C8B-B14F-4D97-AF65-F5344CB8AC3E}">
        <p14:creationId xmlns:p14="http://schemas.microsoft.com/office/powerpoint/2010/main" val="77475380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F6875E5-E0B1-4ACC-B90E-29C1FB2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TECHNICAL VALIDATION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8944AE-76E6-4505-AEDD-6B84FCD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Product validation needs an unbroken evidence chain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0AA767A-B4D3-457E-BA60-418A5D0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C25DFD-5989-4174-AFEB-CD49B356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F8596F-1522-4CBE-B8C5-4EFDB285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EP3032975B2;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94C1A0-0048-4E4C-A834-1CE68515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731D89B-BABA-4270-89EB-9993134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AA8B664-2BDA-460F-9806-9B462BF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0BE2818-F751-4F2D-A0BA-3A6D5B2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4E3C07-E8BE-4672-AD10-6E66670E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Purchase in the correct country and period; document the seller, product version and serial details.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8E7FCE8-F5F8-4243-866E-74C7B037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0E6494D-2C87-4819-B374-3FF02082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2FB0082-B0DF-41FF-8FD3-C08A7CC9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Chain of custody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CE698EA-44CB-4DEB-B1A8-DCA6075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Record receipt, storage, opening, imaging and file hashes.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4D3BCDB-5B40-470F-960F-9AC14A1C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1EA9AED-4612-467D-A8D4-C55D441E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552F221-0C87-4486-939E-9DC7D67F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Teardown and testing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2FFA47E-03EF-4A60-93D1-D0E3F2F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Produce an independent measurement protocol, raw data and repeatability test.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83AA43B-ACE8-4D93-8F3D-1D1B9663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AABC2E-1281-48C9-930A-DD1B9230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B9CEE19-D199-4533-BB80-F15D939F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Claim chart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391DBA8-CDBE-4B6F-95E7-1295571B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Map every claim limitation to evidence and counsel's conclusion.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E75A7C6-F5DD-4C7D-BD29-A05A3325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Market sales can be attributed only after product identity and claim mapping are controlled.</a:t>
            </a:r>
          </a:p>
        </p:txBody>
      </p:sp>
    </p:spTree>
    <p:extLst>
      <p:ext uri="{BB962C8B-B14F-4D97-AF65-F5344CB8AC3E}">
        <p14:creationId xmlns:p14="http://schemas.microsoft.com/office/powerpoint/2010/main" val="79800713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4E74E92-7E1D-492B-8A91-EF768DAB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COMMERCIALISATION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B47B44-0420-4C8E-A32F-C79B2583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Commercialisation starts with hard gates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4EDF62B-B44F-46C1-8A61-D01FFC92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DD33C3-9FA9-4E2E-B406-0B077270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C85D1D-3A37-4D16-82F9-AB65CA7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WIPO dispute resolution; EPO IPscore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AC2765-8C3B-4ABF-BC86-2DEACF5A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BA3B966-63E0-4856-B11B-9DCF0038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DD3F24-29F7-49B3-A872-24765C1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AA7383-1C40-4794-B71D-9D2D30BF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Confirm the right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94BA6F8-628D-4D43-905B-EE423788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No outreach without country-specific title, validity, encumbrance and deadline information.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BD47B64-1E07-4512-AFE5-1668402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FE1454-DF6E-49B0-83CF-DA13C44B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3A19E6-36C9-418C-9EF5-084D29AE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Confirm the product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0CB4D72-38DC-4A92-908B-49A6BFE8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No assertion without a product sample, claim chart and documentation of the local act.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5798E7D-735F-470E-BAB6-77CE24E2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4AE90E0-A99D-488F-BD32-A67E61CB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949FB17-619C-4340-B8E1-EE3DD208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Score the target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F26E67B-46BE-449E-94FA-B84001AE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Assess sales, evidence, counterparty, jurisdiction, cost and recoverability.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690EDBF-5BE1-4D76-8C62-7DE17D0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A3C1DA4-52CF-4B8E-84B1-166910BF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6472916-3865-4B11-A809-9F7EC352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Test a pilot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7BD1E65-2483-4602-9E7C-98338883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Negotiate licence, settlement, assignment or financing options under controlled conditions.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7F53E11-AD05-4B4B-A1CD-7371D987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An outreach letter does not automatically interrupt limitation or prove service of notice.</a:t>
            </a:r>
          </a:p>
        </p:txBody>
      </p:sp>
    </p:spTree>
    <p:extLst>
      <p:ext uri="{BB962C8B-B14F-4D97-AF65-F5344CB8AC3E}">
        <p14:creationId xmlns:p14="http://schemas.microsoft.com/office/powerpoint/2010/main" val="89728317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840ACC2-9B55-4FEB-87BE-6DA290C8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COMMERCIALISATION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34B50B9-1DE3-45CC-B8E7-CE7DE20E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Routes differ in cash flow, control and risk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4E019-D191-44C2-92B3-BF730591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6B870-6E89-4E30-B0BD-15BF53D8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5A0C9BD-5588-43B1-8080-D74E1AE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WIPO licensing; IP Finance; TPLF mapping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15199F-A03A-44B1-AD47-92F62541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571"/>
                <a:gridCol w="3995687"/>
                <a:gridCol w="5067701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Route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Cash flow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Key risk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Licence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Upfront + recurring royalty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Royalty-base audit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Settlement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Lump sum / phased payments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No automatic precedent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Assignment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Purchase price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Future upside is transferred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IP financing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Debt or revenue share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Collateral value and controls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Litigation financing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Capital tied to costs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High cost and outcome risk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5603DA1-321E-4576-8578-650BDC3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Choose a route only after the right, counterparty, cash flow and downside have been verified.</a:t>
            </a:r>
          </a:p>
        </p:txBody>
      </p:sp>
    </p:spTree>
    <p:extLst>
      <p:ext uri="{BB962C8B-B14F-4D97-AF65-F5344CB8AC3E}">
        <p14:creationId xmlns:p14="http://schemas.microsoft.com/office/powerpoint/2010/main" val="102711073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E0EE7-9AF2-4C42-9B30-B55A139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FINANCIAL MODEL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A91FA2-9364-477D-BECC-249C8270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financial model begins with verifiable inputs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60FF19-5B57-435C-94CA-43CBA383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16EC863-0A26-4A32-A988-4AF48554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A9A2FF-6D6C-440D-A233-3EFFDEC5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Evidence Register; WIPO 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245D8E-E56C-47FC-9945-B24B285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536192"/>
          <a:ext xmlns:a="http://schemas.openxmlformats.org/drawingml/2006/main" cx="11109959" cy="397763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8761"/>
                <a:gridCol w="5869412"/>
                <a:gridCol w="1781786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Country-specific relevant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Authority / counterparty disclosure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Claim-mapped share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Counsel-reviewed product dossier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 or damages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 / legal analysis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Timing and recoverability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Proceeding and counterparty analysis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Costs and taxes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Budget / tax adviser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Discount rate and downside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valuation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8292C62-DF71-47E5-A6ED-0807C4F3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A lender-ready NPV cannot be derived from the current public package.</a:t>
            </a:r>
          </a:p>
        </p:txBody>
      </p:sp>
    </p:spTree>
    <p:extLst>
      <p:ext uri="{BB962C8B-B14F-4D97-AF65-F5344CB8AC3E}">
        <p14:creationId xmlns:p14="http://schemas.microsoft.com/office/powerpoint/2010/main" val="30639697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21BE4E-4209-42B4-901C-CAA2E194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SENSITIVITIES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DFD1891-80D0-4D6A-8BF4-3BD56637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Sensitivities must be tied to real risks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9A0504-21B9-4A6D-98DF-C5D71AC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72531-455B-472B-92C7-B4227B02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8718605-213E-4303-8A65-D70F17E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WIPO 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E45207E-B68D-4548-9D15-30BD9570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536192"/>
          <a:ext xmlns:a="http://schemas.openxmlformats.org/drawingml/2006/main" cx="11109958" cy="397763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907"/>
                <a:gridCol w="3514375"/>
                <a:gridCol w="2267338"/>
                <a:gridCol w="2267338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Driver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Downside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Base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Upside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Jurisdictions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Confirmed country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Prioritised countries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Broader verified coverage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 applicability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One product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Validated portfolio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Broad but documented share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 / damages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Expert-supported lower bound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Comparable terms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Verified upper bound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Timing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Appeal and prolonged collection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 path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Upfront structure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Costs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Full litigation budget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Limited pilot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Costs covered by counterparty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ABE7E0-E77A-4A8C-ACBE-A52F9E38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No percentages are entered before source evidence; this slide defines the scenario structure.</a:t>
            </a:r>
          </a:p>
        </p:txBody>
      </p:sp>
    </p:spTree>
    <p:extLst>
      <p:ext uri="{BB962C8B-B14F-4D97-AF65-F5344CB8AC3E}">
        <p14:creationId xmlns:p14="http://schemas.microsoft.com/office/powerpoint/2010/main" val="187718080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0FD3980-4153-4F64-8FD1-436A2902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REVIEWER QUESTIONS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BCA060-D1AA-4031-83CC-4DAD9E32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Five questions determine the lender's next decision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6A6D5C-AE7B-4AFE-8B11-AB3153B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5B63B4C-B9E6-4ECA-8254-9AD840CF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739B54-953F-4854-9E03-C265105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1517517-E470-4FED-A1E3-157E3D25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175"/>
                <a:gridCol w="4659015"/>
                <a:gridCol w="582376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Required answer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What exactly is owned, and where is it enforceable?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Signed rights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Which product satisfies which claim limitations?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 chart + independent test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What are the verified relevant sales?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Product–country–period net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From where and when does debt-service cash arise?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Contracts, payments, forecast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What does the collateral realise in a downside case?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value + realisation path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96ACE9-6744-45CC-88A1-7378AB35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If any one answer remains materially open, financing must be conditional and phased.</a:t>
            </a:r>
          </a:p>
        </p:txBody>
      </p:sp>
    </p:spTree>
    <p:extLst>
      <p:ext uri="{BB962C8B-B14F-4D97-AF65-F5344CB8AC3E}">
        <p14:creationId xmlns:p14="http://schemas.microsoft.com/office/powerpoint/2010/main" val="87993793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A2C1441-25D5-40B4-A7E6-E4D8D582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EVIDENCE REQUESTS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0D8EAE-E86F-4E1C-A183-D57A580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Missing evidence is prioritised by impact, not ease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52A1B3-BF78-4415-B944-D66EA7C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B13001-80A3-4900-B35F-341654C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D7D367-AA21-4CC9-9C45-162C238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B3ACBEF-AEA4-4DE5-B599-0FBD1217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306"/>
                <a:gridCol w="4788775"/>
                <a:gridCol w="5171877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Priority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item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Decision impact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Title, transfers, encumbrances, renewal fees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Existing and controllable right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 samples, tests and claim charts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Technical applicability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Relevant sales and counterparty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Contracts, receivables and payments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Debt-service capacity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Financial statements, debt, budget and funding need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Company and credit risk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IP/company valuation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Collateral and price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0DB4CD-B239-4F7D-BE31-4EBA89F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public package shows the gaps; confidential evidence belongs in an access-controlled data room.</a:t>
            </a:r>
          </a:p>
        </p:txBody>
      </p:sp>
    </p:spTree>
    <p:extLst>
      <p:ext uri="{BB962C8B-B14F-4D97-AF65-F5344CB8AC3E}">
        <p14:creationId xmlns:p14="http://schemas.microsoft.com/office/powerpoint/2010/main" val="42116672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755CEE-ED7A-497A-B5CF-D9913D63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0EB8F58-19B9-405F-8644-1E67E32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 90-day programme turns gaps into controls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76773-7962-4656-B2CE-EDEB8AF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F097734-2B3A-4484-ADA1-DDF8A3D8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57EC04-21B3-44B6-877F-8C44EB0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Evidence Register; changelog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BD792A-0781-480E-A6FF-668360C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FBA9487-0B75-43D3-B95A-53DF63C5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788FAE0-C433-4DB9-9062-424F7B75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657DA2-8145-40BA-A2F3-CF62A819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Days 0–30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C542AB6-D17D-4370-9C28-45F6F6D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Rights matrix, deadlines, title and encumbrance review, and an index of company materials.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C267C46-002F-4DF8-9321-D7C88972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75EA92-BD15-46F7-9693-90967175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04C77A5-85F3-4817-A423-66060469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Days 31–60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A580818-E4D3-461E-B56B-4C1D201F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Product dossiers, claim charts, prioritised market sales and customer validation.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315B5A1-136E-4674-9F05-4157C84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AFFB8ED-8BE6-4BDF-A598-991DE3E1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A56C01F-C3E4-43B5-A1C9-DB33CBC0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Days 61–90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9817C5D-BC78-42E0-86EF-C2DDED39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Cash-flow model, independent valuation, downside and term-sheet options.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8D6C6C9-13C2-44AA-B85E-50E1A302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EC4B7F9-63AC-49C8-9752-56908EF6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B3DE3E5-D6A4-4B00-908B-33B12B6C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EED5EF7-EA3D-4C75-928F-79EAA024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Approve, limit, phase or decline financing using explicit conditions and stop criteria.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452359A-61C1-43F0-969B-6DF3B6B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package is refreshed from the same public source data in every site release.</a:t>
            </a:r>
          </a:p>
        </p:txBody>
      </p:sp>
    </p:spTree>
    <p:extLst>
      <p:ext uri="{BB962C8B-B14F-4D97-AF65-F5344CB8AC3E}">
        <p14:creationId xmlns:p14="http://schemas.microsoft.com/office/powerpoint/2010/main" val="15512918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8564C6-F0E5-4F84-A931-488142A5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DECISION FRAMEWORK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96B407-114A-48D0-90B6-400C3B6F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05840"/>
            <a:ext cx="1088136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lender-ready case is an evidence chain — not the largest possible market number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7762B5-35F7-4EB3-9D7D-DAC6D098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10012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Strong starting point: a documented patent core and official German legal evidence.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Critical open work: national rights, claim-mapped sales, cash flow and downside value.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Recommendation: conditional 90-day diligence, clear decision gates and an access-controlled data room.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This public package is a reviewable evidence map, not Pixan Oy's official position or a financing recommendation.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54FC56-275F-4C8A-ABCD-33E9A53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72784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Version 2026.07.24-17 · 2026-07-24 · 30 / 30</a:t>
            </a:r>
          </a:p>
        </p:txBody>
      </p:sp>
    </p:spTree>
    <p:extLst>
      <p:ext uri="{BB962C8B-B14F-4D97-AF65-F5344CB8AC3E}">
        <p14:creationId xmlns:p14="http://schemas.microsoft.com/office/powerpoint/2010/main" val="10127395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2026-07-23T22:56:24.4880000Z</dcterms:created>
  <dcterms:modified xsi:type="dcterms:W3CDTF">2026-07-23T22:56:24.4880000Z</dcterms:modified>
</coreProperties>
</file>