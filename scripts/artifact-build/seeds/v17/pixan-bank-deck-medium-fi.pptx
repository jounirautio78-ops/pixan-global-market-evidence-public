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566928"/>
            <a:ext cx="1097280" cy="64008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6766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0A4A6"/>
                </a:solidFill>
                <a:latin typeface="Aptos"/>
              </a:rPr>
              <a:t>PIXAN · JULKINEN EVIDENSSIPAKETTI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89888"/>
            <a:ext cx="7360920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Patentista pankkikelpoiseksi
todistelupaketiksi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03320"/>
            <a:ext cx="7040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C6D8E2"/>
                </a:solidFill>
                <a:latin typeface="Aptos"/>
              </a:rPr>
              <a:t>12 dian rahoitus- ja teknologia-arvio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75320" y="0"/>
            <a:ext cx="3913632" cy="6858000"/>
          </a:xfrm>
          <a:prstGeom prst="rect">
            <a:avLst/>
          </a:prstGeom>
          <a:solidFill>
            <a:srgbClr val="0D5F86"/>
          </a:solidFill>
          <a:ln>
            <a:solidFill>
              <a:srgbClr val="0D5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143000"/>
            <a:ext cx="2926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Aineiston tila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700784"/>
            <a:ext cx="2880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F4B942"/>
                </a:solidFill>
                <a:latin typeface="Aptos"/>
              </a:rPr>
              <a:t>2026.07.24-17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359152"/>
            <a:ext cx="2788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Päivitetty 2026-07-24
12 diaa · suomeksi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22191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B8DFE2"/>
                </a:solidFill>
                <a:latin typeface="Aptos"/>
              </a:rPr>
              <a:t>Lähtökohta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889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Vahvistettu näyttö erotetaan tuetusta tiedosta, oletuksista ja puuttuvasta näytöstä.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254496"/>
            <a:ext cx="7040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9DB3C0"/>
                </a:solidFill>
                <a:latin typeface="Aptos"/>
              </a:rPr>
              <a:t>Ei Pixan Oy:n virallinen kanta · ei arvo-, sijoitus-, laina- tai oikeudellinen lausunto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15968"/>
            <a:ext cx="5486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0A4A6"/>
                </a:solidFill>
                <a:latin typeface="Aptos"/>
              </a:rPr>
              <a:t>1 · Rahoitusteesi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2 · ONGELMA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071A2B"/>
                </a:solidFill>
                <a:latin typeface="Aptos"/>
              </a:rPr>
              <a:t>Ongelma on yhtä paljon evidenssissä kuin teknologiassa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Atlas readiness; WIPO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76656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D5F86"/>
                </a:solidFill>
                <a:latin typeface="Aptos"/>
              </a:rPr>
              <a:t>Laaja markkinapuhe ei muutu pankkikelpoiseksi vakuudeksi ilman maakohtaista oikeus-, tuote-, myynti- ja kassavirtaketjua.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090672"/>
            <a:ext cx="6629400" cy="28072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Markkinamittarit ovat hajanaisia: toimitukset, verot, litrat ja kaupalliset arviot eivät ole sama asia.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Perhejulkaisu ei todista nykyistä voimassaoloa tai rasitteettomuutta.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Oikeustuomio ei yksin todista maksettua korvausta tai globaalia rojaltipohjaa.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886200" cy="4343400"/>
          </a:xfrm>
          <a:prstGeom prst="roundRect">
            <a:avLst>
              <a:gd name="adj" fmla="val 8000"/>
            </a:avLst>
          </a:prstGeom>
          <a:solidFill>
            <a:srgbClr val="E3F6F3"/>
          </a:solidFill>
          <a:ln>
            <a:solidFill>
              <a:srgbClr val="E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700784"/>
            <a:ext cx="35570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71A2B"/>
                </a:solidFill>
                <a:latin typeface="Aptos"/>
              </a:rPr>
              <a:t>Pankin ydinkysymys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057400"/>
            <a:ext cx="3557016" cy="3721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82935"/>
                </a:solidFill>
                <a:latin typeface="Aptos"/>
              </a:rPr>
              <a:t>Mikä todennettu omaisuus ja kassavirta kattaa lainan myös downside-tapauksessa?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3 · PATENTOITU RATKAISU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071A2B"/>
                </a:solidFill>
                <a:latin typeface="Aptos"/>
              </a:rPr>
              <a:t>Ratkaisu ohjaa höyrystimen tehoa mitatun resistanssin perusteella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EP3032975B2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766560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50" b="1">
                <a:solidFill>
                  <a:srgbClr val="0D5F86"/>
                </a:solidFill>
                <a:latin typeface="Aptos"/>
              </a:rPr>
              <a:t>Julkaistu patenttiselitys koskee sähkökäyttöisen höyrystimen ohjausta mittaamalla lämmityselementin resistanssi, valitsemalla sitä vastaava teho tallennetusta tiedosta ja ohjaamalla lämmittimelle syötettävää tehoa määritellyissä käyttäjäsäädön rajoissa.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419856"/>
            <a:ext cx="6629400" cy="24780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Ohjaus perustuu tallennettuihin resistanssi–tehoarvoihin.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Tehosuhde kuvataan ei-suoraan-verrannolliseksi.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Käyttäjäsäätö tapahtuu nollasta poikkeavan minimin ja tallennetun maksimin välillä.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886200" cy="4343400"/>
          </a:xfrm>
          <a:prstGeom prst="roundRect">
            <a:avLst>
              <a:gd name="adj" fmla="val 8000"/>
            </a:avLst>
          </a:prstGeom>
          <a:solidFill>
            <a:srgbClr val="E3F6F3"/>
          </a:solidFill>
          <a:ln>
            <a:solidFill>
              <a:srgbClr val="E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700784"/>
            <a:ext cx="35570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71A2B"/>
                </a:solidFill>
                <a:latin typeface="Aptos"/>
              </a:rPr>
              <a:t>Rajaus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057400"/>
            <a:ext cx="3557016" cy="3721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82935"/>
                </a:solidFill>
                <a:latin typeface="Aptos"/>
              </a:rPr>
              <a:t>Tämä on julkaistun patenttiselityksen yleiskielinen tiivistelmä. Vain kyseisen maan operative claims ja tuotekohtainen claim chart ratkaisevat.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4 · PATENTTI JA IP-STATUS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071A2B"/>
                </a:solidFill>
                <a:latin typeface="Aptos"/>
              </a:rPr>
              <a:t>IP-ydin on dokumentoitu; maakohtainen käyttökelpoisuus on vielä täsmäytettävä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EPO Register; EP3032975B2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719072"/>
            <a:ext cx="3532632" cy="137160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83664"/>
            <a:ext cx="32034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0A4A6"/>
                </a:solidFill>
                <a:latin typeface="Aptos"/>
              </a:rPr>
              <a:t>2013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468879"/>
            <a:ext cx="32034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5"/>
                </a:solidFill>
                <a:latin typeface="Aptos"/>
              </a:rPr>
              <a:t>varhaisin prioriteettivuosi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016" y="1719072"/>
            <a:ext cx="3532632" cy="137160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3608" y="1883664"/>
            <a:ext cx="32034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D5F86"/>
                </a:solidFill>
                <a:latin typeface="Aptos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3608" y="2468879"/>
            <a:ext cx="32034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5"/>
                </a:solidFill>
                <a:latin typeface="Aptos"/>
              </a:rPr>
              <a:t>B2-vaatimusta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1719072"/>
            <a:ext cx="3532632" cy="137160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2272" y="1883664"/>
            <a:ext cx="32034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4B942"/>
                </a:solidFill>
                <a:latin typeface="Aptos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2272" y="2468879"/>
            <a:ext cx="32034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5"/>
                </a:solidFill>
                <a:latin typeface="Aptos"/>
              </a:rPr>
              <a:t>perhejulkaisutietuetta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529584"/>
            <a:ext cx="1092708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1A2B"/>
                </a:solidFill>
                <a:latin typeface="Aptos"/>
              </a:rPr>
              <a:t>EPO-rekisteri: patentti pysytetty muutettuna väitemenettelyn jälkeen; B2-patenttijulkaisu julkaistu. B2 julkaistiin 24.4.2024.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35424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EAF3F6"/>
          </a:solidFill>
          <a:ln>
            <a:solidFill>
              <a:srgbClr val="EA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81728"/>
            <a:ext cx="105978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71A2B"/>
                </a:solidFill>
                <a:latin typeface="Aptos"/>
              </a:rPr>
              <a:t>Tulkinta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38344"/>
            <a:ext cx="10597896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82935"/>
                </a:solidFill>
                <a:latin typeface="Aptos"/>
              </a:rPr>
              <a:t>Julkisen rekisterin kirjattu haltija: Pixan Oy. Koko perheen nykyistä kansallista voimassaoloa, maksuja ja rasitteita ei ole vielä varmennettu.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5 · TEKNINEN EROTTAUTUMINEN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071A2B"/>
                </a:solidFill>
                <a:latin typeface="Aptos"/>
              </a:rPr>
              <a:t>Tekninen erottautuminen on vaatimuksissa — ei tuotteen ulkonäössä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EP3032975B2; 7 O 3341/24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76656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D5F86"/>
                </a:solidFill>
                <a:latin typeface="Aptos"/>
              </a:rPr>
              <a:t>Rahoitusarvioinnin tulee jäljittää jokainen olennainen vaatimuspiirre tuotteeseen ja maahan.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816352"/>
            <a:ext cx="6629400" cy="30815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Patenttiselitys antaa teknisen hypoteesin ja dokumentoidun suojatekstin.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Saksa: ratkaisu tukee tiettyjen tuotteiden ja vaatimusten 1 ja 6 kytkentää.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Riippumattomat testit, teardown-dossierit ja muiden maiden claim chartit puuttuvat julkisesta aineistosta.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886200" cy="4343400"/>
          </a:xfrm>
          <a:prstGeom prst="roundRect">
            <a:avLst>
              <a:gd name="adj" fmla="val 8000"/>
            </a:avLst>
          </a:prstGeom>
          <a:solidFill>
            <a:srgbClr val="E3F6F3"/>
          </a:solidFill>
          <a:ln>
            <a:solidFill>
              <a:srgbClr val="E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700784"/>
            <a:ext cx="35570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71A2B"/>
                </a:solidFill>
                <a:latin typeface="Aptos"/>
              </a:rPr>
              <a:t>Todistusketju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057400"/>
            <a:ext cx="3557016" cy="3721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82935"/>
                </a:solidFill>
                <a:latin typeface="Aptos"/>
              </a:rPr>
              <a:t>Näyte → hallussapitoketju → teardown → mittausdata → claim chart → asiamiehen tarkastus → relevantti myynti.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6 · MARKKINAN KOKO JA RAJAUS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071A2B"/>
                </a:solidFill>
                <a:latin typeface="Aptos"/>
              </a:rPr>
              <a:t>Markkinakoko on tällä hetkellä haarukka ja havaintokokoelma — ei yksi luku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Market-values; IMARC; GVR; Fortune; European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719072"/>
            <a:ext cx="3532632" cy="137160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83664"/>
            <a:ext cx="32034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0A4A6"/>
                </a:solidFill>
                <a:latin typeface="Aptos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468879"/>
            <a:ext cx="32034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5"/>
                </a:solidFill>
                <a:latin typeface="Aptos"/>
              </a:rPr>
              <a:t>virallista vuosihavaintoa 6 maasta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016" y="1719072"/>
            <a:ext cx="3532632" cy="137160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3608" y="1883664"/>
            <a:ext cx="32034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50" b="1">
                <a:solidFill>
                  <a:srgbClr val="0D5F86"/>
                </a:solidFill>
                <a:latin typeface="Aptos"/>
              </a:rPr>
              <a:t>280,685 milj. NZD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3608" y="2468879"/>
            <a:ext cx="32034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5"/>
                </a:solidFill>
                <a:latin typeface="Aptos"/>
              </a:rPr>
              <a:t>Uusi-Seelanti 2024: 29 tiedoston raakasumma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1719072"/>
            <a:ext cx="3532632" cy="1371600"/>
          </a:xfrm>
          <a:prstGeom prst="roundRect">
            <a:avLst>
              <a:gd name="adj" fmla="val 8000"/>
            </a:avLst>
          </a:prstGeom>
          <a:solidFill>
            <a:srgbClr val="F6F9FA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2272" y="1883664"/>
            <a:ext cx="32034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4B942"/>
                </a:solidFill>
                <a:latin typeface="Aptos"/>
              </a:rPr>
              <a:t>4,99 mrd 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2272" y="2468879"/>
            <a:ext cx="32034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5"/>
                </a:solidFill>
                <a:latin typeface="Aptos"/>
              </a:rPr>
              <a:t>EU 2023: komission julkaisema vertailuarvo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529584"/>
            <a:ext cx="1092708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71A2B"/>
                </a:solidFill>
                <a:latin typeface="Aptos"/>
              </a:rPr>
              <a:t>4/4 ehdokasta ei läpäissyt D1–D10-protokollaa; hyväksytty donor-portti on 0/3.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35424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EAF3F6"/>
          </a:solidFill>
          <a:ln>
            <a:solidFill>
              <a:srgbClr val="EA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81728"/>
            <a:ext cx="105978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71A2B"/>
                </a:solidFill>
                <a:latin typeface="Aptos"/>
              </a:rPr>
              <a:t>Tulkinta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38344"/>
            <a:ext cx="10597896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82935"/>
                </a:solidFill>
                <a:latin typeface="Aptos"/>
              </a:rPr>
              <a:t>Uuden-Seelannin raakasumma täsmää viralliseen ≥280 milj. NZD otsikkoon; 264,561 milj. NZD toistoriviherkkyys ei ole korjattu estimaatti ja tunnistettu vaping-raakasumma on 274,18 milj. NZD. EU-luku on kaupalliseen Euromonitor 2025 -aineistoon perustuva tuettu institutionaalinen vertailuarvo; Kypros, Luxemburg ja Malta puuttuvat. Kaupallinen 26,0–46,32 mrd USD haarukka ja Saksan 667,92 milj. EUR–1 654,62 milj. EUR nestemalli ovat ristiintarkistuksia, eivät atlaksen maailmanestimaatti.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7 · ASIAKKAAT JA OSTOPERUSTE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071A2B"/>
                </a:solidFill>
                <a:latin typeface="Aptos"/>
              </a:rPr>
              <a:t>Asiakkuus on vielä validoitava kolmessa eri päätöksentekologiikassa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WIPO licensing; WIPO IP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76656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D5F86"/>
                </a:solidFill>
                <a:latin typeface="Aptos"/>
              </a:rPr>
              <a:t>Mahdolliset segmentit ovat valmistajat, teknologiatoimittajat sekä IP-rahoittajat tai ostajat.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816352"/>
            <a:ext cx="6629400" cy="30815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Valmistaja ostaa toimintarauhaa, oikeusvarmuutta tai teknologiaa — jos relevantti tuote ja alue osoitetaan.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Teknologiatoimittaja arvioi integroitavuutta, vapautta toimia ja yksikkötaloutta.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50">
                <a:solidFill>
                  <a:srgbClr val="182935"/>
                </a:solidFill>
                <a:latin typeface="Aptos"/>
              </a:defRPr>
            </a:pPr>
            <a:r>
              <a:t>•  Rahoittaja arvioi omistusta, realisoitavaa kassavirtaa, kontrollia ja downside-arvoa.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886200" cy="4343400"/>
          </a:xfrm>
          <a:prstGeom prst="roundRect">
            <a:avLst>
              <a:gd name="adj" fmla="val 8000"/>
            </a:avLst>
          </a:prstGeom>
          <a:solidFill>
            <a:srgbClr val="E3F6F3"/>
          </a:solidFill>
          <a:ln>
            <a:solidFill>
              <a:srgbClr val="E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700784"/>
            <a:ext cx="35570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71A2B"/>
                </a:solidFill>
                <a:latin typeface="Aptos"/>
              </a:rPr>
              <a:t>Nykyinen näyttö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057400"/>
            <a:ext cx="3557016" cy="3721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82935"/>
                </a:solidFill>
                <a:latin typeface="Aptos"/>
              </a:rPr>
              <a:t>Julkinen aineisto ei vahvista nimettyjä asiakkaita, piloteja, ostoaikomuksia tai allekirjoitettuja lisenssejä.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8 · KILPAILU JA VAIHTOEHDOT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071A2B"/>
                </a:solidFill>
                <a:latin typeface="Aptos"/>
              </a:rPr>
              <a:t>Kilpailu on erotettava vaihtoehtoisista teknologioista ja patenttiriskistä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Evidence Register; EPO; WIPO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719072"/>
          <a:ext cx="1110995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455"/>
                <a:gridCol w="6040366"/>
                <a:gridCol w="2265137"/>
              </a:tblGrid>
              <a:tr h="438912"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Vertailutaso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Kysymys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Nykytila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Tuoteratkaisut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Ratkaiseeko tuote saman ongelman eri tavalla?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Patenttiperheet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Onko suojan päällekkäisyys tai FTO-riski?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Kaupalliset vaihtoehdot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Lisenssi, luovutus, sovinto vai oma käyttö?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Oletus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Ei-patentoidut vaihtoehdot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Voiko suorituskyvyn saavuttaa kiertämällä vaatimukset?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" y="5660136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D5F86"/>
                </a:solidFill>
                <a:latin typeface="Aptos"/>
              </a:rPr>
              <a:t>Kilpailija-analyysi on pankin teknologia-arvioinnin olennainen avoin työpaketti.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9 · VALIDOINTI JA NYKYINEN NÄYTTÖ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071A2B"/>
                </a:solidFill>
                <a:latin typeface="Aptos"/>
              </a:rPr>
              <a:t>Validoinnin vahvuus on epätasainen ja siksi näkyvästi luokiteltu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Evidence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719072"/>
          <a:ext cx="11109958" cy="3794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1599834"/>
                <a:gridCol w="3377427"/>
                <a:gridCol w="3910705"/>
              </a:tblGrid>
              <a:tr h="438912"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Väitealue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Luokitus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Mitä on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Mitä puuttuu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Patenttiydin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Vahvistettu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EPO-rekisteri ja B2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Maakohtainen statusmatriisi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Saksan prosessit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Vahvistettu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Kaksi virallista ratkaisua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Lopullisuus, täytäntöönpano, kassa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Markkinahavainnot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Vahvistettu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6 maan viralliset luvut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Yhteismitallinen retail-arvo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Tekninen testaus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Patenttiselitys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Riippumaton testi ja raakadata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Kaupallinen näyttö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Kaupallistamiskehys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Asiakkaat, sopimukset, maksut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" y="5660136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D5F86"/>
                </a:solidFill>
                <a:latin typeface="Aptos"/>
              </a:rPr>
              <a:t>Todistettu oikeusnäyttö ei korvaa teknistä, kaupallista tai taloudellista validointia.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10 · KAUPALLISTAMISMALLI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071A2B"/>
                </a:solidFill>
                <a:latin typeface="Aptos"/>
              </a:rPr>
              <a:t>Kaupallistaminen etenee porttien kautta, ei massaväitteillä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WIPO licensing; dispute resolution; IPscore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669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09344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Aptos"/>
              </a:rPr>
              <a:t>Oikeusmatriisi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09344"/>
            <a:ext cx="70866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182935"/>
                </a:solidFill>
                <a:latin typeface="Aptos"/>
              </a:rPr>
              <a:t>Vahvista maa, haltija, maksu, rasite, operative claims ja määräpäivät.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06624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79776"/>
            <a:ext cx="5669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688336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Aptos"/>
              </a:rPr>
              <a:t>Tuotedossier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88336"/>
            <a:ext cx="70866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182935"/>
                </a:solidFill>
                <a:latin typeface="Aptos"/>
              </a:rPr>
              <a:t>Hanki näyte, dokumentoi ketju ja tee asiamiehen tarkastama claim chart.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85615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858768"/>
            <a:ext cx="5669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767328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Aptos"/>
              </a:rPr>
              <a:t>Kohdepisteytys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67328"/>
            <a:ext cx="70866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182935"/>
                </a:solidFill>
                <a:latin typeface="Aptos"/>
              </a:rPr>
              <a:t>Arvioi oikeus, näyttö, myynti, vastapuoli, kustannus ja täytäntöönpano.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6460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D5F86"/>
          </a:solidFill>
          <a:ln>
            <a:solidFill>
              <a:srgbClr val="0D5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937760"/>
            <a:ext cx="5669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846320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Aptos"/>
              </a:rPr>
              <a:t>Rajattu pilotti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46320"/>
            <a:ext cx="70866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182935"/>
                </a:solidFill>
                <a:latin typeface="Aptos"/>
              </a:rPr>
              <a:t>Testaa lisenssi-, sovinto-, luovutus- tai rahoitusreitti auditoitavin ehdoin.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6527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D5F86"/>
                </a:solidFill>
                <a:latin typeface="Aptos"/>
              </a:rPr>
              <a:t>Vasta toteutunut sopimus tai saaminen luo kassavirtanäyttöä.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A4A6"/>
                </a:solidFill>
                <a:latin typeface="Aptos"/>
              </a:rPr>
              <a:t>11 · TALOUDELLINEN MALLI JA HERKKYYDET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099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071A2B"/>
                </a:solidFill>
                <a:latin typeface="Aptos"/>
              </a:rPr>
              <a:t>Taloudellinen malli on rakennettava lähteistä, ei markkinaosuusoletuksesta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960120" cy="50292"/>
          </a:xfrm>
          <a:prstGeom prst="rect">
            <a:avLst/>
          </a:prstGeom>
          <a:solidFill>
            <a:srgbClr val="00A4A6"/>
          </a:solidFill>
          <a:ln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6519672"/>
            <a:ext cx="11494008" cy="13716"/>
          </a:xfrm>
          <a:prstGeom prst="rect">
            <a:avLst/>
          </a:prstGeom>
          <a:solidFill>
            <a:srgbClr val="CBD8DE"/>
          </a:solidFill>
          <a:ln>
            <a:solidFill>
              <a:srgbClr val="CB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56248"/>
            <a:ext cx="1083564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B6B75"/>
                </a:solidFill>
                <a:latin typeface="Aptos"/>
              </a:rPr>
              <a:t>Julkinen riippumaton evidenssikooste · 2026.07.24-17 · 2026-07-24 · Lähteet: WIPO IP valuation; Market-values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6B75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719072"/>
          <a:ext cx="11109959" cy="3794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6332677"/>
                <a:gridCol w="1999792"/>
              </a:tblGrid>
              <a:tr h="438912"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Silta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Todennettava syöte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Nykytila</a:t>
                      </a:r>
                    </a:p>
                  </a:txBody>
                  <a:tcPr marL="73152" marR="73152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Kokonaismarkkina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Yhteismitallinen maakohtainen myynti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0/3 retail-luovuttajaa; 4 ehdokasta hylätty D1–D10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Kohdistettava myynti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Voimassaolo × tuote × aika × maa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Rojaltipohja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Claim-mapped net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Kassavirta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Sopimusehdot, kulut, verot, viive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Vakuusarvo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Downside-realisointi ja kontrolli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82935"/>
                          </a:solidFill>
                          <a:latin typeface="Aptos"/>
                        </a:defRPr>
                      </a:pPr>
                      <a: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" y="5660136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D5F86"/>
                </a:solidFill>
                <a:latin typeface="Aptos"/>
              </a:rPr>
              <a:t>Näytä downside/base/upside vasta, kun jokainen sillan syöte on dokumentoitu.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0A4A6"/>
                </a:solidFill>
                <a:latin typeface="Aptos"/>
              </a:rPr>
              <a:t>PÄÄTÖSKEHYS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0881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Rahoituspäätös vasta neljän kriittisen aukon sulkeuduttua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286000"/>
            <a:ext cx="10012680" cy="3246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1. Asiamiehen allekirjoittama omistus-, rasite-, maksu- ja oikeusmatriisi.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2. Priorisoitujen tuotteiden claim chartit ja dokumentoitu relevantti myynti.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3. Toteutuneet tai sopimuspohjaiset kassavirrat sekä auditoidut taloustiedot.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4. Riippumaton arvonmääritys ja downside-vakuusanalyysi.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Seuraava päätös: hyväksytäänkö 90 päivän kontrolloitu diligence-vaihe?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0241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9DB3C0"/>
                </a:solidFill>
                <a:latin typeface="Aptos"/>
              </a:rPr>
              <a:t>Versio 2026.07.24-17 · 2026-07-24 · 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955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0A4A6"/>
                </a:solidFill>
                <a:latin typeface="Aptos"/>
              </a:rPr>
              <a:t>12 · Riskit, hallintatoimet ja seuraavat vaiheet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Pixan · keskikokoinen julkinen pankkidekki</dc:title>
  <dc:subject>Julkinen pankki- ja rahoitusarvioinnin evidenssipaketti</dc:subject>
  <dc:creator>Pixan Global Market Evidence Atlas</dc:creator>
  <cp:keywords>Pixan, patentti, markkinaevidenssi, due diligence</cp:keywords>
  <dc:description>generated using python-pptx</dc:description>
  <cp:lastModifiedBy>Steve Canny</cp:lastModifiedBy>
  <cp:revision>1</cp:revision>
  <dcterms:created xsi:type="dcterms:W3CDTF">2026-07-24T00:00:00Z</dcterms:created>
  <dcterms:modified xsi:type="dcterms:W3CDTF">2026-07-24T00:00:00Z</dcterms:modified>
  <cp:category/>
</cp:coreProperties>
</file>