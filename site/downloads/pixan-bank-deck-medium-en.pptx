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1b8b79235b4257" /><Relationship Type="http://schemas.openxmlformats.org/officeDocument/2006/relationships/extended-properties" Target="/docProps/app.xml" Id="R21877d5db85f4def" /><Relationship Type="http://schemas.openxmlformats.org/officeDocument/2006/relationships/officeDocument" Target="/ppt/presentation.xml" Id="Re962284131a44ba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2bb5ee97b547ff"/>
  </p:sldMasterIdLst>
  <p:notesMasterIdLst>
    <p:notesMasterId xmlns:r="http://schemas.openxmlformats.org/officeDocument/2006/relationships" r:id="Rec1c0fb012954419"/>
  </p:notesMasterIdLst>
  <p:sldIdLst>
    <p:sldId xmlns:r="http://schemas.openxmlformats.org/officeDocument/2006/relationships" id="256" r:id="R933e64fd15484ff9"/>
    <p:sldId xmlns:r="http://schemas.openxmlformats.org/officeDocument/2006/relationships" id="257" r:id="R346518882dec4b08"/>
    <p:sldId xmlns:r="http://schemas.openxmlformats.org/officeDocument/2006/relationships" id="258" r:id="R1bb5be8cb62942dd"/>
    <p:sldId xmlns:r="http://schemas.openxmlformats.org/officeDocument/2006/relationships" id="259" r:id="Re9facbc767ed4fc9"/>
    <p:sldId xmlns:r="http://schemas.openxmlformats.org/officeDocument/2006/relationships" id="260" r:id="R534a096d7c194f71"/>
    <p:sldId xmlns:r="http://schemas.openxmlformats.org/officeDocument/2006/relationships" id="261" r:id="R02eec8d3302942c1"/>
    <p:sldId xmlns:r="http://schemas.openxmlformats.org/officeDocument/2006/relationships" id="262" r:id="R84f0a1fe0ed44dc9"/>
    <p:sldId xmlns:r="http://schemas.openxmlformats.org/officeDocument/2006/relationships" id="263" r:id="R63b78021389b4088"/>
    <p:sldId xmlns:r="http://schemas.openxmlformats.org/officeDocument/2006/relationships" id="264" r:id="R47f7168df0fd4186"/>
    <p:sldId xmlns:r="http://schemas.openxmlformats.org/officeDocument/2006/relationships" id="265" r:id="R7e100ae0050c4484"/>
    <p:sldId xmlns:r="http://schemas.openxmlformats.org/officeDocument/2006/relationships" id="266" r:id="Ra222a5197ab24bd3"/>
    <p:sldId xmlns:r="http://schemas.openxmlformats.org/officeDocument/2006/relationships" id="267" r:id="R1ffd7e39c00e4fca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5a287b60c4458b" /><Relationship Type="http://schemas.openxmlformats.org/officeDocument/2006/relationships/slideMaster" Target="/ppt/slideMasters/slideMaster1.xml" Id="R822bb5ee97b547ff" /><Relationship Type="http://schemas.openxmlformats.org/officeDocument/2006/relationships/notesMaster" Target="/ppt/notesMasters/notesMaster1.xml" Id="Rec1c0fb012954419" /><Relationship Type="http://schemas.openxmlformats.org/officeDocument/2006/relationships/presProps" Target="/ppt/presProps.xml" Id="R5b988a68cc1b4149" /><Relationship Type="http://schemas.openxmlformats.org/officeDocument/2006/relationships/viewProps" Target="/ppt/viewProps.xml" Id="Rff087cf990914b29" /><Relationship Type="http://schemas.openxmlformats.org/officeDocument/2006/relationships/tableStyles" Target="/ppt/tableStyles.xml" Id="R8a95060d78374d73" /><Relationship Type="http://schemas.openxmlformats.org/officeDocument/2006/relationships/slide" Target="/ppt/slides/slide1.xml" Id="R933e64fd15484ff9" /><Relationship Type="http://schemas.openxmlformats.org/officeDocument/2006/relationships/slide" Target="/ppt/slides/slide2.xml" Id="R346518882dec4b08" /><Relationship Type="http://schemas.openxmlformats.org/officeDocument/2006/relationships/slide" Target="/ppt/slides/slide3.xml" Id="R1bb5be8cb62942dd" /><Relationship Type="http://schemas.openxmlformats.org/officeDocument/2006/relationships/slide" Target="/ppt/slides/slide4.xml" Id="Re9facbc767ed4fc9" /><Relationship Type="http://schemas.openxmlformats.org/officeDocument/2006/relationships/slide" Target="/ppt/slides/slide5.xml" Id="R534a096d7c194f71" /><Relationship Type="http://schemas.openxmlformats.org/officeDocument/2006/relationships/slide" Target="/ppt/slides/slide6.xml" Id="R02eec8d3302942c1" /><Relationship Type="http://schemas.openxmlformats.org/officeDocument/2006/relationships/slide" Target="/ppt/slides/slide7.xml" Id="R84f0a1fe0ed44dc9" /><Relationship Type="http://schemas.openxmlformats.org/officeDocument/2006/relationships/slide" Target="/ppt/slides/slide8.xml" Id="R63b78021389b4088" /><Relationship Type="http://schemas.openxmlformats.org/officeDocument/2006/relationships/slide" Target="/ppt/slides/slide9.xml" Id="R47f7168df0fd4186" /><Relationship Type="http://schemas.openxmlformats.org/officeDocument/2006/relationships/slide" Target="/ppt/slides/slide10.xml" Id="R7e100ae0050c4484" /><Relationship Type="http://schemas.openxmlformats.org/officeDocument/2006/relationships/slide" Target="/ppt/slides/slide11.xml" Id="Ra222a5197ab24bd3" /><Relationship Type="http://schemas.openxmlformats.org/officeDocument/2006/relationships/slide" Target="/ppt/slides/slide12.xml" Id="R1ffd7e39c00e4f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990616a303840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6f94ac51174a56" /><Relationship Type="http://schemas.openxmlformats.org/officeDocument/2006/relationships/notesMaster" Target="/ppt/notesMasters/notesMaster1.xml" Id="Rc3763ddf2cfe47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e9d33df54c41c8" /><Relationship Type="http://schemas.openxmlformats.org/officeDocument/2006/relationships/notesMaster" Target="/ppt/notesMasters/notesMaster1.xml" Id="R8e4cfb8dde5043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1d3b5d49724a23" /><Relationship Type="http://schemas.openxmlformats.org/officeDocument/2006/relationships/notesMaster" Target="/ppt/notesMasters/notesMaster1.xml" Id="R632bc6bd25d84d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acecb7adbf442b5" /><Relationship Type="http://schemas.openxmlformats.org/officeDocument/2006/relationships/notesMaster" Target="/ppt/notesMasters/notesMaster1.xml" Id="R691b21920ed748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6b663686e164ad6" /><Relationship Type="http://schemas.openxmlformats.org/officeDocument/2006/relationships/notesMaster" Target="/ppt/notesMasters/notesMaster1.xml" Id="R40cb2438a74545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4a60d61739e4ea3" /><Relationship Type="http://schemas.openxmlformats.org/officeDocument/2006/relationships/notesMaster" Target="/ppt/notesMasters/notesMaster1.xml" Id="Rf12ecd5f83234a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4b7470485b4bb6" /><Relationship Type="http://schemas.openxmlformats.org/officeDocument/2006/relationships/notesMaster" Target="/ppt/notesMasters/notesMaster1.xml" Id="Rcc18d0b1e44e46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37d2170095e4ee1" /><Relationship Type="http://schemas.openxmlformats.org/officeDocument/2006/relationships/notesMaster" Target="/ppt/notesMasters/notesMaster1.xml" Id="R8a7fa1e61e3a409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b2fbd2df49a446e" /><Relationship Type="http://schemas.openxmlformats.org/officeDocument/2006/relationships/notesMaster" Target="/ppt/notesMasters/notesMaster1.xml" Id="R45fc2f22dfaa4c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5a6d31616534a49" /><Relationship Type="http://schemas.openxmlformats.org/officeDocument/2006/relationships/notesMaster" Target="/ppt/notesMasters/notesMaster1.xml" Id="Rada87c610387495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6e8c4cc7d4143b1" /><Relationship Type="http://schemas.openxmlformats.org/officeDocument/2006/relationships/notesMaster" Target="/ppt/notesMasters/notesMaster1.xml" Id="R13fe5f3c78604af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1e3b0b6711c4a5a" /><Relationship Type="http://schemas.openxmlformats.org/officeDocument/2006/relationships/notesMaster" Target="/ppt/notesMasters/notesMaster1.xml" Id="R993d1880517243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042902636c403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7bc1520997485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16b04ee193424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e621c4c32e462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073da568f5406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2443f4b47f459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c266ec132d483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f09329644545e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8f409acb3a45c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40ed79fc51461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d0f9b869f5490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3F08619-CB8F-4058-9BDF-15C071C652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5D4C768-FF89-4D7A-92A6-2B290384CEE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7E8726-AEF8-46E1-8BA0-D1EEC16A7B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D804837-714F-4011-845F-33CBF1E5E13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0945EF-2762-4798-AD22-18D0D2192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1AE29C-A97E-495A-84B7-40F3E70230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15440ED-16DE-4569-A56A-5EDE098FDFC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2D1333C-D8C0-4ACE-994C-C19AA992EB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2295106-8792-461A-909C-738EE339BE0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9DCDF6-BFDF-4ACC-BB49-63AB97DD55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E73F71A-C16A-4E14-A6EA-01841E068B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960FAF-B56E-45C0-AA82-9178AD69C7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5028B3-BBD5-4CFE-8383-F7E42640F7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6D90D3A-BC5C-4D99-BFE6-9B02252EDE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2FF7D4-3963-4448-848A-A3CACE1E39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5C957F-2326-4B2A-8C13-C741E6C477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0F7E38-1834-434A-B569-D6B149E1D1C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1AD1485-9585-47C4-BF1A-D88DCBB5163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F85B544-C06B-4D44-AFBD-7D2C523B055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BEF6A24-3F9B-486F-A08B-4AEA98F06D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8716359-1CAA-471F-BFBA-EDA4658BBF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7143BD-9976-4443-8B54-CC96A1235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DE1E70-1955-4FAA-86B9-F7EC46C297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B66AEC4-D056-4602-B17D-B8A9A5274DF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0194225-C288-4810-9F24-44215EC43DB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D947461-AB53-4480-B112-75C714543D9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82C35A1-F4F6-4C29-BF3D-AB65E8A80B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EE25ACA-A22A-4BAE-B374-BA67533CA0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C146C22-900F-4F79-8BDD-F8C59196DE0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30F314-97FF-4072-A5B4-3EEC711025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3308FE5-FBC5-4639-8A2D-5A660F3032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F46055F-2CCA-4815-A316-5B778B9AFB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EB7325F-9A84-4F69-A763-313A062A27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8AAE7DE-08D5-4B5C-8830-2874D712864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9DCEC2B-58C3-4374-A3B0-C3B1EA07F9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D812CC5-5C02-4A98-AEC1-22CD4225C1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0D1968-B999-4631-BC4D-3F807DC9FB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612A1FB-1BAB-41C7-A70A-94C7F93F23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F784594-95E9-4DB3-BB6F-01E9C3785DA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8D2C96C-0428-4A2A-98F7-3E867F7BD3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6810874-83D7-4A15-B028-127E7EE373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C9DEA2E-77E3-4F48-8A4F-99B6F33827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6732305-F312-4790-BEDD-48A24218A6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3329489-9E70-496D-A7C0-8363082E822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72A00A2-0665-4000-A9B8-86DCC9970F5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CEAEE43-F6C7-4F68-9D78-30466E2AB9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B589200-68EC-4EFC-B395-8F2F0925B6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6A3CA6D-A97C-41DF-A649-5CC4621E8D1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04FA30-FA42-4D39-8839-A190AFA388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DF12CD-A874-46E4-A2F6-E71655D130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53434C-020D-44FF-A79E-BAA7BB2F48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DABFB43-0A1D-4A6B-B3D2-A707E40702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B108D9C-9336-4D3A-9B3B-27D32E57F4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676F195-2CE9-4C8C-9DF5-AAAE861604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907DD8-B570-4A47-A187-BF20A0003A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C44A456-2A5C-4E03-99AF-A896901BC1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AA4AE51-4437-4445-AA76-D25FCC35CF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14116C3-8786-465E-8D15-50E157FF94B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31d331591c4fa3" /><Relationship Type="http://schemas.openxmlformats.org/officeDocument/2006/relationships/slideLayout" Target="/ppt/slideLayouts/slideLayout1.xml" Id="Rd9b523ba731e4f72" /><Relationship Type="http://schemas.openxmlformats.org/officeDocument/2006/relationships/slideLayout" Target="/ppt/slideLayouts/slideLayout2.xml" Id="R88f7ba3261a248f0" /><Relationship Type="http://schemas.openxmlformats.org/officeDocument/2006/relationships/slideLayout" Target="/ppt/slideLayouts/slideLayout3.xml" Id="R05529189b5604d4c" /><Relationship Type="http://schemas.openxmlformats.org/officeDocument/2006/relationships/slideLayout" Target="/ppt/slideLayouts/slideLayout4.xml" Id="R9707fa31482b47de" /><Relationship Type="http://schemas.openxmlformats.org/officeDocument/2006/relationships/slideLayout" Target="/ppt/slideLayouts/slideLayout5.xml" Id="R3a9f354f05894932" /><Relationship Type="http://schemas.openxmlformats.org/officeDocument/2006/relationships/slideLayout" Target="/ppt/slideLayouts/slideLayout6.xml" Id="Rd497ab22358a4475" /><Relationship Type="http://schemas.openxmlformats.org/officeDocument/2006/relationships/slideLayout" Target="/ppt/slideLayouts/slideLayout7.xml" Id="R3ff4fad01e124fbb" /><Relationship Type="http://schemas.openxmlformats.org/officeDocument/2006/relationships/slideLayout" Target="/ppt/slideLayouts/slideLayout8.xml" Id="R1011b353509b4e2b" /><Relationship Type="http://schemas.openxmlformats.org/officeDocument/2006/relationships/slideLayout" Target="/ppt/slideLayouts/slideLayout9.xml" Id="Rb92be743f0c347b0" /><Relationship Type="http://schemas.openxmlformats.org/officeDocument/2006/relationships/slideLayout" Target="/ppt/slideLayouts/slideLayout10.xml" Id="Rc944af5701034968" /><Relationship Type="http://schemas.openxmlformats.org/officeDocument/2006/relationships/slideLayout" Target="/ppt/slideLayouts/slideLayout11.xml" Id="R878b9f3751f64e1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452127C-4609-484A-A4AD-2EBCB0C21A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8111E72-3784-4934-A32A-47BF14304D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8E2C34D-AF87-426F-BE26-692D9CC27CE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C9A902F-17A1-487D-8C92-96D3991726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74C7A8-D717-426A-80BD-CB4E2A8D64C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b523ba731e4f72"/>
    <p:sldLayoutId xmlns:r="http://schemas.openxmlformats.org/officeDocument/2006/relationships" id="2147483650" r:id="R88f7ba3261a248f0"/>
    <p:sldLayoutId xmlns:r="http://schemas.openxmlformats.org/officeDocument/2006/relationships" id="2147483651" r:id="R05529189b5604d4c"/>
    <p:sldLayoutId xmlns:r="http://schemas.openxmlformats.org/officeDocument/2006/relationships" id="2147483652" r:id="R9707fa31482b47de"/>
    <p:sldLayoutId xmlns:r="http://schemas.openxmlformats.org/officeDocument/2006/relationships" id="2147483653" r:id="R3a9f354f05894932"/>
    <p:sldLayoutId xmlns:r="http://schemas.openxmlformats.org/officeDocument/2006/relationships" id="2147483654" r:id="Rd497ab22358a4475"/>
    <p:sldLayoutId xmlns:r="http://schemas.openxmlformats.org/officeDocument/2006/relationships" id="2147483655" r:id="R3ff4fad01e124fbb"/>
    <p:sldLayoutId xmlns:r="http://schemas.openxmlformats.org/officeDocument/2006/relationships" id="2147483656" r:id="R1011b353509b4e2b"/>
    <p:sldLayoutId xmlns:r="http://schemas.openxmlformats.org/officeDocument/2006/relationships" id="2147483657" r:id="Rb92be743f0c347b0"/>
    <p:sldLayoutId xmlns:r="http://schemas.openxmlformats.org/officeDocument/2006/relationships" id="2147483658" r:id="Rc944af5701034968"/>
    <p:sldLayoutId xmlns:r="http://schemas.openxmlformats.org/officeDocument/2006/relationships" id="2147483659" r:id="R878b9f3751f64e12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0a56e0ec242473b" /><Relationship Type="http://schemas.openxmlformats.org/officeDocument/2006/relationships/notesSlide" Target="/ppt/notesSlides/notesSlide1.xml" Id="Rc97cd71ab21f46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7dbb4f9c1f4a3f" /><Relationship Type="http://schemas.openxmlformats.org/officeDocument/2006/relationships/notesSlide" Target="/ppt/notesSlides/notesSlide2.xml" Id="R97f847166e834a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d3d36d59cc4ba5" /><Relationship Type="http://schemas.openxmlformats.org/officeDocument/2006/relationships/notesSlide" Target="/ppt/notesSlides/notesSlide3.xml" Id="Ra01db340ce4548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ea9f67ec024175" /><Relationship Type="http://schemas.openxmlformats.org/officeDocument/2006/relationships/notesSlide" Target="/ppt/notesSlides/notesSlide4.xml" Id="R213e50e48e664a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55bf79c316b4555" /><Relationship Type="http://schemas.openxmlformats.org/officeDocument/2006/relationships/notesSlide" Target="/ppt/notesSlides/notesSlide5.xml" Id="Rdae48ff474314d0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986d4e168c4ef0" /><Relationship Type="http://schemas.openxmlformats.org/officeDocument/2006/relationships/notesSlide" Target="/ppt/notesSlides/notesSlide6.xml" Id="R76bee94482f24a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030816956449cc" /><Relationship Type="http://schemas.openxmlformats.org/officeDocument/2006/relationships/notesSlide" Target="/ppt/notesSlides/notesSlide7.xml" Id="R71fc1075290b4f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58bb0770a64a6e" /><Relationship Type="http://schemas.openxmlformats.org/officeDocument/2006/relationships/notesSlide" Target="/ppt/notesSlides/notesSlide8.xml" Id="Rcb07551fa5b7437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813da3864b405e" /><Relationship Type="http://schemas.openxmlformats.org/officeDocument/2006/relationships/notesSlide" Target="/ppt/notesSlides/notesSlide9.xml" Id="R0c33261013fa419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c91053b34ff4b2c" /><Relationship Type="http://schemas.openxmlformats.org/officeDocument/2006/relationships/notesSlide" Target="/ppt/notesSlides/notesSlide10.xml" Id="Reb456b26e88449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bf2abc47d443d0" /><Relationship Type="http://schemas.openxmlformats.org/officeDocument/2006/relationships/notesSlide" Target="/ppt/notesSlides/notesSlide11.xml" Id="R877fec76cc0f4dc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fab12dad634f0d" /><Relationship Type="http://schemas.openxmlformats.org/officeDocument/2006/relationships/notesSlide" Target="/ppt/notesSlides/notesSlide12.xml" Id="R3e1e50bac0c5450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C647061-5120-4822-A2E7-410E2FD6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B6B4D25-BDB8-481B-B775-539B6A74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2E54FB1-85F3-4A8D-BDB4-E07E5522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CF0F702-EB46-4D3C-9F4E-30D0F45E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12-slide financing and technology assessment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6471808-1172-442D-A0C3-7B741946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3BD5879-2B25-4B4E-A7CD-F0918F31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4597E43-1770-44F2-B508-755ED9EF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2026.07.23-13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D1B351E-C2A8-4F7E-AB3E-EAD62802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12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49A131E-22B0-41F3-B015-E8997B8E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51A6F3E-D22D-4C8D-BBA3-88F9D34D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856CC7-F734-4B24-8E40-8AEF8693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0D9C1BA-9778-4414-A398-6DE4206A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 · Financing thesis</a:t>
            </a:r>
          </a:p>
        </p:txBody>
      </p:sp>
    </p:spTree>
    <p:extLst>
      <p:ext uri="{BB962C8B-B14F-4D97-AF65-F5344CB8AC3E}">
        <p14:creationId xmlns:p14="http://schemas.microsoft.com/office/powerpoint/2010/main" val="123807946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3AF059B-FC85-42B5-B3BF-4A50BC4E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 · 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5C8A431-8509-411A-84F8-B0515B8F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problem lies as much in the evidence as in the technology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FA961CC-2EF9-4D8D-87AC-40304DF6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0A0DFB8-332C-47C5-AEBD-4F0A8CC5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4C52669-1F16-46AA-A27E-15AC8F42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Atlas readiness;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A10B834-6B21-4903-B903-4A304EC2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7963A2E-AF80-48B1-8FD5-E6440620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Broad market claims do not become lender-ready collateral without a country-specific rights, product, sales and cash-flow chain.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3494D3A-D4DC-483C-ADD8-E747AED85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Market metrics are fragmented: shipments, taxes, litres and commercial estimates are not the same thing.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family publication does not prove current validity or absence of encumbrances.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court judgment alone does not prove paid damages or a global royalty base.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6DB2296-A092-460A-A35B-8C7AD61F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87A9CEF-3303-4F96-A07C-43A628CD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Lender's core question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CAE1CC8-AB2F-44E4-8562-BC20B271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Which verified asset and cash flow covers the loan in a downside case?</a:t>
            </a:r>
          </a:p>
        </p:txBody>
      </p:sp>
    </p:spTree>
    <p:extLst>
      <p:ext uri="{BB962C8B-B14F-4D97-AF65-F5344CB8AC3E}">
        <p14:creationId xmlns:p14="http://schemas.microsoft.com/office/powerpoint/2010/main" val="197682317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A1E6DDD-0367-4090-8501-ACE82492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 · PATENTED 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7B320A5-E071-4E76-903E-6497C18F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solution controls vaporiser power based on measured resistance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23ACB9-59BA-4FD0-91D8-77260973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7187CE6-4DC5-4312-986A-BFBD4FFF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80F66D-9DC0-4BF8-A785-098B228B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4B55961-2AA5-4153-AAB9-B8EF2254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DFE8A9E-99EC-4D99-9776-377178E3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315B594-DC2B-4B8E-8605-9DE47A931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 is based on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power relationship is described as non-proportional.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User adjustment occurs between a non-zero minimum and a stored maximum.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9E31B1A-D370-477B-B46F-6FDA1844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6D4E96A-53E3-4025-9535-E79B349C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D1F311B-0BC2-4962-B658-6F1EEA2D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is a plain-language summary of the published patent specification. Only the operative claims in the relevant country and a product-specific claim chart are determinative.</a:t>
            </a:r>
          </a:p>
        </p:txBody>
      </p:sp>
    </p:spTree>
    <p:extLst>
      <p:ext uri="{BB962C8B-B14F-4D97-AF65-F5344CB8AC3E}">
        <p14:creationId xmlns:p14="http://schemas.microsoft.com/office/powerpoint/2010/main" val="2184953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0A454B-9A55-4D63-A891-16CB8826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4 · PATENT AND IP STATUS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C5CB2B2-03F8-405C-8AC2-1B1DDF7A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IP core is documented; country-level usability still requires reconciliation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8052A1-67A7-4E42-8EE1-38977FAA7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52617AA-BFB7-4B10-832A-AF3F362B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255B584-0A87-439C-9192-A59EB58D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EPO Register;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8A38A5D-6EFF-49A5-999E-A232CD5F1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8F24BA8-08ED-4764-BD88-26AC1CBD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E338D07-34F8-4751-BF4C-F644F012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8FB73D4-42CF-4F5D-BB85-87B1BED1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 year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A83FDF3-8E7F-4067-A46B-56B574D4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5D12563-EC04-4133-9328-293FFFF8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19935A3-8251-4EAE-90B8-63673C57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claims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330E7B3-C1DF-451D-9CC8-DB387E6B7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E7E710F-E4EC-40EF-857B-38CAA21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08C87C5-94B4-4BA7-A143-ADC23F1C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6586D3E-D98F-475B-A0DC-EAF13E79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 Register: patent maintained as amended after opposition; B2 published on 24 April 2024.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E791E65-00A5-4913-8712-221DCE54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AE085B8-A29E-4AFA-8700-61E0180F2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9FB7ED9-5191-4974-8F24-A7116448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Recorded proprietor in the public register: Pixan Oy. Current national validity, fees and encumbrances across the family have not yet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13756786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3F825E6-557D-4AE9-9E37-5ABB8945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 · TECHNICAL DIFFERENTIATION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5900332-6C9A-4BD8-8EBC-A3C824E8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Technical differentiation lies in the claims — not product appearance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1206AA-D9C9-47BE-B42E-B65DC7AC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47EE108-D8DC-4A69-8834-D91542D7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5336FE9-B2DD-4A26-9C45-FC27F90A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F450405-E4DD-4833-ACED-1625EBB9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BD3003F-F95A-4A93-BB10-D4215701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financing assessment must trace every material claim limitation to a product and country.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932584C-2594-4DB2-B3B7-CEBB970BE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patent specification provides a technical hypothesis and documented protection text.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the decision supports the link between certain products and claims 1 and 6.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Independent tests, teardown dossiers and claim charts for other countries are missing from the public evidence.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02248EC-FCCC-4B7A-9522-3B405B4A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FB30199-7931-4DBD-985C-1D0EF0AB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 chain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81FC800-44F5-4BEA-BFF5-8E16C0F0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Sample → chain of custody → teardown → measurement data → claim chart → counsel review → relevant sales.</a:t>
            </a:r>
          </a:p>
        </p:txBody>
      </p:sp>
    </p:spTree>
    <p:extLst>
      <p:ext uri="{BB962C8B-B14F-4D97-AF65-F5344CB8AC3E}">
        <p14:creationId xmlns:p14="http://schemas.microsoft.com/office/powerpoint/2010/main" val="39511211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CF5430-9968-4A5B-952C-0970F3EF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 · MARKET SIZE AND SCOPE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6EE44B5-7A2E-4BA8-AAFC-D04BCEA0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8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size is currently a range and a set of observations — not one number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2557913-26DF-4B71-A9A2-E35341D7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BDD9202-70F0-4329-B2B4-4717B364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7CFA4CC-5E30-4D16-9A38-D06E9A21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Market-values;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CC3D3F-BDF9-401A-9915-D8AE2F827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563F0B5-0CFC-48B7-A960-E90F8EA2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9D54879-7E42-45F2-9546-F9D6FA1D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CA2D109-023F-4618-85B2-EE54FB31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country research rows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E68CB34-6EBE-4410-9081-AD0CC1DB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2D39270-BD8C-4DAD-9D27-4D6554DC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61F0302-1E64-45B5-88CE-C854CEF2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46B2CFF-DF58-48FD-A59C-72E61482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4591245-16B2-4DA6-A119-8E5B43A4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26.0–46.32bn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577C386-056A-40B5-99C8-2FA127A4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commercial global 2025 range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996D4F7-2C29-4D08-8994-DAB3C9C6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Germany: the liquid model has low confidence and a range of EUR 667.92–1,654.62 million; it must not be presented as observed sales.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B1BB00D-D1FB-4E7C-A194-DC6D25BD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1AAE06A-D102-4C19-B774-9D0BEB11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47D2A6C-70B1-4C5B-84FC-B694DCA1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There are 0 accepted official national consumer-retail values. Atlas does not publish its own global estimate before the methodological gates are met.</a:t>
            </a:r>
          </a:p>
        </p:txBody>
      </p:sp>
    </p:spTree>
    <p:extLst>
      <p:ext uri="{BB962C8B-B14F-4D97-AF65-F5344CB8AC3E}">
        <p14:creationId xmlns:p14="http://schemas.microsoft.com/office/powerpoint/2010/main" val="166257905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3E72B7-EEEE-4DC9-B87B-8F531BEBA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 · CUSTOMERS AND PURCHASE RATIONALE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5304C33-3254-4D8B-9331-5D520729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Customer demand still requires validation across three decision logics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88E3EF-35CB-4E92-AFB1-EE96EEBE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14DDC0E-A7DE-4152-8F7C-96FC511D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7EF61BD-B709-44F7-A34E-FF15FA60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WIPO licensing; WIPO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2E052C2-7964-46E0-9091-93462EAC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02F50D-A089-4BE5-B9C5-3108AFD85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Potential segments are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159623E-9050-427A-8D0C-67A925AC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manufacturer buys freedom to operate, legal certainty or technology — if the relevant product and territory are established.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technology provider evaluates integrability, freedom to operate and unit economics.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financier evaluates title, realisable cash flow, control and downside value.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B51D91-936D-43A9-85E0-EC3D51B6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5BC956E-4AEB-472A-B53A-68AD50E0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Current evidence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42E3B00-B48D-4CB9-B7F6-F4FA56142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public evidence does not confirm named customers, pilots, purchase intentions or signed licences.</a:t>
            </a:r>
          </a:p>
        </p:txBody>
      </p:sp>
    </p:spTree>
    <p:extLst>
      <p:ext uri="{BB962C8B-B14F-4D97-AF65-F5344CB8AC3E}">
        <p14:creationId xmlns:p14="http://schemas.microsoft.com/office/powerpoint/2010/main" val="144891014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7AA2E98-8F37-4B51-9705-7AAF249E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8 · COMPETITION AND ALTERNATIVES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33DB41C-F3EF-4DFA-A6B4-DA740A2A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Distinguish competition, alternatives and patent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AABD353-05A7-4BEB-803B-C3F4A25E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4BB8874-F684-4F23-94E5-5369AA93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0E3795-C869-4A97-9170-9A5A492D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Evidence Register; EPO;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41038D8-2F9C-4F7A-81B3-A130E5A9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Benchmark 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solutions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Does the product solve the same problem differently?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families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there overlapping protection or FTO risk?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assignment, settlement or own use?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Assumption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Non-patented alternatives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by designing around the claims?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9F29981-7E12-4EFE-94E9-610DB10C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Competitor analysis is a material open workstream in the lender's technology assessment.</a:t>
            </a:r>
          </a:p>
        </p:txBody>
      </p:sp>
    </p:spTree>
    <p:extLst>
      <p:ext uri="{BB962C8B-B14F-4D97-AF65-F5344CB8AC3E}">
        <p14:creationId xmlns:p14="http://schemas.microsoft.com/office/powerpoint/2010/main" val="47906184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F94E844-CF78-46AA-8509-67444111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 · VALIDATION AND CURRENT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FB31A71-F4AF-41D8-A3BA-7130A0ED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Uneven validation strength is explicitly classified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6F66E5E-CB1D-4CBF-8F59-5B5C30CC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B835B01-5EEB-49C8-8B49-A9DCF7FF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BDB192-5022-4224-A5E0-BD851C19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3CA95B1-8470-4FF8-8CD0-F0490F7A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Claim scope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Classification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exists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is missing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 Register and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 status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 proceedings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Two official decisions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Finality, enforcement, cash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Market observations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figures from 5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retail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testing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specification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test and raw 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evidence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Commercialisation framework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Customers, contracts,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8D7EFDF-1273-4B27-B6A2-BFC2CD64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Proven legal evidence does not replace technical, commercial or financial validation.</a:t>
            </a:r>
          </a:p>
        </p:txBody>
      </p:sp>
    </p:spTree>
    <p:extLst>
      <p:ext uri="{BB962C8B-B14F-4D97-AF65-F5344CB8AC3E}">
        <p14:creationId xmlns:p14="http://schemas.microsoft.com/office/powerpoint/2010/main" val="8187302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5B6711-6E61-46C7-8C5F-46F63A77D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10 · COMMERCIALISATION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AB25294-9FF7-4150-BAA9-E77BD607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proceeds through gates, not mass assertions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5A95906-EBBD-4A92-A31D-9E7052C1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C011A26-8545-4F1E-B9BF-8E12FFAA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635D2D5-8629-4C98-B04E-9DF7167C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WIPO licensing; dispute resolution;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68D596-C40D-4326-949D-3A6B399D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045A03D-E9A4-4319-946D-B837955C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743251-B71A-4488-B4FE-8FA6CBB4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0E60873-1883-4494-A5FB-1C00F152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Rights matrix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938744F-44F6-49CA-A3CB-6B88395E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Confirm country, proprietor, fee payment, encumbrance, operative claims and deadlines.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F56A2C0-5876-40F0-B142-97405253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F8E7BE8-1EA1-439A-9272-0617C129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A18730E-9553-42E7-8FCE-67D17A8A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dossier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89877BA-8AD5-4FD3-8519-6D615AB5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Obtain a sample, document the chain and prepare a counsel-reviewed claim chart.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2AAC58E-9737-4304-83DF-A179567FF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BD910CB-6754-47A6-90CD-23606677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7956349-725B-4537-B1E6-15EF05F8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Target scoring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A8C93A0-9ED8-46F2-9B4F-8558CAF4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rights, evidence, sales, counterparty, cost and enforcement.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7A95EB11-B0ED-422D-B432-71F70D98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3B9B376-011B-4597-8558-16B6B5AE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73A5BC1-5616-48C3-9AC6-3B7620EC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Limited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3090555-F118-46C9-86F6-FA6922F2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Test a licence, settlement, assignment or financing route on auditable terms.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A0AFA76-EE0C-48D8-898E-0E6B308F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an executed contract or receivable creates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90878811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8ECB53F-013E-47BD-99CF-DBC355DD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11 · FINANCIAL MODEL AND 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0B24598-EFF9-4BF0-A62B-D8F45BEE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Evidence—not market share—must drive the model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D3C2A99-F868-4F55-8819-8A471CC7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A49BC16-915F-473E-86C8-9F7CCBAB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536198C-E7E9-4F3F-B071-CB9960A2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2026.07.23-13 · 2026-07-22 · Sources: WIPO IP valuation; Market-values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43871FD-23A8-4F42-8038-AFB72727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Bridge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 to verify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country-level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0 retail-value donors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Attributable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Validity × product × period × country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terms, costs, taxes, delay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Downside realisation and control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4053663-FB7B-4105-A497-25A8D7E3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Show downside/base/upside only after every bridge input has been documented.</a:t>
            </a:r>
          </a:p>
        </p:txBody>
      </p:sp>
    </p:spTree>
    <p:extLst>
      <p:ext uri="{BB962C8B-B14F-4D97-AF65-F5344CB8AC3E}">
        <p14:creationId xmlns:p14="http://schemas.microsoft.com/office/powerpoint/2010/main" val="21249300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30FE656-6385-469B-89ED-957766AE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961113F-C975-47FD-9699-F78E4F6F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Financing decision only after four critical gaps are closed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1FF7961-81D4-4915-B6F9-8C2FEA97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1. Counsel-signed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2. Claim charts for prioritised products and documented relevant sales.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3. Realised or contract-based cash flows and audited financial information.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4. Independent valuation and downside collateral analysis.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Next decision: approve a controlled 90-day diligence phase?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AA7C6C1-1513-4E69-93CB-8C0DD936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2026.07.23-13 · 2026-07-22 · 12 / 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0F32189-E444-4248-BE59-612AC643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749808"/>
            <a:ext cx="79552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12 · Risks, controls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15272183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2026-07-23T15:58:03.3020000Z</dcterms:created>
  <dcterms:modified xsi:type="dcterms:W3CDTF">2026-07-23T15:58:03.3020000Z</dcterms:modified>
</coreProperties>
</file>