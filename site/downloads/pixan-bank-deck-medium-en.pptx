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0599d1e83d44388" /><Relationship Type="http://schemas.openxmlformats.org/officeDocument/2006/relationships/extended-properties" Target="/docProps/app.xml" Id="R21d6bc36cf914edd" /><Relationship Type="http://schemas.openxmlformats.org/officeDocument/2006/relationships/officeDocument" Target="/ppt/presentation.xml" Id="Re101044dceed4ed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6590a6f56894f96"/>
  </p:sldMasterIdLst>
  <p:notesMasterIdLst>
    <p:notesMasterId xmlns:r="http://schemas.openxmlformats.org/officeDocument/2006/relationships" r:id="R96589331129a425f"/>
  </p:notesMasterIdLst>
  <p:sldIdLst>
    <p:sldId xmlns:r="http://schemas.openxmlformats.org/officeDocument/2006/relationships" id="256" r:id="Rddd4a143d55c451d"/>
    <p:sldId xmlns:r="http://schemas.openxmlformats.org/officeDocument/2006/relationships" id="257" r:id="R1f08c9a1ed1d42b1"/>
    <p:sldId xmlns:r="http://schemas.openxmlformats.org/officeDocument/2006/relationships" id="258" r:id="Rb26b8126951b4846"/>
    <p:sldId xmlns:r="http://schemas.openxmlformats.org/officeDocument/2006/relationships" id="259" r:id="Rf3618fcdbd4a439e"/>
    <p:sldId xmlns:r="http://schemas.openxmlformats.org/officeDocument/2006/relationships" id="260" r:id="R46e46374e9c6437c"/>
    <p:sldId xmlns:r="http://schemas.openxmlformats.org/officeDocument/2006/relationships" id="261" r:id="Rfca1e33fd38c4308"/>
    <p:sldId xmlns:r="http://schemas.openxmlformats.org/officeDocument/2006/relationships" id="262" r:id="Rab290f85329f44c7"/>
    <p:sldId xmlns:r="http://schemas.openxmlformats.org/officeDocument/2006/relationships" id="263" r:id="Rbe5117bbeb174f5c"/>
    <p:sldId xmlns:r="http://schemas.openxmlformats.org/officeDocument/2006/relationships" id="264" r:id="Rcffaefbe9b3f4b33"/>
    <p:sldId xmlns:r="http://schemas.openxmlformats.org/officeDocument/2006/relationships" id="265" r:id="Rd6af4678847c480c"/>
    <p:sldId xmlns:r="http://schemas.openxmlformats.org/officeDocument/2006/relationships" id="266" r:id="R30a042643e234adf"/>
    <p:sldId xmlns:r="http://schemas.openxmlformats.org/officeDocument/2006/relationships" id="267" r:id="R0df5c6582559446a"/>
  </p:sldIdLst>
  <p:sldSz cx="12191999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f4b0840552140f3" /><Relationship Type="http://schemas.openxmlformats.org/officeDocument/2006/relationships/slideMaster" Target="/ppt/slideMasters/slideMaster1.xml" Id="R56590a6f56894f96" /><Relationship Type="http://schemas.openxmlformats.org/officeDocument/2006/relationships/notesMaster" Target="/ppt/notesMasters/notesMaster1.xml" Id="R96589331129a425f" /><Relationship Type="http://schemas.openxmlformats.org/officeDocument/2006/relationships/presProps" Target="/ppt/presProps.xml" Id="R918cd69814654de2" /><Relationship Type="http://schemas.openxmlformats.org/officeDocument/2006/relationships/viewProps" Target="/ppt/viewProps.xml" Id="Rde5f10cb346241c6" /><Relationship Type="http://schemas.openxmlformats.org/officeDocument/2006/relationships/tableStyles" Target="/ppt/tableStyles.xml" Id="R20071708c27c4e27" /><Relationship Type="http://schemas.openxmlformats.org/officeDocument/2006/relationships/slide" Target="/ppt/slides/slide1.xml" Id="Rddd4a143d55c451d" /><Relationship Type="http://schemas.openxmlformats.org/officeDocument/2006/relationships/slide" Target="/ppt/slides/slide2.xml" Id="R1f08c9a1ed1d42b1" /><Relationship Type="http://schemas.openxmlformats.org/officeDocument/2006/relationships/slide" Target="/ppt/slides/slide3.xml" Id="Rb26b8126951b4846" /><Relationship Type="http://schemas.openxmlformats.org/officeDocument/2006/relationships/slide" Target="/ppt/slides/slide4.xml" Id="Rf3618fcdbd4a439e" /><Relationship Type="http://schemas.openxmlformats.org/officeDocument/2006/relationships/slide" Target="/ppt/slides/slide5.xml" Id="R46e46374e9c6437c" /><Relationship Type="http://schemas.openxmlformats.org/officeDocument/2006/relationships/slide" Target="/ppt/slides/slide6.xml" Id="Rfca1e33fd38c4308" /><Relationship Type="http://schemas.openxmlformats.org/officeDocument/2006/relationships/slide" Target="/ppt/slides/slide7.xml" Id="Rab290f85329f44c7" /><Relationship Type="http://schemas.openxmlformats.org/officeDocument/2006/relationships/slide" Target="/ppt/slides/slide8.xml" Id="Rbe5117bbeb174f5c" /><Relationship Type="http://schemas.openxmlformats.org/officeDocument/2006/relationships/slide" Target="/ppt/slides/slide9.xml" Id="Rcffaefbe9b3f4b33" /><Relationship Type="http://schemas.openxmlformats.org/officeDocument/2006/relationships/slide" Target="/ppt/slides/slide10.xml" Id="Rd6af4678847c480c" /><Relationship Type="http://schemas.openxmlformats.org/officeDocument/2006/relationships/slide" Target="/ppt/slides/slide11.xml" Id="R30a042643e234adf" /><Relationship Type="http://schemas.openxmlformats.org/officeDocument/2006/relationships/slide" Target="/ppt/slides/slide12.xml" Id="R0df5c6582559446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3ebf58ff735498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0a61e9acdfe4d1e" /><Relationship Type="http://schemas.openxmlformats.org/officeDocument/2006/relationships/notesMaster" Target="/ppt/notesMasters/notesMaster1.xml" Id="Rd74d88045d6743b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e5ef8897683410a" /><Relationship Type="http://schemas.openxmlformats.org/officeDocument/2006/relationships/notesMaster" Target="/ppt/notesMasters/notesMaster1.xml" Id="Rb9d11f7b58064b1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6e1305181b446f0" /><Relationship Type="http://schemas.openxmlformats.org/officeDocument/2006/relationships/notesMaster" Target="/ppt/notesMasters/notesMaster1.xml" Id="R6b8a51509bdc4a8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c796304077642c2" /><Relationship Type="http://schemas.openxmlformats.org/officeDocument/2006/relationships/notesMaster" Target="/ppt/notesMasters/notesMaster1.xml" Id="R78848d2839b9485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f1b06548f6d4add" /><Relationship Type="http://schemas.openxmlformats.org/officeDocument/2006/relationships/notesMaster" Target="/ppt/notesMasters/notesMaster1.xml" Id="R9b01cebbe07544e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fb90a4e13e943ef" /><Relationship Type="http://schemas.openxmlformats.org/officeDocument/2006/relationships/notesMaster" Target="/ppt/notesMasters/notesMaster1.xml" Id="R75572ce40f7b4e1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6852c093ac64cac" /><Relationship Type="http://schemas.openxmlformats.org/officeDocument/2006/relationships/notesMaster" Target="/ppt/notesMasters/notesMaster1.xml" Id="R3ca5268c65d74d8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6a4e8de874c4d88" /><Relationship Type="http://schemas.openxmlformats.org/officeDocument/2006/relationships/notesMaster" Target="/ppt/notesMasters/notesMaster1.xml" Id="R1d6b6e0f83e8433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1c2b9ff8f724aa9" /><Relationship Type="http://schemas.openxmlformats.org/officeDocument/2006/relationships/notesMaster" Target="/ppt/notesMasters/notesMaster1.xml" Id="Rebd95366585843c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a2a06f5d9604f7b" /><Relationship Type="http://schemas.openxmlformats.org/officeDocument/2006/relationships/notesMaster" Target="/ppt/notesMasters/notesMaster1.xml" Id="Rb0aa529d1e904d1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ce61aa0eac948df" /><Relationship Type="http://schemas.openxmlformats.org/officeDocument/2006/relationships/notesMaster" Target="/ppt/notesMasters/notesMaster1.xml" Id="Rec46b4e27b7c4d2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689c6f26b184386" /><Relationship Type="http://schemas.openxmlformats.org/officeDocument/2006/relationships/notesMaster" Target="/ppt/notesMasters/notesMaster1.xml" Id="R18116b82930f43f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c3b72fd73848c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c5aee00b144c0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aade2c0b4f451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706db1105143e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6da27d56d94db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cd4451ed794bc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55452d68214723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f8bb4086734c06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0e90e37c374a6d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7d7c63ebb44f45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6a5b95f9a542c9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B5A9052-1296-463F-9B9C-CAE2E10FD00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83E8531-802B-4066-8E38-F308FEA1D6D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A6C74CC-4785-4016-A75B-46542A742A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0D8B97C-2B30-459A-98F1-B935FFB144C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8A15436-00CD-4389-951A-837344B6936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64E65B1-76AF-4CBA-9E0E-7DD2C70554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3A65829-ED9D-4AE9-8CE2-95BB49902D5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E47E1AA-FFF2-4403-841C-CF04750C78E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7EA4CE-DEDD-4C34-8F77-25749331DCA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C79A083-836A-45E7-A448-14F1056FB63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4D57A5F-A3BF-4577-8C38-C71BA0F85B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4E6CD42-D2E7-4FC1-87DD-839C5E857C7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F8471F7-163B-4191-B514-1B95DE596E0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72D2E44-31C2-4F47-A643-9956B2A5B54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3D974E6-E8B2-40AA-ACBA-8144CCA692E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4B38006-3D0A-4BE1-BF78-BD7458B99D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593592F-CCA7-4EBA-A3D6-068B6169DD7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E6498A8-8BA0-4838-A8D8-79BF5C666F9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B7195DB-9358-48C0-8D63-803B32D056D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AC9E7A6-2B94-45A3-BC12-3241A49929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C2D402C-B600-4C25-A907-E14156A33A9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CFB2C4A-D6A1-4F6C-B9DE-206E2808577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E4F0F05-DC9E-441B-B239-5A0B2577258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490E52C-7101-41F7-803F-D0B757A1BBB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7D4CC92-B963-42B2-B69E-6ACE263BBED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C68FFD18-CE73-4095-9AF7-31559E74B5BF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FD775A9-83AE-4B09-A4A6-6952DFA3FC2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46A60501-1215-49C0-88B4-408D19D66A7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38AAFD-C04F-417A-AA3F-4BF63DADF13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9BED791-8FDF-410E-A9C8-FDE07EB7E8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463028CF-87D6-48F4-B283-64904812DA3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295E7BF2-E7AF-4D7B-8F5F-EBDB65C9A3C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67E295DD-55A7-436D-BB7C-2C6DF45FFC6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D8EEF0CF-0312-4677-8D0E-A3AD64B47F0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E26C4469-BBA8-4E7F-A4D2-1E027B790DF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8B51D1F-1C8A-47B0-99A3-9303C2730B7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4ACA267-77EC-47F7-9B6F-8DF10D86CB2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29DCB99-483B-428A-86E3-E2A262A2C51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A7DA2EC-981F-49EB-960C-E7180DC3F7E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1E12126-9B43-4084-9B27-BD8B9AA5E62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7A88F3F-CF2C-43E0-A9D6-0A289077642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6C7DFEA-96D5-4E99-B0A6-0B1F5710DAA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ABD4FC7-2FEE-445C-B821-B5EAC8DFB2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7F5CC6D-E557-4DD3-AFDC-19D43841A29A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D4D54638-2E23-44E1-B308-C0F887E14D2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FBC226B-DD4C-493E-8DD1-506F81D89DF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35A0719-0A27-4A48-AA2A-CDDC24B4578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E587390-A7DF-485E-AE37-D369D92AC5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3D239-7B42-4AD4-A082-BECF285B00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28F54FD-A585-4B92-A999-655F464CAC1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53ABBEB-4C6A-4205-B9F1-9FDF935583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6694F3C-ED69-4EEE-91BB-2A62EDD8206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13107E2-E271-4C2B-8DBB-64B0E1BB759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AD4ED9C9-67EE-4035-8A86-F17CB99B7C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1BB09EC-4FC5-40A3-9535-9C4DD3DCBDF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C502415-B3F4-488C-A8FC-A6CE6988636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E5395ED-F908-4247-B26B-B695E775E04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862AB2A-BED8-4A55-BA0D-DA39CB845EF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7f8d0528c9f463f" /><Relationship Type="http://schemas.openxmlformats.org/officeDocument/2006/relationships/slideLayout" Target="/ppt/slideLayouts/slideLayout1.xml" Id="R77a3e4e89ee142d2" /><Relationship Type="http://schemas.openxmlformats.org/officeDocument/2006/relationships/slideLayout" Target="/ppt/slideLayouts/slideLayout2.xml" Id="Ra99e70203fea40ef" /><Relationship Type="http://schemas.openxmlformats.org/officeDocument/2006/relationships/slideLayout" Target="/ppt/slideLayouts/slideLayout3.xml" Id="R7cfe0762974647c5" /><Relationship Type="http://schemas.openxmlformats.org/officeDocument/2006/relationships/slideLayout" Target="/ppt/slideLayouts/slideLayout4.xml" Id="Rcdf12847cb7c45a2" /><Relationship Type="http://schemas.openxmlformats.org/officeDocument/2006/relationships/slideLayout" Target="/ppt/slideLayouts/slideLayout5.xml" Id="Rbb69686d8b624a30" /><Relationship Type="http://schemas.openxmlformats.org/officeDocument/2006/relationships/slideLayout" Target="/ppt/slideLayouts/slideLayout6.xml" Id="R7e08d3348c034ef4" /><Relationship Type="http://schemas.openxmlformats.org/officeDocument/2006/relationships/slideLayout" Target="/ppt/slideLayouts/slideLayout7.xml" Id="Refb57027de6f489f" /><Relationship Type="http://schemas.openxmlformats.org/officeDocument/2006/relationships/slideLayout" Target="/ppt/slideLayouts/slideLayout8.xml" Id="R67350719e6004ade" /><Relationship Type="http://schemas.openxmlformats.org/officeDocument/2006/relationships/slideLayout" Target="/ppt/slideLayouts/slideLayout9.xml" Id="R3ef7e1a259034c9c" /><Relationship Type="http://schemas.openxmlformats.org/officeDocument/2006/relationships/slideLayout" Target="/ppt/slideLayouts/slideLayout10.xml" Id="R84b1f6b138b84ec2" /><Relationship Type="http://schemas.openxmlformats.org/officeDocument/2006/relationships/slideLayout" Target="/ppt/slideLayouts/slideLayout11.xml" Id="R47ee849155404ded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C5C32A93-A251-4949-9915-1C65644096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67EF216-870A-4BF0-AA9A-AE90B78B642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1B21B47-7933-4B5A-8FC3-2A17004CFA30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BADC6C-2752-4811-B7B5-801A143760C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10A006B-240A-4FEF-9DA0-BB863CFF1AD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7a3e4e89ee142d2"/>
    <p:sldLayoutId xmlns:r="http://schemas.openxmlformats.org/officeDocument/2006/relationships" id="2147483650" r:id="Ra99e70203fea40ef"/>
    <p:sldLayoutId xmlns:r="http://schemas.openxmlformats.org/officeDocument/2006/relationships" id="2147483651" r:id="R7cfe0762974647c5"/>
    <p:sldLayoutId xmlns:r="http://schemas.openxmlformats.org/officeDocument/2006/relationships" id="2147483652" r:id="Rcdf12847cb7c45a2"/>
    <p:sldLayoutId xmlns:r="http://schemas.openxmlformats.org/officeDocument/2006/relationships" id="2147483653" r:id="Rbb69686d8b624a30"/>
    <p:sldLayoutId xmlns:r="http://schemas.openxmlformats.org/officeDocument/2006/relationships" id="2147483654" r:id="R7e08d3348c034ef4"/>
    <p:sldLayoutId xmlns:r="http://schemas.openxmlformats.org/officeDocument/2006/relationships" id="2147483655" r:id="Refb57027de6f489f"/>
    <p:sldLayoutId xmlns:r="http://schemas.openxmlformats.org/officeDocument/2006/relationships" id="2147483656" r:id="R67350719e6004ade"/>
    <p:sldLayoutId xmlns:r="http://schemas.openxmlformats.org/officeDocument/2006/relationships" id="2147483657" r:id="R3ef7e1a259034c9c"/>
    <p:sldLayoutId xmlns:r="http://schemas.openxmlformats.org/officeDocument/2006/relationships" id="2147483658" r:id="R84b1f6b138b84ec2"/>
    <p:sldLayoutId xmlns:r="http://schemas.openxmlformats.org/officeDocument/2006/relationships" id="2147483659" r:id="R47ee849155404ded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2f216a69d3b4ae5" /><Relationship Type="http://schemas.openxmlformats.org/officeDocument/2006/relationships/notesSlide" Target="/ppt/notesSlides/notesSlide1.xml" Id="R6b65674efcf346a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ee6622acbe94a19" /><Relationship Type="http://schemas.openxmlformats.org/officeDocument/2006/relationships/notesSlide" Target="/ppt/notesSlides/notesSlide2.xml" Id="R1b1d1a1eae8648a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cbe7cdfbfc2499d" /><Relationship Type="http://schemas.openxmlformats.org/officeDocument/2006/relationships/notesSlide" Target="/ppt/notesSlides/notesSlide3.xml" Id="R655e3304dddf406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7f86e009cac41bf" /><Relationship Type="http://schemas.openxmlformats.org/officeDocument/2006/relationships/notesSlide" Target="/ppt/notesSlides/notesSlide4.xml" Id="R7171a3ae60114a7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293f2fbfb874b2d" /><Relationship Type="http://schemas.openxmlformats.org/officeDocument/2006/relationships/notesSlide" Target="/ppt/notesSlides/notesSlide5.xml" Id="Rfdbf7065242b421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25e4eb9eb45494a" /><Relationship Type="http://schemas.openxmlformats.org/officeDocument/2006/relationships/notesSlide" Target="/ppt/notesSlides/notesSlide6.xml" Id="Rc974c18aac7046e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c033273dccf4bfb" /><Relationship Type="http://schemas.openxmlformats.org/officeDocument/2006/relationships/notesSlide" Target="/ppt/notesSlides/notesSlide7.xml" Id="Rb275e7f92ca74d5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a9d0108d0f94258" /><Relationship Type="http://schemas.openxmlformats.org/officeDocument/2006/relationships/notesSlide" Target="/ppt/notesSlides/notesSlide8.xml" Id="Rfe6d913848724a2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bbfa7543cda497b" /><Relationship Type="http://schemas.openxmlformats.org/officeDocument/2006/relationships/notesSlide" Target="/ppt/notesSlides/notesSlide9.xml" Id="Ree8f544518394bc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40f274110994342" /><Relationship Type="http://schemas.openxmlformats.org/officeDocument/2006/relationships/notesSlide" Target="/ppt/notesSlides/notesSlide10.xml" Id="R3f7775a9d976424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5573f0b46bf4a46" /><Relationship Type="http://schemas.openxmlformats.org/officeDocument/2006/relationships/notesSlide" Target="/ppt/notesSlides/notesSlide11.xml" Id="R0c0e32418ad04df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7378e977b0841dc" /><Relationship Type="http://schemas.openxmlformats.org/officeDocument/2006/relationships/notesSlide" Target="/ppt/notesSlides/notesSlide12.xml" Id="Rc38ba081fe4a4cb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A200AB8-6697-4C5C-BEE5-15B9196CF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564D042-A8BC-4C0F-B249-188DDDF97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F93215C-33B0-45F5-AF6B-A6F5254F3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674585E-D9F7-4F48-B83E-D93B69780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12-slide financing and technology assessment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1CBDCD5C-BEAD-4425-8DFE-458FE17EB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843A209-B903-4834-A6D9-B318AF391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FCF4E11-2C6B-47FD-8076-550161F48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2026.07.23-10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0D0AC0F-6366-44F3-9888-CCDDA1E30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2026-07-22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12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69FD38D-3DAE-41F7-85A5-3B612C98B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46F3B3AE-542B-42CB-97A2-6D1B495DB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E1AD37D-C60F-4180-A609-152B5EFA1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05127A2-7782-4BC2-B95C-C1610665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315968"/>
            <a:ext cx="5486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 · Financing thesis</a:t>
            </a:r>
          </a:p>
        </p:txBody>
      </p:sp>
    </p:spTree>
    <p:extLst>
      <p:ext uri="{BB962C8B-B14F-4D97-AF65-F5344CB8AC3E}">
        <p14:creationId xmlns:p14="http://schemas.microsoft.com/office/powerpoint/2010/main" val="37780881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D0CB1D5-DE5B-4B0A-9CBE-4942402B5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 · PROBLEM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2A1A254-F927-4D01-B0E8-9AD1C18F7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problem lies as much in the evidence as in the technology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7B0BB45-0ECE-4BE8-B74C-EB841C96D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2C7C4D7-54F2-46A7-8724-DCC9BB11D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1DC57B1-5CA2-46D8-9D7D-B2E36FC30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2026.07.23-10 · 2026-07-22 · Sources: Atlas readiness;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AEC287E-1232-4BCB-80C3-841336B0B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931CA49-058D-436D-A8E0-22C0DE092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Broad market claims do not become lender-ready collateral without a country-specific rights, product, sales and cash-flow chain.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A5689FF-B7F0-4B05-970B-753914FEB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Market metrics are fragmented: shipments, taxes, litres and commercial estimates are not the same thing.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family publication does not prove current validity or absence of encumbrances.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court judgment alone does not prove paid damages or a global royalty base.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B8868C1-2EBF-4D57-892F-1CABEDC8B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4B5DB393-CB7B-4D59-A5C7-23D4C51C6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Lender's core question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E46CA9B-4783-4A26-8CA5-25425C0A6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Which verified asset and cash flow covers the loan in a downside case?</a:t>
            </a:r>
          </a:p>
        </p:txBody>
      </p:sp>
    </p:spTree>
    <p:extLst>
      <p:ext uri="{BB962C8B-B14F-4D97-AF65-F5344CB8AC3E}">
        <p14:creationId xmlns:p14="http://schemas.microsoft.com/office/powerpoint/2010/main" val="148848845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7377DAF-3C96-44FC-A780-CAE213B1C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3 · PATENTED SOLUTION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781592C-621F-4618-A20F-48144F7AB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solution controls vaporiser power based on measured resistance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498E72F-2E9F-454F-AD3C-28A4923BF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92A91DC-FC3B-47C3-9D0E-F681ACA2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131EBDE-CD89-4CE7-A6CF-27628DCDB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2026.07.23-10 · 2026-07-22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4067BCB-4DE0-4ACC-B123-9DF91AEB8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F8B2C26-0C98-4CFE-91B4-F73E0D216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published patent specification concerns control of an electrically powered vaporiser by measuring heating-element resistance, selecting the corresponding power from stored data and controlling power delivered to the heater within defined user-adjustment limits.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FEE749D-0F8E-47F9-947F-F3F0F3F69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Control is based on stored resistance–power values.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power relationship is described as non-proportional.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User adjustment occurs between a non-zero minimum and a stored maximum.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9AC613D9-1A7A-401F-A8C5-DACD6475A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D710353-9C70-4FFC-93A9-3F6C49679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Scope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6990641-3E7F-4548-ABF7-5C7A56688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This is a plain-language summary of the published patent specification. Only the operative claims in the relevant country and a product-specific claim chart are determinative.</a:t>
            </a:r>
          </a:p>
        </p:txBody>
      </p:sp>
    </p:spTree>
    <p:extLst>
      <p:ext uri="{BB962C8B-B14F-4D97-AF65-F5344CB8AC3E}">
        <p14:creationId xmlns:p14="http://schemas.microsoft.com/office/powerpoint/2010/main" val="8060021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5FFC027-1AC7-4CA4-9338-763BDF627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4 · PATENT AND IP STATUS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515D287-2D5F-44A7-9368-3D65503F1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IP core is documented; country-level usability still requires reconciliation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50FE150-BE70-4BF0-9A11-D7938B46A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ABB5C2D-5D8C-41D5-9049-70AD10D12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655D1C7-B137-426A-91E1-D545E21C2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2026.07.23-10 · 2026-07-22 · Sources: EPO Register;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7AE8586-F3BD-49A3-BF12-D762B596A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9B3F8BB5-C325-4808-8364-505E40DC6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780C78C-0853-422A-B670-C7AF52E78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BB4EE18-4E22-45B2-A086-638844DD6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earliest priority year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0D7A4A61-498C-43FD-8EB6-12C5E9372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672B3E3-1CD9-4DFD-94AC-D3C25BE00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061720D-FEA9-4644-8DE4-D5AA55C8B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 claims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CDE1F78-9C06-46C8-8D75-9E254A769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E709C6F-C45C-41F0-89BA-2E4DB8AC0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E62E1519-5BAB-46F5-98B1-3B33C3CA7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9D20434-C61C-4518-92AA-8360DE136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EPO Register: patent maintained as amended after opposition; B2 published on 24 April 2024.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902B73FD-849A-486F-8236-8F4882EC5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0E6923A2-5055-4DBC-A0CE-71F7F1410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CED486C-4CB9-4A0D-882B-C35C0F40C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Recorded proprietor in the public register: Pixan Oy. Current national validity, fees and encumbrances across the family have not yet been verified.</a:t>
            </a:r>
          </a:p>
        </p:txBody>
      </p:sp>
    </p:spTree>
    <p:extLst>
      <p:ext uri="{BB962C8B-B14F-4D97-AF65-F5344CB8AC3E}">
        <p14:creationId xmlns:p14="http://schemas.microsoft.com/office/powerpoint/2010/main" val="200148002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7B57EFB-3D9D-4832-BCDD-A50A6EC0C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 · TECHNICAL DIFFERENTIATION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A60F6A7-85B6-4B44-96A7-EF5ED64A1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Technical differentiation lies in the claims — not product appearance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FE44A2E-BF41-4770-85DB-B455FC624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25AC6F5-F009-44F7-BEF3-E62CA119B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E2AC30A-FA3E-48BF-8B5A-23D9FFE47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2026.07.23-10 · 2026-07-22 · Sources: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2602B7A-1760-4EEA-B66C-792E686A8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AF0E03A-3B49-420D-BB5E-D24217D5E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financing assessment must trace every material claim limitation to a product and country.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E6952FB-13FB-419B-B5E2-E13E35733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patent specification provides a technical hypothesis and documented protection text.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Germany: the decision supports the link between certain products and claims 1 and 6.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Independent tests, teardown dossiers and claim charts for other countries are missing from the public evidence.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9A395377-9F35-425F-A100-29C581C88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E9EF51A-8749-409F-A1F7-FE309D9DC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Evidence chain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F51153B-7C57-45E5-A36C-85BFA80D9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Sample → chain of custody → teardown → measurement data → claim chart → counsel review → relevant sales.</a:t>
            </a:r>
          </a:p>
        </p:txBody>
      </p:sp>
    </p:spTree>
    <p:extLst>
      <p:ext uri="{BB962C8B-B14F-4D97-AF65-F5344CB8AC3E}">
        <p14:creationId xmlns:p14="http://schemas.microsoft.com/office/powerpoint/2010/main" val="151190152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80A4713-97BD-4B4A-A07B-61D025236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6 · MARKET SIZE AND SCOPE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3EA84BD-D2A3-417D-B994-DF553486B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Market size is currently a range and a set of observations — not one number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562EEA0-8309-4F26-A065-BD499C489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C64A8E2-92DD-4463-A04D-385889FC7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A4D130A-A1B4-496A-9CE7-D2687D7CA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2026.07.23-10 · 2026-07-22 · Sources: Market-values; IMARC; GVR; Fortune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8588C3D-0EC1-4476-948A-B6EF82117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7DCF8AF7-118F-4201-A525-0F101CA52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1376589-F804-4DFB-AF60-B3E4DA8BE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195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0F65E08-F45E-4AAE-ABE4-9F1FD62DD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country research rows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FEA99B98-2172-4138-BC5D-A462B1220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729330C-D7A8-4EA0-BD3F-D78A74BE5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62EE113-969D-407B-825C-3132CB337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countries with annual observations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7BA74F93-D88D-41D7-A1B2-20F837A23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B30840-9E14-4A8C-9176-F06010DB6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USD 26.0–46.32bn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8485583-19A1-4D4C-9BAF-9C8FF8547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commercial global 2025 range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D8C9A76-BB88-4F24-BD1E-BAA9E41BE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Germany: the liquid model has low confidence and a range of EUR 667.92–1,654.62 million; it must not be presented as observed sales.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7BCC639B-BF51-4224-BDC9-D344A811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2FC17345-52DF-4A4C-8C45-311FDA1F5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E62CAD9-0FCB-4528-BACE-89D9AA676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There are 0 accepted official national consumer-retail values. Atlas does not publish its own global estimate before the methodological gates are met.</a:t>
            </a:r>
          </a:p>
        </p:txBody>
      </p:sp>
    </p:spTree>
    <p:extLst>
      <p:ext uri="{BB962C8B-B14F-4D97-AF65-F5344CB8AC3E}">
        <p14:creationId xmlns:p14="http://schemas.microsoft.com/office/powerpoint/2010/main" val="151982692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D65EAEF-A6F8-407C-A504-BA17FC0B5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7 · CUSTOMERS AND PURCHASE RATIONALE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CC9A443-5AA4-47B1-84BC-787CCE65C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Customer demand still requires validation across three decision logics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D8E738D-4F77-4672-85B0-55B4A1B80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C9CDACA-DC8F-4F9A-B1E2-9AD858DFA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78A6F79-77C7-4D8C-A976-7E15F1188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2026.07.23-10 · 2026-07-22 · Sources: WIPO licensing; WIPO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41B1EED-C567-4FD9-9668-92FD553E1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9F897BC-7E92-4614-8824-7FA6C4618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Potential segments are manufacturers, technology providers, and IP financiers or buyers.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3E1FE68-6CB5-4762-B818-9B45FBA13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manufacturer buys freedom to operate, legal certainty or technology — if the relevant product and territory are established.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technology provider evaluates integrability, freedom to operate and unit economics.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financier evaluates title, realisable cash flow, control and downside value.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6BCF434-04F0-45A9-B4E8-272FCCE5A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DF1939F-32EB-433A-9CB5-E21CF1AF4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Current evidence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A77A1D1-D0AF-420E-A6AE-AEFD2090D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public evidence does not confirm named customers, pilots, purchase intentions or signed licences.</a:t>
            </a:r>
          </a:p>
        </p:txBody>
      </p:sp>
    </p:spTree>
    <p:extLst>
      <p:ext uri="{BB962C8B-B14F-4D97-AF65-F5344CB8AC3E}">
        <p14:creationId xmlns:p14="http://schemas.microsoft.com/office/powerpoint/2010/main" val="189148156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FFB4F40-13A2-44FC-9050-A94A98C77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8 · COMPETITION AND ALTERNATIVES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DC83234-5AFB-4066-A79A-37B3B826B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Distinguish competition, alternatives and patent risk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EB47BB9-5DB5-49B8-84F3-B60D91321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983DEA1-BD92-4B48-ACFF-288F8D652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A514F6E-134F-402C-8DC8-E58EFD9C8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2026.07.23-10 · 2026-07-22 · Sources: Evidence Register; EPO;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C45C712-AC73-49CB-8F96-623FFB668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6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455"/>
                <a:gridCol w="6040366"/>
                <a:gridCol w="226513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Benchmark 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Question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Current 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solutions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Does the product solve the same problem differently?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families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Is there overlapping protection or FTO risk?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alternatives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Licence, assignment, settlement or own use?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Assumption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Non-patented alternatives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 the performance be achieved by designing around the claims?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64ACA7F-D9D7-42A8-9B47-0BD874D57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Competitor analysis is a material open workstream in the lender's technology assessment.</a:t>
            </a:r>
          </a:p>
        </p:txBody>
      </p:sp>
    </p:spTree>
    <p:extLst>
      <p:ext uri="{BB962C8B-B14F-4D97-AF65-F5344CB8AC3E}">
        <p14:creationId xmlns:p14="http://schemas.microsoft.com/office/powerpoint/2010/main" val="84603960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E6A03A2-13E2-4BCB-AF32-6BAB4EEA8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 · VALIDATION AND CURRENT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C85A523-9B65-4F82-B6F1-9FF5DBE8B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Uneven validation strength is explicitly classified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94693CB-F4EC-4A73-993A-523A5B501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F54C567-24C1-4578-8DBE-104FCFB01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FC1FB61-0C74-4872-A15D-A5260F370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2026.07.23-10 · 2026-07-22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8FB5066-5E5F-441E-8040-0B89F8CF7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1992"/>
                <a:gridCol w="1599834"/>
                <a:gridCol w="3377427"/>
                <a:gridCol w="3910705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Claim scope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Classification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exists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is missing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core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EPO Register and B2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Country status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German proceedings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Two official decisions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Finality, enforcement, cash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Market observations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Official figures from 5 countries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retail value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Technical testing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specification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test and raw data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evidence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Commercialisation framework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Customers, contracts, payments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99F3F8A-EB95-49A7-8867-3BC1632D5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Proven legal evidence does not replace technical, commercial or financial validation.</a:t>
            </a:r>
          </a:p>
        </p:txBody>
      </p:sp>
    </p:spTree>
    <p:extLst>
      <p:ext uri="{BB962C8B-B14F-4D97-AF65-F5344CB8AC3E}">
        <p14:creationId xmlns:p14="http://schemas.microsoft.com/office/powerpoint/2010/main" val="70186363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D3E75E9-239D-4292-A4C3-8ABD59E1E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10 · COMMERCIALISATION MODEL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A0F17EA-3248-4039-83A1-CA521A474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Commercialisation proceeds through gates, not mass assertions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00F13C2-2039-4F5E-AD7E-E1532B85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CCD7D97-47A2-4031-A1F2-FA6234BEF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7B2976A-F54D-4668-AE76-E228427EC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2026.07.23-10 · 2026-07-22 · Sources: WIPO licensing; dispute resolution;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8D74D2C-A797-4C4F-8912-16726AFF3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27D78CE-E728-4EC2-A466-453882A5D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186D1B0-1EAD-45D3-B8E0-0A8E10ED3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F0F8889-61DF-48D6-B164-0855B08C4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Rights matrix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611C2CB-E102-42EA-A964-F3382B056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Confirm country, proprietor, fee payment, encumbrance, operative claims and deadlines.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F5FE146D-186C-4DFC-A311-BCEAA4396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CB1EEA2-7CF7-4F80-8C2A-A18C5C44F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C74BDD53-5AE5-4865-BB2C-A410CC83F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Product dossier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407D1E4-7095-43BC-A74C-8D1F6FDE5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Obtain a sample, document the chain and prepare a counsel-reviewed claim chart.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A7C4C40A-E7B3-450E-AEE1-2A53F09D2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5C91283-8FCF-46C4-BD73-091F187EF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11413AE-8EF4-496A-811C-A6CDE28CE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Target scoring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5EFE8EB6-71E7-4515-8CB5-B0D307951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Assess rights, evidence, sales, counterparty, cost and enforcement.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B623B203-483E-4B5E-9563-D54A12173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8D75C95B-616D-4540-9610-4AAE210AF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002DFCBE-9702-463E-AEFE-279089CE5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Limited pilot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C2F08B53-4190-432D-8845-FCF0948E7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Test a licence, settlement, assignment or financing route on auditable terms.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B207E3BE-4B4B-4BD9-BEDD-D204629B6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Only an executed contract or receivable creates cash-flow evidence.</a:t>
            </a:r>
          </a:p>
        </p:txBody>
      </p:sp>
    </p:spTree>
    <p:extLst>
      <p:ext uri="{BB962C8B-B14F-4D97-AF65-F5344CB8AC3E}">
        <p14:creationId xmlns:p14="http://schemas.microsoft.com/office/powerpoint/2010/main" val="157601750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9E9A73C-75C0-465C-BDCF-B79B6A2AF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11 · FINANCIAL MODEL AND SENSITIVITIES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C49513D-2558-4A10-811C-11453A169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Evidence—not market share—must drive the model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9EB7186-5F97-41E9-B8D5-137DB6D56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A13B586-8A1D-4B38-8DE3-0C230D51C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078EEEC-472A-46B0-BC50-437D8065D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2026.07.23-10 · 2026-07-22 · Sources: WIPO IP valuation; Market-values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AB16858-B8B3-4054-8D02-8F1D4E5BA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7490"/>
                <a:gridCol w="6332677"/>
                <a:gridCol w="19997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Bridge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Input to verify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Current 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Total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country-level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0 retail-value donors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Attributable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Validity × product × period × country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base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Cash flow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terms, costs, taxes, delay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value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Downside realisation and control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7D158E3-2665-492C-8A95-53F7D7ABE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Show downside/base/upside only after every bridge input has been documented.</a:t>
            </a:r>
          </a:p>
        </p:txBody>
      </p:sp>
    </p:spTree>
    <p:extLst>
      <p:ext uri="{BB962C8B-B14F-4D97-AF65-F5344CB8AC3E}">
        <p14:creationId xmlns:p14="http://schemas.microsoft.com/office/powerpoint/2010/main" val="200709374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7DE7FC8-68A4-47DB-B9DC-611777BCC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1DCC4C0-19DE-4913-9ED9-F8D90DA0A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Financing decision only after four critical gaps are closed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A1C5EDF-43ED-4155-BBB5-7AB61EBE6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1. Counsel-signed title, encumbrance, fee-payment and rights matrix.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2. Claim charts for prioritised products and documented relevant sales.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3. Realised or contract-based cash flows and audited financial information.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4. Independent valuation and downside collateral analysis.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Next decision: approve a controlled 90-day diligence phase?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E9344D7-4565-4257-A828-31AB29071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2026.07.23-10 · 2026-07-22 · 12 / 12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01C855A-5FCB-4025-AE9C-CD7B15E79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749808"/>
            <a:ext cx="7955279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12 · Risks, controls and next steps</a:t>
            </a:r>
          </a:p>
        </p:txBody>
      </p:sp>
    </p:spTree>
    <p:extLst>
      <p:ext uri="{BB962C8B-B14F-4D97-AF65-F5344CB8AC3E}">
        <p14:creationId xmlns:p14="http://schemas.microsoft.com/office/powerpoint/2010/main" val="124067859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2026-07-23T08:35:23.7750000Z</dcterms:created>
  <dcterms:modified xsi:type="dcterms:W3CDTF">2026-07-23T08:35:23.7750000Z</dcterms:modified>
</coreProperties>
</file>