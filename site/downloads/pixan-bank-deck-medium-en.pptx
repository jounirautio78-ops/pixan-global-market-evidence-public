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ac7bf5d23c4f4a" /><Relationship Type="http://schemas.openxmlformats.org/officeDocument/2006/relationships/extended-properties" Target="/docProps/app.xml" Id="R9a3b42a3b9eb4623" /><Relationship Type="http://schemas.openxmlformats.org/officeDocument/2006/relationships/officeDocument" Target="/ppt/presentation.xml" Id="R7705e4affdae49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445964e1224988"/>
  </p:sldMasterIdLst>
  <p:notesMasterIdLst>
    <p:notesMasterId xmlns:r="http://schemas.openxmlformats.org/officeDocument/2006/relationships" r:id="R3d82eb59c81e4f2e"/>
  </p:notesMasterIdLst>
  <p:sldIdLst>
    <p:sldId xmlns:r="http://schemas.openxmlformats.org/officeDocument/2006/relationships" id="256" r:id="R003f579f8a194e2c"/>
    <p:sldId xmlns:r="http://schemas.openxmlformats.org/officeDocument/2006/relationships" id="257" r:id="Re1ad71d2320d45b3"/>
    <p:sldId xmlns:r="http://schemas.openxmlformats.org/officeDocument/2006/relationships" id="258" r:id="R23daa6b36876471f"/>
    <p:sldId xmlns:r="http://schemas.openxmlformats.org/officeDocument/2006/relationships" id="259" r:id="R9b83d6d7e67d44e1"/>
    <p:sldId xmlns:r="http://schemas.openxmlformats.org/officeDocument/2006/relationships" id="260" r:id="R039bb486c469492e"/>
    <p:sldId xmlns:r="http://schemas.openxmlformats.org/officeDocument/2006/relationships" id="261" r:id="R69714a8b3695426b"/>
    <p:sldId xmlns:r="http://schemas.openxmlformats.org/officeDocument/2006/relationships" id="262" r:id="R36c0879c1593405b"/>
    <p:sldId xmlns:r="http://schemas.openxmlformats.org/officeDocument/2006/relationships" id="263" r:id="Rb7824543adc24a09"/>
    <p:sldId xmlns:r="http://schemas.openxmlformats.org/officeDocument/2006/relationships" id="264" r:id="Re64b2ef82ff54f39"/>
    <p:sldId xmlns:r="http://schemas.openxmlformats.org/officeDocument/2006/relationships" id="265" r:id="R1dfbc74ee9fd4ca3"/>
    <p:sldId xmlns:r="http://schemas.openxmlformats.org/officeDocument/2006/relationships" id="266" r:id="R7e242f0d0b264172"/>
    <p:sldId xmlns:r="http://schemas.openxmlformats.org/officeDocument/2006/relationships" id="267" r:id="Re47d4ba42a354b18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487bd27d844aa6" /><Relationship Type="http://schemas.openxmlformats.org/officeDocument/2006/relationships/slideMaster" Target="/ppt/slideMasters/slideMaster1.xml" Id="Rdd445964e1224988" /><Relationship Type="http://schemas.openxmlformats.org/officeDocument/2006/relationships/notesMaster" Target="/ppt/notesMasters/notesMaster1.xml" Id="R3d82eb59c81e4f2e" /><Relationship Type="http://schemas.openxmlformats.org/officeDocument/2006/relationships/presProps" Target="/ppt/presProps.xml" Id="R26725bf6525a4d3f" /><Relationship Type="http://schemas.openxmlformats.org/officeDocument/2006/relationships/viewProps" Target="/ppt/viewProps.xml" Id="R876e99666de246c5" /><Relationship Type="http://schemas.openxmlformats.org/officeDocument/2006/relationships/tableStyles" Target="/ppt/tableStyles.xml" Id="R4a36731dd5d543e5" /><Relationship Type="http://schemas.openxmlformats.org/officeDocument/2006/relationships/slide" Target="/ppt/slides/slide1.xml" Id="R003f579f8a194e2c" /><Relationship Type="http://schemas.openxmlformats.org/officeDocument/2006/relationships/slide" Target="/ppt/slides/slide2.xml" Id="Re1ad71d2320d45b3" /><Relationship Type="http://schemas.openxmlformats.org/officeDocument/2006/relationships/slide" Target="/ppt/slides/slide3.xml" Id="R23daa6b36876471f" /><Relationship Type="http://schemas.openxmlformats.org/officeDocument/2006/relationships/slide" Target="/ppt/slides/slide4.xml" Id="R9b83d6d7e67d44e1" /><Relationship Type="http://schemas.openxmlformats.org/officeDocument/2006/relationships/slide" Target="/ppt/slides/slide5.xml" Id="R039bb486c469492e" /><Relationship Type="http://schemas.openxmlformats.org/officeDocument/2006/relationships/slide" Target="/ppt/slides/slide6.xml" Id="R69714a8b3695426b" /><Relationship Type="http://schemas.openxmlformats.org/officeDocument/2006/relationships/slide" Target="/ppt/slides/slide7.xml" Id="R36c0879c1593405b" /><Relationship Type="http://schemas.openxmlformats.org/officeDocument/2006/relationships/slide" Target="/ppt/slides/slide8.xml" Id="Rb7824543adc24a09" /><Relationship Type="http://schemas.openxmlformats.org/officeDocument/2006/relationships/slide" Target="/ppt/slides/slide9.xml" Id="Re64b2ef82ff54f39" /><Relationship Type="http://schemas.openxmlformats.org/officeDocument/2006/relationships/slide" Target="/ppt/slides/slide10.xml" Id="R1dfbc74ee9fd4ca3" /><Relationship Type="http://schemas.openxmlformats.org/officeDocument/2006/relationships/slide" Target="/ppt/slides/slide11.xml" Id="R7e242f0d0b264172" /><Relationship Type="http://schemas.openxmlformats.org/officeDocument/2006/relationships/slide" Target="/ppt/slides/slide12.xml" Id="Re47d4ba42a354b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d29c814fd141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bcc1f867d6405d" /><Relationship Type="http://schemas.openxmlformats.org/officeDocument/2006/relationships/notesMaster" Target="/ppt/notesMasters/notesMaster1.xml" Id="Re8e9b20e9b3c44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86b05f1a624df1" /><Relationship Type="http://schemas.openxmlformats.org/officeDocument/2006/relationships/notesMaster" Target="/ppt/notesMasters/notesMaster1.xml" Id="R1d2100960a35420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a2598ff6ee48e4" /><Relationship Type="http://schemas.openxmlformats.org/officeDocument/2006/relationships/notesMaster" Target="/ppt/notesMasters/notesMaster1.xml" Id="R27b49f2bb04f4d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c723a9a2f64b2d" /><Relationship Type="http://schemas.openxmlformats.org/officeDocument/2006/relationships/notesMaster" Target="/ppt/notesMasters/notesMaster1.xml" Id="Rfed04360a2244b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c9920bc7524559" /><Relationship Type="http://schemas.openxmlformats.org/officeDocument/2006/relationships/notesMaster" Target="/ppt/notesMasters/notesMaster1.xml" Id="Rd3ae553273ad4b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6e64b453cc4267" /><Relationship Type="http://schemas.openxmlformats.org/officeDocument/2006/relationships/notesMaster" Target="/ppt/notesMasters/notesMaster1.xml" Id="R859cb8376a6b422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36ddecdd9a4794" /><Relationship Type="http://schemas.openxmlformats.org/officeDocument/2006/relationships/notesMaster" Target="/ppt/notesMasters/notesMaster1.xml" Id="Rafdb346d97814f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897b31e59a454c" /><Relationship Type="http://schemas.openxmlformats.org/officeDocument/2006/relationships/notesMaster" Target="/ppt/notesMasters/notesMaster1.xml" Id="R787b86d89af34ad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63f86ab0fc415e" /><Relationship Type="http://schemas.openxmlformats.org/officeDocument/2006/relationships/notesMaster" Target="/ppt/notesMasters/notesMaster1.xml" Id="Rc73b6e0b6a864b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eb3db471a7e4a5d" /><Relationship Type="http://schemas.openxmlformats.org/officeDocument/2006/relationships/notesMaster" Target="/ppt/notesMasters/notesMaster1.xml" Id="R711dd84664c24e9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4a0721f01ac4fc5" /><Relationship Type="http://schemas.openxmlformats.org/officeDocument/2006/relationships/notesMaster" Target="/ppt/notesMasters/notesMaster1.xml" Id="Rec6c951d6f6c41d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9cafb21cdfc4b03" /><Relationship Type="http://schemas.openxmlformats.org/officeDocument/2006/relationships/notesMaster" Target="/ppt/notesMasters/notesMaster1.xml" Id="R7845bf67b29145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74c31bdcaf440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8f73a015274f0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076bfa15dd40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641007692c4a1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07e31c370640e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47a718ecf0432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d8a75221ff4eb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758245103e417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4d529057fe4ef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38eb0cdf2249b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fedc0eae0e445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B29DEF9-C3CC-4339-8C7B-C0D46E19DBF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4DF59F7-30E8-4A6A-A9B1-136FFDE39D0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CA430E6-83CD-48EC-A114-5CB9A95E52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DA3E8E5-7ABB-43F1-BE0C-4F5DDA6E5E2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9191598-58E3-4533-883A-AAA4258B6F6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A1F941-6117-49C7-9BB5-D68E02D88F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3E07DD-B78F-4A7F-8B0E-04DAA425518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7783A41-01BA-4779-BC23-75593E5497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BE5CC2-63FB-49CE-B272-7C4D63909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E80054-4E69-49F0-8BD6-8F9C241F8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51F159-48B4-4621-8012-0C16373FBD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6DA8B31-473B-4DB9-AEAE-8A63BA5737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4A7FB00-91B9-4690-A07C-02E896E9A2C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8B02A4-FF97-4FF6-A2F1-177A25CEBE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4C7BFE4-4D5C-4746-869D-CBA92B829A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7A147E-2A5F-4234-920D-AAEC9E7ACD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BC8FD5E-F672-4093-B71F-26D2184F07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7C588C-6DB2-43B0-A0AF-1568966CB49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B0562A1-49F1-4525-97F3-E5EDE10CA1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78F0F3C-A812-40F8-A4C6-D0400A09F3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AE751DE-9F84-40D0-A2E8-C0F186C2BC9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1848F42-E702-458C-8D77-75A9025ED3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9188E59-65FE-4DF7-9C66-7B8A160B61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780AC62-F5E5-448C-8E52-34BCA85C7AD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8D4BD7A-DD76-4028-A78D-23305F5A1D0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FB89A84-270F-4C66-988E-9D0DC61DD4A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51B9F5-B1A5-4143-AF67-D7F5CF2F45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7295A70-A7C0-4A3A-B1DE-4867549367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2F6A2CC-AC34-4010-896D-8FBF48BDD5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56C3309-4229-47A0-BEA9-B7B6F7D9A1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46E320F-A0B5-4309-8656-CB21D6F540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1D27A8-6904-4BB8-BA66-BDF0C83C60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28729-ADED-454C-88E6-1480116E16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3FF6ADD-93C9-413E-ACF5-F9001D7FEB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598A010-6B22-44AE-B993-8690C534DB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D6AC03A-531B-4167-A0C3-6CC9C83DE49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D007805-F947-4508-96CC-52453818AC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258A30-7A00-4C4D-B7E6-4DFFC82D8C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779503D-3B36-4473-AB43-7A2765DBDC0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1AAA5BD-1E38-456C-B408-1587D42F53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C81108-AFEF-43AE-9787-6FEC0F1C69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7C629CE-B505-47D4-BAE6-85C2198701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02B5AA-704D-45D5-A9DF-E5D7049625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753B77C-7C5F-409B-ADA2-9A7ADE91556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0000973-8DD5-46E7-8685-D1C1A3C1FF6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D997647-85D3-464F-A619-33E1F64291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14FCEBF-69A1-4306-9930-315C119C2E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E83EB28-5F42-4A4A-9B66-FD424FF7D3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2F4A45-2390-43A0-B251-F1CA1622DA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3DBD538-61D2-43FE-8D84-617C62FD35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DC731D3-B9C2-4079-B811-C7073D0386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E135D3C-E1C9-4786-8FA1-C6DA4EDEEEC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CE73FF-9B17-4124-A297-2B9986B89F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9E407AE-DE7B-4A36-A775-3BF636E7BC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91A616-44C4-4172-BCB3-C2D2F1C16D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A11158A-9CBB-4F5A-B81C-89F2F6BEA9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B925B0F-2F42-4365-B79E-DEB6521C1D7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91C4454-0A0B-48BF-AB64-ADA9EBB392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6536b042e046aa" /><Relationship Type="http://schemas.openxmlformats.org/officeDocument/2006/relationships/slideLayout" Target="/ppt/slideLayouts/slideLayout1.xml" Id="R5fd239470d124bd8" /><Relationship Type="http://schemas.openxmlformats.org/officeDocument/2006/relationships/slideLayout" Target="/ppt/slideLayouts/slideLayout2.xml" Id="Rcdac8467ba944db6" /><Relationship Type="http://schemas.openxmlformats.org/officeDocument/2006/relationships/slideLayout" Target="/ppt/slideLayouts/slideLayout3.xml" Id="R0dbf9d6b78384c92" /><Relationship Type="http://schemas.openxmlformats.org/officeDocument/2006/relationships/slideLayout" Target="/ppt/slideLayouts/slideLayout4.xml" Id="R688101e3fdd0415f" /><Relationship Type="http://schemas.openxmlformats.org/officeDocument/2006/relationships/slideLayout" Target="/ppt/slideLayouts/slideLayout5.xml" Id="R2bd0175924ec4e01" /><Relationship Type="http://schemas.openxmlformats.org/officeDocument/2006/relationships/slideLayout" Target="/ppt/slideLayouts/slideLayout6.xml" Id="Rd8d3ce94702446eb" /><Relationship Type="http://schemas.openxmlformats.org/officeDocument/2006/relationships/slideLayout" Target="/ppt/slideLayouts/slideLayout7.xml" Id="R2481a0d512c84594" /><Relationship Type="http://schemas.openxmlformats.org/officeDocument/2006/relationships/slideLayout" Target="/ppt/slideLayouts/slideLayout8.xml" Id="Rb6c8143d35934776" /><Relationship Type="http://schemas.openxmlformats.org/officeDocument/2006/relationships/slideLayout" Target="/ppt/slideLayouts/slideLayout9.xml" Id="Rb2cd271ef7e54d9a" /><Relationship Type="http://schemas.openxmlformats.org/officeDocument/2006/relationships/slideLayout" Target="/ppt/slideLayouts/slideLayout10.xml" Id="R34a75ddb8bfb4405" /><Relationship Type="http://schemas.openxmlformats.org/officeDocument/2006/relationships/slideLayout" Target="/ppt/slideLayouts/slideLayout11.xml" Id="Rba96debb6e994f1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321528C-3964-403E-86FB-796BFA4A54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232091F-10B6-49B4-AC75-11DD415032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5BE6C51-669B-4405-B18D-25D6FE11C61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7B82A3F-5E1C-443F-AC1F-08DC0A62D8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3A2A5D-9BC5-4A12-B2D6-C50A75C4E5F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d239470d124bd8"/>
    <p:sldLayoutId xmlns:r="http://schemas.openxmlformats.org/officeDocument/2006/relationships" id="2147483650" r:id="Rcdac8467ba944db6"/>
    <p:sldLayoutId xmlns:r="http://schemas.openxmlformats.org/officeDocument/2006/relationships" id="2147483651" r:id="R0dbf9d6b78384c92"/>
    <p:sldLayoutId xmlns:r="http://schemas.openxmlformats.org/officeDocument/2006/relationships" id="2147483652" r:id="R688101e3fdd0415f"/>
    <p:sldLayoutId xmlns:r="http://schemas.openxmlformats.org/officeDocument/2006/relationships" id="2147483653" r:id="R2bd0175924ec4e01"/>
    <p:sldLayoutId xmlns:r="http://schemas.openxmlformats.org/officeDocument/2006/relationships" id="2147483654" r:id="Rd8d3ce94702446eb"/>
    <p:sldLayoutId xmlns:r="http://schemas.openxmlformats.org/officeDocument/2006/relationships" id="2147483655" r:id="R2481a0d512c84594"/>
    <p:sldLayoutId xmlns:r="http://schemas.openxmlformats.org/officeDocument/2006/relationships" id="2147483656" r:id="Rb6c8143d35934776"/>
    <p:sldLayoutId xmlns:r="http://schemas.openxmlformats.org/officeDocument/2006/relationships" id="2147483657" r:id="Rb2cd271ef7e54d9a"/>
    <p:sldLayoutId xmlns:r="http://schemas.openxmlformats.org/officeDocument/2006/relationships" id="2147483658" r:id="R34a75ddb8bfb4405"/>
    <p:sldLayoutId xmlns:r="http://schemas.openxmlformats.org/officeDocument/2006/relationships" id="2147483659" r:id="Rba96debb6e994f1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536b137c4dd4294" /><Relationship Type="http://schemas.openxmlformats.org/officeDocument/2006/relationships/notesSlide" Target="/ppt/notesSlides/notesSlide1.xml" Id="R7d2b012b588945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04bf6f01d240d2" /><Relationship Type="http://schemas.openxmlformats.org/officeDocument/2006/relationships/notesSlide" Target="/ppt/notesSlides/notesSlide2.xml" Id="R15ea5a5c61a348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254b3a4ef3412c" /><Relationship Type="http://schemas.openxmlformats.org/officeDocument/2006/relationships/notesSlide" Target="/ppt/notesSlides/notesSlide3.xml" Id="Rb5797553f33f42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68d2a516ee44e52" /><Relationship Type="http://schemas.openxmlformats.org/officeDocument/2006/relationships/notesSlide" Target="/ppt/notesSlides/notesSlide4.xml" Id="R75a86b55efef4e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226ad7d68c416b" /><Relationship Type="http://schemas.openxmlformats.org/officeDocument/2006/relationships/notesSlide" Target="/ppt/notesSlides/notesSlide5.xml" Id="R2cef748ffe164a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8e3a896f564451" /><Relationship Type="http://schemas.openxmlformats.org/officeDocument/2006/relationships/notesSlide" Target="/ppt/notesSlides/notesSlide6.xml" Id="R3450f42fbc4845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11531178ce4ad0" /><Relationship Type="http://schemas.openxmlformats.org/officeDocument/2006/relationships/notesSlide" Target="/ppt/notesSlides/notesSlide7.xml" Id="Ra6d73b66108b4d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23c49af02264b4c" /><Relationship Type="http://schemas.openxmlformats.org/officeDocument/2006/relationships/notesSlide" Target="/ppt/notesSlides/notesSlide8.xml" Id="R2e48078fd832453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61c83ab4b44106" /><Relationship Type="http://schemas.openxmlformats.org/officeDocument/2006/relationships/notesSlide" Target="/ppt/notesSlides/notesSlide9.xml" Id="R9d51438aae3c4e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2772b8163344b0" /><Relationship Type="http://schemas.openxmlformats.org/officeDocument/2006/relationships/notesSlide" Target="/ppt/notesSlides/notesSlide10.xml" Id="R3264b4ffab9b427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1c0dec03ae14d60" /><Relationship Type="http://schemas.openxmlformats.org/officeDocument/2006/relationships/notesSlide" Target="/ppt/notesSlides/notesSlide11.xml" Id="Rb965d1a4f09f46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e0ed94735344ad" /><Relationship Type="http://schemas.openxmlformats.org/officeDocument/2006/relationships/notesSlide" Target="/ppt/notesSlides/notesSlide12.xml" Id="R2c71e7e3b0cf426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B360A5E-D150-4826-BE0E-D3C1BCD2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81E7FF-122B-4BEA-9BA7-60E463F7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BE18854-8869-4800-BE28-D3521371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C788FC1-3E00-4B90-A2DC-4542C903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12-slide financing and technology assessment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BD726D6-4E83-4DEA-9F46-6AB6BF35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B3AB595-52B3-4D8D-A6CC-0BC94100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97F5A60-FC5F-4487-9BCA-02A93328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2026.07.22-9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D774118-D2BE-4E1E-BF1A-73CB7653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12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D20A22E-440B-465B-838F-8AD2E31A5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1267EA7-9E4A-4869-B096-BF1A8E20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7A79862-8BE2-4057-AF7E-335F4F05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75FEA72-D73F-4730-929C-70ECD7350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Financing thesis</a:t>
            </a:r>
          </a:p>
        </p:txBody>
      </p:sp>
    </p:spTree>
    <p:extLst>
      <p:ext uri="{BB962C8B-B14F-4D97-AF65-F5344CB8AC3E}">
        <p14:creationId xmlns:p14="http://schemas.microsoft.com/office/powerpoint/2010/main" val="113086653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9E04BCC-6912-477F-91A5-E3C1FA85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0D2A11-462D-4BF0-9910-D1C8D20F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problem lies as much in the evidence as in the technology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C331220-A23C-43D8-810B-DB7E97B5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9E364CF-CF0D-4548-93DF-709E9A86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42E0562-C5F3-488F-B7C1-A1CDE3F0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9A1F81A-140C-4A8A-9640-68C59375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32920F7-8902-4CDC-9EB7-4CC714E1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Broad market claims do not become lender-ready collateral without a country-specific rights, product, sales and cash-flow chain.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D8947A3-99C8-4290-B184-74EA1039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Market metrics are fragmented: shipments, taxes, litres and commercial estimates are not the same thing.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family publication does not prove current validity or absence of encumbrances.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court judgment alone does not prove paid damages or a global royalty base.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29CC2EF-2149-4399-A53F-4256C534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606F239-70E2-4961-BB74-BA06D4C9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Lender's core question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3613AE4-4565-4E86-80E3-E6BB9B2B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Which verified asset and cash flow covers the loan in a downside case?</a:t>
            </a:r>
          </a:p>
        </p:txBody>
      </p:sp>
    </p:spTree>
    <p:extLst>
      <p:ext uri="{BB962C8B-B14F-4D97-AF65-F5344CB8AC3E}">
        <p14:creationId xmlns:p14="http://schemas.microsoft.com/office/powerpoint/2010/main" val="177432984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90A9D2B-0272-4EAE-8655-2E5F5039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PATENTED 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69D36D0-4614-4C55-A82A-CAD3AD5C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solution controls vaporiser power based on measured resistance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B2C96EF-3290-46EC-B161-19535019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A61D7F-13F6-4C89-83EE-4461E505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8E36840-5754-43FC-ABC0-88B7AC5F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0F56736-3DD4-4799-B335-148D5A99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62A49D9-A749-431B-B419-49504B64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0648472-5620-45D9-8748-A7C57503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 is based on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power relationship is described as non-proportional.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User adjustment occurs between a non-zero minimum and a stored maximum.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E859AD5-A764-4D47-A234-814B0B77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0F7AC2B-0E06-41A1-BA7D-2DC6EB2E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0595FA7-EB98-48D3-ADDA-01166715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is a plain-language summary of the published patent specification. Only the operative claims in the relevant country and a product-specific claim chart are determinative.</a:t>
            </a:r>
          </a:p>
        </p:txBody>
      </p:sp>
    </p:spTree>
    <p:extLst>
      <p:ext uri="{BB962C8B-B14F-4D97-AF65-F5344CB8AC3E}">
        <p14:creationId xmlns:p14="http://schemas.microsoft.com/office/powerpoint/2010/main" val="84534635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2CE93BE-ADBC-4ECB-862B-B2F0783AA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 AND IP 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591052D-25BE-4196-A90B-A7A4F414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IP core is documented; country-level usability still requires reconciliation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BA39B5D-A1C4-4BAE-A655-6F530A84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E13B91A-B5E0-4C66-A81B-7D3E2F4F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23FDA40-8976-4774-9A70-D45A4F3D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7E8624-FEB4-4827-8806-B9B8E6D9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FEE5EB-B3E8-414D-8AB2-C7BC34CC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5CF180C-81AE-49D7-A434-057DB769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B25BC9C-1BE7-4871-9345-F5D9B125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 year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6BC7DBC-C411-4238-A2E3-B874B955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F69023B-E8EA-4D86-8E10-8CD1A0267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BB67B59-8AAC-4E4C-B698-4968C477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claims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C4EFC9F-3184-4102-A484-33BE00EF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9F4944F-D45D-48CB-AB00-D18604016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0861D56-0599-47A7-83B4-569016B3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09B05AE-ADB2-421B-B567-5757CD85D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 Register: patent maintained as amended after opposition; B2 published on 24 April 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ADFFBCF-7BCD-4DF6-899F-9001F190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346B84E-9753-4740-ACD7-17FDCB70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CBA330-93FC-407B-9357-3CDD5C4D5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Recorded proprietor in the public register: Pixan Oy. Current national validity, fees and encumbrances across the family have not yet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8267718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6B7EAC-2C94-4BD9-9986-AF972C286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TECHNICAL DIFFERENTIATION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BF86E35-5563-4AE4-8126-FE8F11D4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Technical differentiation lies in the claims — not product appearance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5898FD3-3A25-49CE-B920-14D0FB0B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C19A39-EB1E-44FB-8E9E-98338C77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4CA68FD-6331-439B-A51A-D2175C87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9286D33-8702-4EA0-BD5F-1042BE95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31E2B19-35B4-4CAF-99D8-2E610683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financing assessment must trace every material claim limitation to a product and country.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521DDAD-61E8-4A78-8349-C43A316F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patent specification provides a technical hypothesis and documented protection text.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the decision supports the link between certain products and claims 1 and 6.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Independent tests, teardown dossiers and claim charts for other countries are missing from the public evidence.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258EEAF-C4A5-4E05-8596-63B0FC2B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FF00502-8F67-4340-ACFC-FC78DEAD8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 chain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15F55C5-9B47-4E0B-8A18-FF20413D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Sample → chain of custody → teardown → measurement data → claim chart → counsel review → relevant sales.</a:t>
            </a:r>
          </a:p>
        </p:txBody>
      </p:sp>
    </p:spTree>
    <p:extLst>
      <p:ext uri="{BB962C8B-B14F-4D97-AF65-F5344CB8AC3E}">
        <p14:creationId xmlns:p14="http://schemas.microsoft.com/office/powerpoint/2010/main" val="43974280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005B68D-AE0C-4D76-953B-37F5476B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MARKET SIZE AND SCOPE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6B8F27-2A5B-4041-A84C-B772B3C8F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size is currently a range and a set of observations — not one number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7BF46F9-11F1-4C79-B283-669A6C23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352A9F5-46EA-4A1B-855C-5AA780F2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1C8D14-C37A-4E1B-AAFE-A8AA9461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Market-values;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F037393-1A3F-45F9-B68F-EE52205B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040D1AA-1B68-4C3E-9707-441F37AA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2573276-9B62-4918-AE23-732CA3DA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9B4FCAD-523A-42E9-B3F3-A5E6DCAF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country research rows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3C1D6E3-3D14-4EBE-A89F-ECBE29D5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3ECAC4B-244A-427C-A2A2-B7F47702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69C9A28-CA56-4695-8E15-61EE8F14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6CED7F8-4DA9-423C-9A8E-2BC49DD6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1048F51-C4A8-4693-9527-C65793D5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26.0–46.32bn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8E40494-F98D-46D0-9F98-A939D0F0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commercial global 2025 range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300B04D-0D8A-4D3A-914A-E024B8E2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Germany: the liquid model has low confidence and a range of EUR 667.92–1,654.62 million; it must not be presented as observed sales.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5EFEEC6-49F5-4F16-A96D-211E49F7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A6B2AC0-2F2B-42F9-B4BE-F827F6D6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8F8908A-8423-4CE6-B28D-EB380A5C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There are 0 accepted official national consumer-retail values. Atlas does not publish its own global estimate before the methodological gates are met.</a:t>
            </a:r>
          </a:p>
        </p:txBody>
      </p:sp>
    </p:spTree>
    <p:extLst>
      <p:ext uri="{BB962C8B-B14F-4D97-AF65-F5344CB8AC3E}">
        <p14:creationId xmlns:p14="http://schemas.microsoft.com/office/powerpoint/2010/main" val="209176749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19ACCB-EF61-45C2-B45C-4885222C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CUSTOMERS AND PURCHASE RATIONALE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C1D878C-1088-4EEF-B357-A03A3836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Customer demand still requires validation across three decision logics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CC36072-EBF5-4605-AFBB-A7F6C000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F616CDD-3157-4E4E-A673-3AD15686B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489B7CE-0DF9-4CAD-B1FB-8040E90E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15EBB6D-728E-4545-A3F6-7E34E030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F1927D9-C39C-4D6B-B686-02BFE999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Potential segments are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EFF9788-8605-456D-B49C-16A262C9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manufacturer buys freedom to operate, legal certainty or technology — if the relevant product and territory are established.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technology provider evaluates integrability, freedom to operate and unit economics.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financier evaluates title, realisable cash flow, control and downside value.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2270BF7-0A5D-4628-B55C-F2788787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22CAF19-5C90-40C2-8746-0C54926C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Current evidence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42D156A-6742-4B0D-A966-1B4378DD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public evidence does not confirm named customers, pilots, purchase intentions or signed licences.</a:t>
            </a:r>
          </a:p>
        </p:txBody>
      </p:sp>
    </p:spTree>
    <p:extLst>
      <p:ext uri="{BB962C8B-B14F-4D97-AF65-F5344CB8AC3E}">
        <p14:creationId xmlns:p14="http://schemas.microsoft.com/office/powerpoint/2010/main" val="145616316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5838485-BA9B-4BFE-9820-FF04DCDE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COMPETITION AND ALTERNATIVES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96FC13A-77DB-4D5B-967F-6C8E9B16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Distinguish competition, alternatives and patent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8A7D335-E36E-450A-B49F-C254719B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9E38D97-0C53-40E7-AE98-2B9106AC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545ABC-5580-4E21-9E69-CE639697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EBC5121-71EB-40DF-A519-A51F7F87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Benchmark 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solutions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Does the product solve the same problem differently?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families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there overlapping protection or FTO risk?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assignment, settlement or own use?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Assumption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Non-patented alternatives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by designing around the claims?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5207E0B-AD5A-4A0E-AF4B-DF1DBBAE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Competitor analysis is a material open workstream in the lender's technology assessment.</a:t>
            </a:r>
          </a:p>
        </p:txBody>
      </p:sp>
    </p:spTree>
    <p:extLst>
      <p:ext uri="{BB962C8B-B14F-4D97-AF65-F5344CB8AC3E}">
        <p14:creationId xmlns:p14="http://schemas.microsoft.com/office/powerpoint/2010/main" val="150427133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8707A51-AC8B-4565-B148-F320A886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VALIDATION AND CURRENT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A7523EA-6CB5-4E03-9E82-9B61F1C9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Uneven validation strength is explicitly classified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75521A9-D575-4948-A945-CF49FC0B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CA6D8FE-103D-463F-A0F2-C1645EB3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C0C99BE-AC89-4EC4-A4FC-69DE3B61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72FF125-E6A8-43CD-A5E3-0C6C8B61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Claim scope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Classification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exists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is missing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 Register and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 status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 proceedings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Two official decisions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Finality, enforcement, cash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Market observations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figures from 5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retail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testing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specification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test and raw 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evidence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Commercialisation framework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Customers, contracts,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676C966-82C7-4C46-98B5-F4747ADE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Proven legal evidence does not replace technical, commercial or financial validation.</a:t>
            </a:r>
          </a:p>
        </p:txBody>
      </p:sp>
    </p:spTree>
    <p:extLst>
      <p:ext uri="{BB962C8B-B14F-4D97-AF65-F5344CB8AC3E}">
        <p14:creationId xmlns:p14="http://schemas.microsoft.com/office/powerpoint/2010/main" val="133503244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D6C30C3-11C8-4FA3-9AF9-D6830DC0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COMMERCIALISATION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7B01BC-0B66-483A-937D-4446348A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proceeds through gates, not mass assertions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8842717-5575-45C8-A04C-5185DE2A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CF28730-9A1E-4283-94D7-04C55FE5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231FFC6-0A21-46CA-B478-5E20371C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6916373-0A9D-451E-9BA5-1456F580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DADE5A7-19AC-48DD-8796-7BFDD211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F5F5443-D284-4473-98B3-3320E2DE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89DC1F9-D136-46F3-8CDB-0950FC75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Rights matrix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10CF3A9-91AC-4D25-8999-E9B23B54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Confirm country, proprietor, fee payment, encumbrance, operative claims and deadlines.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7F877FC-D95D-4961-A07F-576ECCD2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A49E1BF-6B50-42ED-9B84-242AB046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70ACCFA-3D26-44DB-AE17-F226BF94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8EA758C-997C-4BF5-8767-F3971D54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Obtain a sample, document the chain and prepare a counsel-reviewed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3765DD77-6714-49BA-A032-7C26439E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FD89226-3768-4F10-8E98-74AEA401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05FE3E6-8331-4F72-84A5-F1AB0ADA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Target scoring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2620B82-038E-4EEF-A3DF-FFE8D2F5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rights, evidence, sales, counterparty, cost and enforcement.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C027390C-DFE1-4772-A617-3B531E1B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0EA7F01-F99C-49F2-9853-70E960DB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28DD6E2-CBA1-4F50-AAB1-37B8721C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Limited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30067A0-F501-4419-B6B8-680BD6D6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 a licence, settlement, assignment or financing route on auditable terms.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E593E4B-5C52-445E-BE5B-6FC55050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an executed contract or receivable creates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3907633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E232710-B184-4CCC-A1B2-309BA89E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FINANCIAL MODEL AND 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718CDD5-1624-4B2E-BCA9-B8940191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Evidence—not market share—must drive the model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2F6029-DC11-4B53-BCEB-00C75E64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D4F1229-0084-4FE6-A720-77DF2BB1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817350E-FF33-4D07-A37F-25CA27AC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84CE04D-9463-4D33-AE67-39738F36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Bridge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 to verify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country-level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 retail-value donors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Attributable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Validity × product × period × country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terms, costs, taxes, delay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 realisation and control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E1F9BA1-E041-4D6E-8269-C8B03165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Show downside/base/upside only after every bridge input has been documented.</a:t>
            </a:r>
          </a:p>
        </p:txBody>
      </p:sp>
    </p:spTree>
    <p:extLst>
      <p:ext uri="{BB962C8B-B14F-4D97-AF65-F5344CB8AC3E}">
        <p14:creationId xmlns:p14="http://schemas.microsoft.com/office/powerpoint/2010/main" val="12217374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8D087D5-3408-44A5-B2CC-37C97F7A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A64A17D-BB48-4FA0-BE76-DE0B0A9D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Financing decision only after four critical gaps are closed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AC9CD18-B141-4CBB-845C-AD01F7685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Counsel-signed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Claim charts for prioritised products and documented relevant sales.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Realised or contract-based cash flows and audited financial information.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Independent valuation and downside collateral analysis.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Next decision: approve a controlled 90-day diligence phase?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658B046-4307-4E7C-BEAA-E51D71ED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2026.07.22-9 · 2026-07-22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73AD958-5550-4C4F-8C2D-68AE7D30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Risks, controls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154944458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2026-07-22T20:28:18.5290000Z</dcterms:created>
  <dcterms:modified xsi:type="dcterms:W3CDTF">2026-07-22T20:28:18.5290000Z</dcterms:modified>
</coreProperties>
</file>