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e298b55b1d4fb1" /><Relationship Type="http://schemas.openxmlformats.org/officeDocument/2006/relationships/extended-properties" Target="/docProps/app.xml" Id="Re465d2de3b404a92" /><Relationship Type="http://schemas.openxmlformats.org/officeDocument/2006/relationships/officeDocument" Target="/ppt/presentation.xml" Id="R98b90994b1fe4a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d39a76bf074fe3"/>
  </p:sldMasterIdLst>
  <p:notesMasterIdLst>
    <p:notesMasterId xmlns:r="http://schemas.openxmlformats.org/officeDocument/2006/relationships" r:id="R6fb15ce85e7f44cc"/>
  </p:notesMasterIdLst>
  <p:sldIdLst>
    <p:sldId xmlns:r="http://schemas.openxmlformats.org/officeDocument/2006/relationships" id="256" r:id="R0806a344b4d84f46"/>
    <p:sldId xmlns:r="http://schemas.openxmlformats.org/officeDocument/2006/relationships" id="257" r:id="R42961c9e222a4b31"/>
    <p:sldId xmlns:r="http://schemas.openxmlformats.org/officeDocument/2006/relationships" id="258" r:id="R0c6306a5783a44d1"/>
    <p:sldId xmlns:r="http://schemas.openxmlformats.org/officeDocument/2006/relationships" id="259" r:id="Rc9cafd46ee2c44c0"/>
    <p:sldId xmlns:r="http://schemas.openxmlformats.org/officeDocument/2006/relationships" id="260" r:id="R5d7bc4a31c324ed5"/>
    <p:sldId xmlns:r="http://schemas.openxmlformats.org/officeDocument/2006/relationships" id="261" r:id="R14653efce29b44db"/>
    <p:sldId xmlns:r="http://schemas.openxmlformats.org/officeDocument/2006/relationships" id="262" r:id="R3a22fe0a42914ea3"/>
    <p:sldId xmlns:r="http://schemas.openxmlformats.org/officeDocument/2006/relationships" id="263" r:id="R4c8763fb5e0c4b23"/>
    <p:sldId xmlns:r="http://schemas.openxmlformats.org/officeDocument/2006/relationships" id="264" r:id="R76e6e6c8c7eb4307"/>
    <p:sldId xmlns:r="http://schemas.openxmlformats.org/officeDocument/2006/relationships" id="265" r:id="R0e094797a84b4ea3"/>
    <p:sldId xmlns:r="http://schemas.openxmlformats.org/officeDocument/2006/relationships" id="266" r:id="Rbd77954a3e294994"/>
    <p:sldId xmlns:r="http://schemas.openxmlformats.org/officeDocument/2006/relationships" id="267" r:id="R652ceafef9f144dc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ab6fec1dee4be8" /><Relationship Type="http://schemas.openxmlformats.org/officeDocument/2006/relationships/slideMaster" Target="/ppt/slideMasters/slideMaster1.xml" Id="R2dd39a76bf074fe3" /><Relationship Type="http://schemas.openxmlformats.org/officeDocument/2006/relationships/notesMaster" Target="/ppt/notesMasters/notesMaster1.xml" Id="R6fb15ce85e7f44cc" /><Relationship Type="http://schemas.openxmlformats.org/officeDocument/2006/relationships/presProps" Target="/ppt/presProps.xml" Id="R6ddd1b3f0eba4836" /><Relationship Type="http://schemas.openxmlformats.org/officeDocument/2006/relationships/viewProps" Target="/ppt/viewProps.xml" Id="R17156e25bc634e28" /><Relationship Type="http://schemas.openxmlformats.org/officeDocument/2006/relationships/tableStyles" Target="/ppt/tableStyles.xml" Id="R6381967ab3f84bc7" /><Relationship Type="http://schemas.openxmlformats.org/officeDocument/2006/relationships/slide" Target="/ppt/slides/slide1.xml" Id="R0806a344b4d84f46" /><Relationship Type="http://schemas.openxmlformats.org/officeDocument/2006/relationships/slide" Target="/ppt/slides/slide2.xml" Id="R42961c9e222a4b31" /><Relationship Type="http://schemas.openxmlformats.org/officeDocument/2006/relationships/slide" Target="/ppt/slides/slide3.xml" Id="R0c6306a5783a44d1" /><Relationship Type="http://schemas.openxmlformats.org/officeDocument/2006/relationships/slide" Target="/ppt/slides/slide4.xml" Id="Rc9cafd46ee2c44c0" /><Relationship Type="http://schemas.openxmlformats.org/officeDocument/2006/relationships/slide" Target="/ppt/slides/slide5.xml" Id="R5d7bc4a31c324ed5" /><Relationship Type="http://schemas.openxmlformats.org/officeDocument/2006/relationships/slide" Target="/ppt/slides/slide6.xml" Id="R14653efce29b44db" /><Relationship Type="http://schemas.openxmlformats.org/officeDocument/2006/relationships/slide" Target="/ppt/slides/slide7.xml" Id="R3a22fe0a42914ea3" /><Relationship Type="http://schemas.openxmlformats.org/officeDocument/2006/relationships/slide" Target="/ppt/slides/slide8.xml" Id="R4c8763fb5e0c4b23" /><Relationship Type="http://schemas.openxmlformats.org/officeDocument/2006/relationships/slide" Target="/ppt/slides/slide9.xml" Id="R76e6e6c8c7eb4307" /><Relationship Type="http://schemas.openxmlformats.org/officeDocument/2006/relationships/slide" Target="/ppt/slides/slide10.xml" Id="R0e094797a84b4ea3" /><Relationship Type="http://schemas.openxmlformats.org/officeDocument/2006/relationships/slide" Target="/ppt/slides/slide11.xml" Id="Rbd77954a3e294994" /><Relationship Type="http://schemas.openxmlformats.org/officeDocument/2006/relationships/slide" Target="/ppt/slides/slide12.xml" Id="R652ceafef9f144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175ed02f5641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fd416743fa4e9e" /><Relationship Type="http://schemas.openxmlformats.org/officeDocument/2006/relationships/notesMaster" Target="/ppt/notesMasters/notesMaster1.xml" Id="R303f8630abc14e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12a35f01d044ed" /><Relationship Type="http://schemas.openxmlformats.org/officeDocument/2006/relationships/notesMaster" Target="/ppt/notesMasters/notesMaster1.xml" Id="R4d014ffad4fc45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b10f748c134175" /><Relationship Type="http://schemas.openxmlformats.org/officeDocument/2006/relationships/notesMaster" Target="/ppt/notesMasters/notesMaster1.xml" Id="Rc41a800019bc4e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9b1d6554ca54842" /><Relationship Type="http://schemas.openxmlformats.org/officeDocument/2006/relationships/notesMaster" Target="/ppt/notesMasters/notesMaster1.xml" Id="R64446809322844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819007be754b8b" /><Relationship Type="http://schemas.openxmlformats.org/officeDocument/2006/relationships/notesMaster" Target="/ppt/notesMasters/notesMaster1.xml" Id="R8e9ebe64994348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b616744c9a44e2" /><Relationship Type="http://schemas.openxmlformats.org/officeDocument/2006/relationships/notesMaster" Target="/ppt/notesMasters/notesMaster1.xml" Id="Rb5c5c54291214b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79600460e9a4c7e" /><Relationship Type="http://schemas.openxmlformats.org/officeDocument/2006/relationships/notesMaster" Target="/ppt/notesMasters/notesMaster1.xml" Id="Rbdd69340071c40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adade6ec5d48b8" /><Relationship Type="http://schemas.openxmlformats.org/officeDocument/2006/relationships/notesMaster" Target="/ppt/notesMasters/notesMaster1.xml" Id="R7f768bc2c2aa433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86b0a92bb9495d" /><Relationship Type="http://schemas.openxmlformats.org/officeDocument/2006/relationships/notesMaster" Target="/ppt/notesMasters/notesMaster1.xml" Id="R591f52b894c342f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b426a36594b47d7" /><Relationship Type="http://schemas.openxmlformats.org/officeDocument/2006/relationships/notesMaster" Target="/ppt/notesMasters/notesMaster1.xml" Id="Ra9180c29259a49d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28d9881f4a247d8" /><Relationship Type="http://schemas.openxmlformats.org/officeDocument/2006/relationships/notesMaster" Target="/ppt/notesMasters/notesMaster1.xml" Id="Rd0861ddb1ad5404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2a9ce1148764f7c" /><Relationship Type="http://schemas.openxmlformats.org/officeDocument/2006/relationships/notesMaster" Target="/ppt/notesMasters/notesMaster1.xml" Id="R5e4d52aa4e0d4f5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53639536bc408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780183276a4f8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62cd40e3b64d8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8c349ddf7f47c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626a96ed64408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83fbd33e49480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7c4b6d26234c0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ed3c5f1e1e45d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00f897ad72447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41304e06fd41c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7b7dea10a4e4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BBFE7C-DBFA-470B-BB5E-365F06FA20F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F5F6946-4A14-4457-AEC8-423F9843691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8D10F0-FD90-4D7C-8CBE-72CE793202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D2BF74F-AD15-4FBE-BA9D-72428C00D52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7996F79-7E29-48E3-B575-CEAFE14870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A6D6B12-972F-4BF8-8986-537761FE90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4711D23-046A-4393-A053-01E58F16CA1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56A6D75-3147-44D6-9A35-F6100BA00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BA0E1E-00BF-45E5-A2FF-5E81F13CFC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57A503E-8156-425A-8032-5A84E62757F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AF9A4E-73C5-4533-ABF7-DBD4C086EE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6559FC3-7A89-4ADD-9E6E-1974A0CF0A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BDEBBB-507F-4F32-B2EC-A9937B1F6D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8A3805-8E7C-41CF-9919-6A015C97B7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D852A1-38CD-407B-9D80-C261691D06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FBE63F5-11DC-4640-B8F3-2F4AB3775C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6023A5-6E4F-4F4D-8759-519968AD86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85A32B0-C75C-40C4-800A-FCE07AC1654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FB8BB0-2565-4B95-9229-F625542F05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68F1B1E-4AE4-41ED-935C-0323328908F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EADCC5F-615D-405F-8CD5-C0584CA6F4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EC4B6BD-A440-43B1-8869-D1E9A21DD3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52EDBEE-2592-4A22-BBF0-063F6A1D4D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E1D6DC3-5B4B-4157-9FB4-600A5AFA54D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88A2D52-7098-4F32-B6B0-01A3D03D8AA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B5D52EF-03CD-41AC-99A4-2F9C85529D4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32AA920-5003-4D7C-A44F-42F58F0265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6C8AAC-3B78-4CE8-91FE-3D0006DD45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E2600CD-856B-434D-ABBE-BFE6253E61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C61D64F-B30D-4BA0-A21F-1CC15B7F74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62E158F-8BA7-4BF5-9F01-BBA401138B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65CC351-BB6A-45F4-9A61-AD47C3839F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5A4345A-30BF-4970-9DEF-8E73C73C6E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47E472B-D08E-4ED1-83FD-0672785E65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A3AC2B7-ABDD-4A54-9756-0C35EF522D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2F0F556-8B4C-4CD0-B4B9-CC03FD7750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580994E-4B99-409B-BBA2-37831CF053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854A9BB-C4A6-4486-8F3D-87FE7CCD30D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72DADCC-DD06-4F54-9C47-33FEFADC5F8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A4B98CF-CD53-47AC-B5F3-068434BCF3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7E2E31-69CC-4875-A695-E5633FB3CE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C8719C-E6E6-4BF4-A250-A02C0EA985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B6FCF95-962D-48C7-87EA-7D09553CC8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CE24CF6-E45D-4408-B992-D31A3B65653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93D3B57-72C4-456C-953F-500AB22D5D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581BAA7-DE87-479F-825C-02FFE2EFE8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B341CB6-0185-4D11-8CA4-7921238619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5D3F275-CF17-485B-B116-393F6D5710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EB391-6631-4CB3-8591-930E5C0A74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905449-0E7E-415D-9EBD-6EE1FE3E2D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5573B2-5444-40DD-84D7-B71F77C446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3900B-1CE5-4C71-A57F-D1E44429870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817155A-3263-4612-9FE6-C0458CE318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CAAE2FE-FA3E-4456-B901-6A0B25C1B1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FA47AE-7046-42BB-945F-C0729FB62D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BC7815-0188-4C93-9AC6-CBC8CA9791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34D1E8F-9B03-43FA-B3F4-23D5D31732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88F74F-C99F-4B1A-80EE-18F4A51DBE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6c076bbec6423d" /><Relationship Type="http://schemas.openxmlformats.org/officeDocument/2006/relationships/slideLayout" Target="/ppt/slideLayouts/slideLayout1.xml" Id="R2d2e2f9a908d4811" /><Relationship Type="http://schemas.openxmlformats.org/officeDocument/2006/relationships/slideLayout" Target="/ppt/slideLayouts/slideLayout2.xml" Id="Rde1ee6fc8e654625" /><Relationship Type="http://schemas.openxmlformats.org/officeDocument/2006/relationships/slideLayout" Target="/ppt/slideLayouts/slideLayout3.xml" Id="Rff161c55e3064d95" /><Relationship Type="http://schemas.openxmlformats.org/officeDocument/2006/relationships/slideLayout" Target="/ppt/slideLayouts/slideLayout4.xml" Id="R00e08159031348fd" /><Relationship Type="http://schemas.openxmlformats.org/officeDocument/2006/relationships/slideLayout" Target="/ppt/slideLayouts/slideLayout5.xml" Id="R33bff2c954dd4bc5" /><Relationship Type="http://schemas.openxmlformats.org/officeDocument/2006/relationships/slideLayout" Target="/ppt/slideLayouts/slideLayout6.xml" Id="R5a4cfa48ffb041f7" /><Relationship Type="http://schemas.openxmlformats.org/officeDocument/2006/relationships/slideLayout" Target="/ppt/slideLayouts/slideLayout7.xml" Id="R224e981c582d4256" /><Relationship Type="http://schemas.openxmlformats.org/officeDocument/2006/relationships/slideLayout" Target="/ppt/slideLayouts/slideLayout8.xml" Id="R4146ffe46e9f4451" /><Relationship Type="http://schemas.openxmlformats.org/officeDocument/2006/relationships/slideLayout" Target="/ppt/slideLayouts/slideLayout9.xml" Id="R0d1076853a464690" /><Relationship Type="http://schemas.openxmlformats.org/officeDocument/2006/relationships/slideLayout" Target="/ppt/slideLayouts/slideLayout10.xml" Id="R371bd2309c254ddf" /><Relationship Type="http://schemas.openxmlformats.org/officeDocument/2006/relationships/slideLayout" Target="/ppt/slideLayouts/slideLayout11.xml" Id="R70d4c26d405a4f2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4465F11-837C-4EF2-8147-2C3F41FA98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2DEF6D8-EA80-48DB-9CC0-EB20AEA553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45BB857-9D3C-4D42-82E2-ECA9C6FEAC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CF0F6EB-056B-49A6-848B-C6D7F00F923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E769C4-7CCA-48D6-BA11-49DBD762DB7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2e2f9a908d4811"/>
    <p:sldLayoutId xmlns:r="http://schemas.openxmlformats.org/officeDocument/2006/relationships" id="2147483650" r:id="Rde1ee6fc8e654625"/>
    <p:sldLayoutId xmlns:r="http://schemas.openxmlformats.org/officeDocument/2006/relationships" id="2147483651" r:id="Rff161c55e3064d95"/>
    <p:sldLayoutId xmlns:r="http://schemas.openxmlformats.org/officeDocument/2006/relationships" id="2147483652" r:id="R00e08159031348fd"/>
    <p:sldLayoutId xmlns:r="http://schemas.openxmlformats.org/officeDocument/2006/relationships" id="2147483653" r:id="R33bff2c954dd4bc5"/>
    <p:sldLayoutId xmlns:r="http://schemas.openxmlformats.org/officeDocument/2006/relationships" id="2147483654" r:id="R5a4cfa48ffb041f7"/>
    <p:sldLayoutId xmlns:r="http://schemas.openxmlformats.org/officeDocument/2006/relationships" id="2147483655" r:id="R224e981c582d4256"/>
    <p:sldLayoutId xmlns:r="http://schemas.openxmlformats.org/officeDocument/2006/relationships" id="2147483656" r:id="R4146ffe46e9f4451"/>
    <p:sldLayoutId xmlns:r="http://schemas.openxmlformats.org/officeDocument/2006/relationships" id="2147483657" r:id="R0d1076853a464690"/>
    <p:sldLayoutId xmlns:r="http://schemas.openxmlformats.org/officeDocument/2006/relationships" id="2147483658" r:id="R371bd2309c254ddf"/>
    <p:sldLayoutId xmlns:r="http://schemas.openxmlformats.org/officeDocument/2006/relationships" id="2147483659" r:id="R70d4c26d405a4f2c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11df4fe4c0437f" /><Relationship Type="http://schemas.openxmlformats.org/officeDocument/2006/relationships/notesSlide" Target="/ppt/notesSlides/notesSlide1.xml" Id="R9118ed916fda4d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d80c847efd4d13" /><Relationship Type="http://schemas.openxmlformats.org/officeDocument/2006/relationships/notesSlide" Target="/ppt/notesSlides/notesSlide2.xml" Id="R5eef71ef6f5646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54bc33bcd34746" /><Relationship Type="http://schemas.openxmlformats.org/officeDocument/2006/relationships/notesSlide" Target="/ppt/notesSlides/notesSlide3.xml" Id="R4e28c713e7c343e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24edca29134fc4" /><Relationship Type="http://schemas.openxmlformats.org/officeDocument/2006/relationships/notesSlide" Target="/ppt/notesSlides/notesSlide4.xml" Id="Ra9996e4f2a954c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544f48107d45ea" /><Relationship Type="http://schemas.openxmlformats.org/officeDocument/2006/relationships/notesSlide" Target="/ppt/notesSlides/notesSlide5.xml" Id="Rcf5c9c6bc41d43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ac7306d9f1473d" /><Relationship Type="http://schemas.openxmlformats.org/officeDocument/2006/relationships/notesSlide" Target="/ppt/notesSlides/notesSlide6.xml" Id="Ra666aaf93f0147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6f8a94ee82437d" /><Relationship Type="http://schemas.openxmlformats.org/officeDocument/2006/relationships/notesSlide" Target="/ppt/notesSlides/notesSlide7.xml" Id="R660f4e0a0ec54b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9f183236de4130" /><Relationship Type="http://schemas.openxmlformats.org/officeDocument/2006/relationships/notesSlide" Target="/ppt/notesSlides/notesSlide8.xml" Id="R36bcbe6db951463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a9c1ea1bbc4bf5" /><Relationship Type="http://schemas.openxmlformats.org/officeDocument/2006/relationships/notesSlide" Target="/ppt/notesSlides/notesSlide9.xml" Id="Reff00ebb208d48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4242b5f4e941ee" /><Relationship Type="http://schemas.openxmlformats.org/officeDocument/2006/relationships/notesSlide" Target="/ppt/notesSlides/notesSlide10.xml" Id="Rc7ad34335df843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0fa564b6fe4c05" /><Relationship Type="http://schemas.openxmlformats.org/officeDocument/2006/relationships/notesSlide" Target="/ppt/notesSlides/notesSlide11.xml" Id="Ra65eb68bac9f453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1f404ccc24429a" /><Relationship Type="http://schemas.openxmlformats.org/officeDocument/2006/relationships/notesSlide" Target="/ppt/notesSlides/notesSlide12.xml" Id="Rf758f875ad7843a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33313A9-8C61-45BD-A679-81A5BB82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6D0CAC7-D42A-4246-BD02-044D22E9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A9A632E-D226-46D2-B3A3-DBEEE2F1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2C3EA56-09CA-48D4-8497-54E82494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12-slide financing and technology assessment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AF2F06F-53FB-4A11-AA68-2C1D0EE3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CD8DDBF-45CF-4A11-B058-E149E713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83C5A7C-D122-4FFC-A8CE-92735401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0670456-9B08-4FC5-884E-EF27703C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F4A8B76-B969-4DD0-BFC7-70DE3BCD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1338F63-93E3-4228-81BA-103F79FB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DD0B23B-E8AB-49F7-ADFB-2D129F32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05ADC1E-83AB-4973-9F4E-0084D93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Financing thesis</a:t>
            </a:r>
          </a:p>
        </p:txBody>
      </p:sp>
    </p:spTree>
    <p:extLst>
      <p:ext uri="{BB962C8B-B14F-4D97-AF65-F5344CB8AC3E}">
        <p14:creationId xmlns:p14="http://schemas.microsoft.com/office/powerpoint/2010/main" val="115488484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67A43E-5A61-491E-89A4-753A16D9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26E3E5-75BD-4DD2-AAA0-DED6F9F6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problem lies as much in the evidence as in the technology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486994F-1EEB-4B68-9969-99FB432A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A7CDB6-7735-42F9-A1D0-817A3B29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FBD1525-2F1B-4225-9FD8-6D968A5E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DF2B85-B855-4478-9777-5D005B5B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178739E-44DA-4924-9E48-8A32183C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Broad market claims do not become lender-ready collateral without a country-specific rights, product, sales and cash-flow chain.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215C51C-7765-436D-A60A-E71A7618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metrics are fragmented: shipments, taxes, litres and commercial estimates are not the same thing.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family publication does not prove current validity or absence of encumbrances.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court judgment alone does not prove paid damages or a global royalty base.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684253C-0552-499A-A904-E40E100B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F361F45-7044-4CA8-A2DD-E5AA7FB7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Lender's core question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9110566-59EE-4419-8CC9-25ED6B71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Which verified asset and cash flow covers the loan in a downside case?</a:t>
            </a:r>
          </a:p>
        </p:txBody>
      </p:sp>
    </p:spTree>
    <p:extLst>
      <p:ext uri="{BB962C8B-B14F-4D97-AF65-F5344CB8AC3E}">
        <p14:creationId xmlns:p14="http://schemas.microsoft.com/office/powerpoint/2010/main" val="107049316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2001C6E-900B-407F-B474-12587BB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PATENTED 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E185EB-68DA-4228-963A-0E73452F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solution controls vaporiser power based on measured resistance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8E0E469-99AA-42DF-A082-9C8F87C2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95881EC-33F1-42E4-AEAE-AC281787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E42AD2-D7DB-4630-B582-64068804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EE80CE9-20A2-4D49-9730-3A60CDFD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DD01F8C-12D3-45B0-8CBC-5C8FF45F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0018251-8853-4CE8-8A3C-DB974269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 is based on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power relationship is described as non-proportional.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User adjustment occurs between a non-zero minimum and a stored maximum.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22055E6-0E50-4C10-9EB9-5EB1F237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BE42DFF-5C0C-4660-B833-37F5640F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3ABABF5-3C6B-4E87-8AB9-E2F6FCCF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is a plain-language summary of the published patent specification. Only the operative claims in the relevant country and a product-specific claim chart are determinative.</a:t>
            </a:r>
          </a:p>
        </p:txBody>
      </p:sp>
    </p:spTree>
    <p:extLst>
      <p:ext uri="{BB962C8B-B14F-4D97-AF65-F5344CB8AC3E}">
        <p14:creationId xmlns:p14="http://schemas.microsoft.com/office/powerpoint/2010/main" val="56750712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59C23C0-7384-4161-8D4F-D3206C59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 AND IP 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827838-98CE-46C8-9F31-BD2A44AE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IP core is documented; country-level usability still requires reconciliation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DD582B1-0B6A-4405-B9BE-305F80CE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475F675-CA63-4F0A-B17D-D9943C22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E68C2CE-72F9-4D1A-81C0-61FE8EA2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3ADAD7E-DC12-464D-AE6A-E89317C8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5BC6E2A-4A73-44A5-BBBE-618DFAD3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24858EA-D907-4C6B-B67F-8CE9CA44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B6D662C-13EC-498B-AEFF-9CAE5F30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 year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9F19166-6EF5-4FD3-B134-CADD53D0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304F7C9-F172-450C-AF2D-9FD065B8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B01F8E9-F47A-4F00-88EE-510BD2AD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claims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680A569-4346-4811-BF89-1748228D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F7F3D94-2E17-46E0-B9C3-A009FA02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510154F-74F7-4112-A39E-2D74E8C8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F922B05-90B2-4C83-9D3F-B5EE7AFF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 Register: patent maintained as amended after opposition; B2 published on 24 April 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714CCF9-9132-4FA8-B021-59112934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C69826C-7708-4581-9DE8-4B8BE8E8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7DFBA14-95A8-492A-BDC4-9B73F52B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Recorded proprietor in the public register: Pixan Oy. Current national validity, fees and encumbrances across the family have not yet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6609213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B6CE26A-56CA-4EB4-8FD1-607AAD93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TECHNICAL DIFFERENTIATION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B497AC-5EE1-449A-9336-ECBC46EF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Technical differentiation lies in the claims — not product appearance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4EA1D-2021-43A6-95AE-D0AC405A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F9D81A9-585B-46FB-9551-5DA9306E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B6F8DEA-9F9F-46FD-B354-B2F66437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9D7AFEC-BD93-47E2-8585-058C0E68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D497F52-738B-4F3E-ABB0-AD31C634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financing assessment must trace every material claim limitation to a product and country.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F47237E-66E2-496B-A084-DF75CDF88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patent specification provides a technical hypothesis and documented protection text.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the decision supports the link between certain products and claims 1 and 6.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Independent tests, teardown dossiers and claim charts for other countries are missing from the public evidence.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4CFE299-1B49-451E-BDA9-3786264E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AD639C6-5B05-48B2-8521-8F8ECB34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 chain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70BB94E-84B6-426C-B603-37079C55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Sample → chain of custody → teardown → measurement data → claim chart → counsel review → relevant sales.</a:t>
            </a:r>
          </a:p>
        </p:txBody>
      </p:sp>
    </p:spTree>
    <p:extLst>
      <p:ext uri="{BB962C8B-B14F-4D97-AF65-F5344CB8AC3E}">
        <p14:creationId xmlns:p14="http://schemas.microsoft.com/office/powerpoint/2010/main" val="172935047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3251B6E-567D-464D-91EC-CC818B68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MARKET SIZE AND SCOPE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2D37280-31C4-41C2-A347-794C51E0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8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size remains a range — not a single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FC4DED-36EE-48BC-BEA4-500B5549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AEEFD81-A7EB-4EFE-8181-96A68C289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B043428-E3C8-4EA4-9A0C-9A5A6E66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Statistics Canada; Market-values; FTC;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4E1CEFF-C6D6-46B5-9510-E58A5775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B37E6A4-9872-4AB5-8D87-FC008E8E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F4EE265-DF59-492F-9AAE-402D335F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5AC71B1-5CA8-4768-BEC5-0F1CEC59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annual observations from 7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56B7B6E-BC7B-4706-A68E-C512AB58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64B19AF-803E-49D7-848C-66012A20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533.7–731.2m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B859EE5-340B-45E2-9968-FFE97DB7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≈EUR 298.5–408.9m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66804AA-5D23-41DF-BDE1-B712D6F5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F79686D-7671-47F3-B8DE-7B71F04C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10994E7-CBAB-4480-8582-459A2016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6C23826-0A80-455D-862D-348E01F1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candidates remain outside the D1–D10 gate; the accepted-donor count is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B77E487-9ACC-49B2-9EFF-15A73824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431A1FC-6A70-4B68-BDFF-A9334ADD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77332C2-C4F0-4277-B4D2-378810A1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1216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2024: retail CAD 1.219bn (≈EUR 822.6m; ECB 2024); shipments CAD 1.161bn (≈EUR 783.2m; ECB 2024); all retail quarters quality E and bridge open. FTC 2021 USD 2.763bn (≈EUR 2.336bn; ECB 2021) is manufacturer reporting. Do not sum the routes.</a:t>
            </a:r>
          </a:p>
        </p:txBody>
      </p:sp>
    </p:spTree>
    <p:extLst>
      <p:ext uri="{BB962C8B-B14F-4D97-AF65-F5344CB8AC3E}">
        <p14:creationId xmlns:p14="http://schemas.microsoft.com/office/powerpoint/2010/main" val="13421308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C2DD201-BB1E-4AA6-903D-8069E34C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CUSTOMERS AND PURCHASE RATIONALE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8841C0-BBDA-4209-8916-80FA0873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Customer demand still requires validation across three decision logics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E53A31A-0979-4EBF-B14E-C0C5E2C0D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DB60502-C357-403B-B3CF-BC6F7DDB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D71EBB3-58D7-4092-931D-0A2156A0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0046C0D-CC03-490F-8C6C-7AB05121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3845A80-8FA2-4B09-9ACE-64D253F1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Potential segments are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81FBA63-92E2-4304-91E0-52E80D5A8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manufacturer buys freedom to operate, legal certainty or technology — if the relevant product and territory are established.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technology provider evaluates integrability, freedom to operate and unit economics.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financier evaluates title, realisable cash flow, control and downside value.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ECF484F-7EB1-428A-B319-71894844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21F958-89D8-4238-B488-9E51DC19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Current evidence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709E45-9F06-4BC6-8A3D-CE1FBC8D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public evidence does not confirm named customers, pilots, purchase intentions or signed licences.</a:t>
            </a:r>
          </a:p>
        </p:txBody>
      </p:sp>
    </p:spTree>
    <p:extLst>
      <p:ext uri="{BB962C8B-B14F-4D97-AF65-F5344CB8AC3E}">
        <p14:creationId xmlns:p14="http://schemas.microsoft.com/office/powerpoint/2010/main" val="108608814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28F889-76C9-43DF-A985-4905321F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COMPETITION AND ALTERNATIVES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81AE82B-51A4-494E-808F-A0159961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Distinguish competition, alternatives and patent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8B4AE7F-7264-47F3-9393-F646E404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F03936-FCFD-478F-A7C0-2E1A801CB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EC4B82-B246-41AC-8373-916177F5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D77794C-6899-45C2-B9D2-36A8136F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Benchmark 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solutions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Does the product solve the same problem differently?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families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there overlapping protection or FTO risk?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assignment, settlement or own use?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Assumption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Non-patented alternatives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by designing around the claims?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BD34ABC-F449-40F8-8D99-8FDD8746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Competitor analysis is a material open workstream in the lender's technology assessment.</a:t>
            </a:r>
          </a:p>
        </p:txBody>
      </p:sp>
    </p:spTree>
    <p:extLst>
      <p:ext uri="{BB962C8B-B14F-4D97-AF65-F5344CB8AC3E}">
        <p14:creationId xmlns:p14="http://schemas.microsoft.com/office/powerpoint/2010/main" val="105270870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E39133-FA70-481D-A709-D7F650C5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VALIDATION AND CURRENT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AF4194-8D94-43AA-89AB-49709177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Uneven validation strength is explicitly classified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E59D0FD-DC0D-40B8-88D7-82B40342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B064590-C23E-4985-B9AF-A42F8620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BBE4B1-0270-420B-A628-E30AE04B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C23BA76-D55A-43C1-B179-1C5D241E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Claim scope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Classification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exists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is missing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 Register and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 status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 proceedings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Two official decisions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Finality, enforcement, cash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Market observations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routes from 7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retail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testing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specification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test and raw 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Commercialisation framework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Customers, contracts,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7F3F397-0DB9-4D36-9B7E-438558D9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Proven legal evidence does not replace technical, commercial or financial validation.</a:t>
            </a:r>
          </a:p>
        </p:txBody>
      </p:sp>
    </p:spTree>
    <p:extLst>
      <p:ext uri="{BB962C8B-B14F-4D97-AF65-F5344CB8AC3E}">
        <p14:creationId xmlns:p14="http://schemas.microsoft.com/office/powerpoint/2010/main" val="4410034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5D5A351-87D5-4FC0-8C4E-AF27DA02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COMMERCIALISATION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ADF16A6-6735-461A-8CF2-DD6D7861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proceeds through gates, not mass assertions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14F9F99-B660-497D-89AB-585E2B0A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8F04C8-0DC6-4B31-9B6D-1314443C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E5B3EE-F0EB-4001-982E-0E5DE9F6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436EB6-8026-4C4B-A7FD-A4A63D8F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D62F44C-6DEB-4925-BEE2-AFD1F870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A66CC8-6216-404C-80A6-F2870100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346A864-467E-4542-82EB-4FD9ED80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Rights matrix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17B3E55-4840-45AF-A469-B69553D0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Confirm country, proprietor, fee payment, encumbrance, operative claims and deadlines.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B6CFC91-F9AC-4295-A6BE-3ED4C3D0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02EDA-CF60-4E81-847C-60FE9801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AD15083-27F4-476A-9FA4-1C0F7C41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99C5490-1317-48C7-B946-7467C1DA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Obtain a sample, document the chain and prepare a counsel-reviewed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6B3FDE2C-B09D-4AFA-94FA-16DB5A29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78C1ED0-982F-4BDE-84E5-9DFAC1D0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887F29E-C434-415B-8879-3BF38E73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Target scoring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6BCFA66-0DA3-483B-84C5-1FC53575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rights, evidence, sales, counterparty, cost and enforcement.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4306ECA0-90E7-4A46-873E-26BAC25C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6F88424-872A-45FD-82BB-250164F2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FCA070D-90EA-462B-A7EB-04DAFE72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Limited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CED04BC-19DF-4720-AEF6-3FD9869D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 a licence, settlement, assignment or financing route on auditable terms.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E2454E64-C7FE-478A-9870-9CF14CF6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an executed contract or receivable creates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32652215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C9FF91-E197-46A2-ADD7-E9610F3C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FINANCIAL MODEL AND 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67D8C65-E0B4-49B2-99A8-AA09061D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Evidence—not market share—must drive the model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B1C45C-EA35-45B3-A6F3-668A1E69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FE10D64-8E9D-4DBC-A986-1AFC86E4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D9303A9-DDC6-423D-80DA-AA3A9C83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2026.07.24-21 · 2026-07-24 · Sources: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9359D59-9144-49B7-9007-E086CCCC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Bridge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to verify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country-level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0/3 retail-value donors; 5 candidates remain outside the D1–D10 gate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Attributable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Validity × product × period × country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terms, costs, taxes, delay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 realisation and control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894190B-4748-4B21-B94A-47358E00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Show downside/base/upside only after every bridge input has been documented.</a:t>
            </a:r>
          </a:p>
        </p:txBody>
      </p:sp>
    </p:spTree>
    <p:extLst>
      <p:ext uri="{BB962C8B-B14F-4D97-AF65-F5344CB8AC3E}">
        <p14:creationId xmlns:p14="http://schemas.microsoft.com/office/powerpoint/2010/main" val="11673851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1935346-65F8-40EF-96B5-5BCD4F00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745E78-C693-454C-8CCD-F4F95F61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Financing decision only after four critical gaps are closed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456030F-8591-467A-8E4B-451B1B7B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Counsel-signed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Claim charts for prioritised products and documented relevant sales.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Realised or contract-based cash flows and audited financial information.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Independent valuation and downside collateral analysis.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Next decision: approve a controlled 90-day diligence phase?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EBEFC98-2B6A-44AA-833B-A57B36CA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2026.07.24-21 · 2026-07-24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58CA37-63A1-4AFB-B100-8257B2DB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Risks, controls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15612691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2026-07-24T13:59:13.6100000Z</dcterms:created>
  <dcterms:modified xsi:type="dcterms:W3CDTF">2026-07-24T13:59:13.6100000Z</dcterms:modified>
</coreProperties>
</file>