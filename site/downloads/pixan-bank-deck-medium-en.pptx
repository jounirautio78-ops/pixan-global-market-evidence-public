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0f39ce22bd4728" /><Relationship Type="http://schemas.openxmlformats.org/officeDocument/2006/relationships/extended-properties" Target="/docProps/app.xml" Id="R07f79cd157224176" /><Relationship Type="http://schemas.openxmlformats.org/officeDocument/2006/relationships/officeDocument" Target="/ppt/presentation.xml" Id="Rb653836dbdaa4c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fa7083be4b4b30"/>
  </p:sldMasterIdLst>
  <p:notesMasterIdLst>
    <p:notesMasterId xmlns:r="http://schemas.openxmlformats.org/officeDocument/2006/relationships" r:id="R1257e6d53d7b46f2"/>
  </p:notesMasterIdLst>
  <p:sldIdLst>
    <p:sldId xmlns:r="http://schemas.openxmlformats.org/officeDocument/2006/relationships" id="256" r:id="Rf615dc3adac348eb"/>
    <p:sldId xmlns:r="http://schemas.openxmlformats.org/officeDocument/2006/relationships" id="257" r:id="Rdd7b9d47e0bb4448"/>
    <p:sldId xmlns:r="http://schemas.openxmlformats.org/officeDocument/2006/relationships" id="258" r:id="Rf3cfe9b732694445"/>
    <p:sldId xmlns:r="http://schemas.openxmlformats.org/officeDocument/2006/relationships" id="259" r:id="Rd6be21e0ab174734"/>
    <p:sldId xmlns:r="http://schemas.openxmlformats.org/officeDocument/2006/relationships" id="260" r:id="Ra67b2f49bdbe45c8"/>
    <p:sldId xmlns:r="http://schemas.openxmlformats.org/officeDocument/2006/relationships" id="261" r:id="R2fee7bcf9a4040a1"/>
    <p:sldId xmlns:r="http://schemas.openxmlformats.org/officeDocument/2006/relationships" id="262" r:id="Rfb94a84122af46a3"/>
    <p:sldId xmlns:r="http://schemas.openxmlformats.org/officeDocument/2006/relationships" id="263" r:id="R7f5c96d07f994553"/>
    <p:sldId xmlns:r="http://schemas.openxmlformats.org/officeDocument/2006/relationships" id="264" r:id="Rc6221bbfb5244d70"/>
    <p:sldId xmlns:r="http://schemas.openxmlformats.org/officeDocument/2006/relationships" id="265" r:id="Rae1394c433e54482"/>
    <p:sldId xmlns:r="http://schemas.openxmlformats.org/officeDocument/2006/relationships" id="266" r:id="R32a7988faccd4784"/>
    <p:sldId xmlns:r="http://schemas.openxmlformats.org/officeDocument/2006/relationships" id="267" r:id="R50756bc65e01490f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5c582b45f840d5" /><Relationship Type="http://schemas.openxmlformats.org/officeDocument/2006/relationships/slideMaster" Target="/ppt/slideMasters/slideMaster1.xml" Id="Rc5fa7083be4b4b30" /><Relationship Type="http://schemas.openxmlformats.org/officeDocument/2006/relationships/notesMaster" Target="/ppt/notesMasters/notesMaster1.xml" Id="R1257e6d53d7b46f2" /><Relationship Type="http://schemas.openxmlformats.org/officeDocument/2006/relationships/presProps" Target="/ppt/presProps.xml" Id="Rb767469042884840" /><Relationship Type="http://schemas.openxmlformats.org/officeDocument/2006/relationships/viewProps" Target="/ppt/viewProps.xml" Id="R2ff7ffed62e84f7a" /><Relationship Type="http://schemas.openxmlformats.org/officeDocument/2006/relationships/tableStyles" Target="/ppt/tableStyles.xml" Id="Rba2e92dba12a4581" /><Relationship Type="http://schemas.openxmlformats.org/officeDocument/2006/relationships/slide" Target="/ppt/slides/slide1.xml" Id="Rf615dc3adac348eb" /><Relationship Type="http://schemas.openxmlformats.org/officeDocument/2006/relationships/slide" Target="/ppt/slides/slide2.xml" Id="Rdd7b9d47e0bb4448" /><Relationship Type="http://schemas.openxmlformats.org/officeDocument/2006/relationships/slide" Target="/ppt/slides/slide3.xml" Id="Rf3cfe9b732694445" /><Relationship Type="http://schemas.openxmlformats.org/officeDocument/2006/relationships/slide" Target="/ppt/slides/slide4.xml" Id="Rd6be21e0ab174734" /><Relationship Type="http://schemas.openxmlformats.org/officeDocument/2006/relationships/slide" Target="/ppt/slides/slide5.xml" Id="Ra67b2f49bdbe45c8" /><Relationship Type="http://schemas.openxmlformats.org/officeDocument/2006/relationships/slide" Target="/ppt/slides/slide6.xml" Id="R2fee7bcf9a4040a1" /><Relationship Type="http://schemas.openxmlformats.org/officeDocument/2006/relationships/slide" Target="/ppt/slides/slide7.xml" Id="Rfb94a84122af46a3" /><Relationship Type="http://schemas.openxmlformats.org/officeDocument/2006/relationships/slide" Target="/ppt/slides/slide8.xml" Id="R7f5c96d07f994553" /><Relationship Type="http://schemas.openxmlformats.org/officeDocument/2006/relationships/slide" Target="/ppt/slides/slide9.xml" Id="Rc6221bbfb5244d70" /><Relationship Type="http://schemas.openxmlformats.org/officeDocument/2006/relationships/slide" Target="/ppt/slides/slide10.xml" Id="Rae1394c433e54482" /><Relationship Type="http://schemas.openxmlformats.org/officeDocument/2006/relationships/slide" Target="/ppt/slides/slide11.xml" Id="R32a7988faccd4784" /><Relationship Type="http://schemas.openxmlformats.org/officeDocument/2006/relationships/slide" Target="/ppt/slides/slide12.xml" Id="R50756bc65e01490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82d2f6a47842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cd8176b6ee4d1b" /><Relationship Type="http://schemas.openxmlformats.org/officeDocument/2006/relationships/notesMaster" Target="/ppt/notesMasters/notesMaster1.xml" Id="Rf527be36bf9840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0c5123b10c4d95" /><Relationship Type="http://schemas.openxmlformats.org/officeDocument/2006/relationships/notesMaster" Target="/ppt/notesMasters/notesMaster1.xml" Id="R8877bcca2e3742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2dfc76db6a4f05" /><Relationship Type="http://schemas.openxmlformats.org/officeDocument/2006/relationships/notesMaster" Target="/ppt/notesMasters/notesMaster1.xml" Id="R7792897f610349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13fd9d3b0b4658" /><Relationship Type="http://schemas.openxmlformats.org/officeDocument/2006/relationships/notesMaster" Target="/ppt/notesMasters/notesMaster1.xml" Id="R047132498f0244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c3b6cf3baf4217" /><Relationship Type="http://schemas.openxmlformats.org/officeDocument/2006/relationships/notesMaster" Target="/ppt/notesMasters/notesMaster1.xml" Id="Ra89d7988314047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40acc3b0f14f33" /><Relationship Type="http://schemas.openxmlformats.org/officeDocument/2006/relationships/notesMaster" Target="/ppt/notesMasters/notesMaster1.xml" Id="R52ba6d3c868b4a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a760ce780c4fb2" /><Relationship Type="http://schemas.openxmlformats.org/officeDocument/2006/relationships/notesMaster" Target="/ppt/notesMasters/notesMaster1.xml" Id="R3a68d985ddae4ff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27f8a6eb794291" /><Relationship Type="http://schemas.openxmlformats.org/officeDocument/2006/relationships/notesMaster" Target="/ppt/notesMasters/notesMaster1.xml" Id="Re575c31d9c2a45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203de8fb3145f4" /><Relationship Type="http://schemas.openxmlformats.org/officeDocument/2006/relationships/notesMaster" Target="/ppt/notesMasters/notesMaster1.xml" Id="R0f9c3390ddde4ab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4d30ce7909d4421" /><Relationship Type="http://schemas.openxmlformats.org/officeDocument/2006/relationships/notesMaster" Target="/ppt/notesMasters/notesMaster1.xml" Id="Rfb0a1ce37b934a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a85356b1c44de7" /><Relationship Type="http://schemas.openxmlformats.org/officeDocument/2006/relationships/notesMaster" Target="/ppt/notesMasters/notesMaster1.xml" Id="R8fd562b475e24f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466e0fc79d4b21" /><Relationship Type="http://schemas.openxmlformats.org/officeDocument/2006/relationships/notesMaster" Target="/ppt/notesMasters/notesMaster1.xml" Id="R2b143b410bf24a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https://register.epo.org/application?number=EP14836345&amp;lng=en&amp;tab=main</a:t>
            </a:r>
          </a:p>
          <a:p xmlns:a="http://schemas.openxmlformats.org/drawingml/2006/main">
            <a:r>
              <a:t>- https://data.epo.org/publication-server/rest/v1.2/patents/EP3032975NWB2/document.pdf</a:t>
            </a:r>
          </a:p>
          <a:p xmlns:a="http://schemas.openxmlformats.org/drawingml/2006/main">
            <a:r>
              <a:t>- https://www.rechtsprechung-im-internet.de/jportal/?quelle=jlink&amp;docid=JURE269032275&amp;psml=bsjrsprod.psml</a:t>
            </a:r>
          </a:p>
          <a:p xmlns:a="http://schemas.openxmlformats.org/drawingml/2006/main">
            <a:r>
              <a:t>- https://www.gesetze-bayern.de/Content/Document/Y-300-Z-BECKRS-B-2026-N-14206</a:t>
            </a:r>
          </a:p>
          <a:p xmlns:a="http://schemas.openxmlformats.org/drawingml/2006/main">
            <a:r>
              <a:t>- https://www.health.govt.nz/regulation-legislation/vaping-herbal-smoking-and-smokeless-tobacco/requirements/complete-a-notifiable-product-annual-return/annual-returns-2024</a:t>
            </a:r>
          </a:p>
          <a:p xmlns:a="http://schemas.openxmlformats.org/drawingml/2006/main">
            <a:r>
              <a:t>- https://www150.statcan.gc.ca/t1/tbl1/en/tv.action?pid=2010007101</a:t>
            </a:r>
          </a:p>
          <a:p xmlns:a="http://schemas.openxmlformats.org/drawingml/2006/main">
            <a:r>
              <a:t>- https://www.ftc.gov/reports/e-cigarette-report-2021</a:t>
            </a:r>
          </a:p>
          <a:p xmlns:a="http://schemas.openxmlformats.org/drawingml/2006/main">
            <a:r>
              <a:t>- https://www.wipo.int/en/web/ip-financing</a:t>
            </a:r>
          </a:p>
          <a:p xmlns:a="http://schemas.openxmlformats.org/drawingml/2006/main">
            <a:r>
              <a:t>- https://data.ecb.europa.eu/data/datasets/exr/data-information</a:t>
            </a:r>
          </a:p>
          <a:p xmlns:a="http://schemas.openxmlformats.org/drawingml/2006/main">
            <a:r>
              <a:t>- https://www.ecb.europa.eu/stats/policy_and_exchange_rates/euro_reference_exchange_rates/html/index.en.html</a:t>
            </a:r>
          </a:p>
          <a:p xmlns:a="http://schemas.openxmlformats.org/drawingml/2006/main">
            <a:r>
              <a:t>- https://data-api.ecb.europa.eu/service/data/EXR/A.NZD.EUR.SP00.A?startPeriod=2024&amp;endPeriod=2024&amp;format=csvdata</a:t>
            </a:r>
          </a:p>
          <a:p xmlns:a="http://schemas.openxmlformats.org/drawingml/2006/main">
            <a:r>
              <a:t>- https://data-api.ecb.europa.eu/service/data/EXR/A.USD.EUR.SP00.A?startPeriod=2021&amp;endPeriod=2021&amp;format=csvdata</a:t>
            </a:r>
          </a:p>
          <a:p xmlns:a="http://schemas.openxmlformats.org/drawingml/2006/main">
            <a:r>
              <a:t>- https://data-api.ecb.europa.eu/service/data/EXR/A.CAD.EUR.SP00.A?startPeriod=2024&amp;endPeriod=2024&amp;format=csvdata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[FX methodology]</a:t>
            </a:r>
          </a:p>
          <a:p xmlns:a="http://schemas.openxmlformats.org/drawingml/2006/main">
            <a:r>
              <a:t>- EUR equivalent = original monetary amount divided by the ECB annual-average reference rate expressed as currency units per euro.</a:t>
            </a:r>
          </a:p>
          <a:p xmlns:a="http://schemas.openxmlformats.org/drawingml/2006/main">
            <a:r>
              <a:t>- The source value and source currency remain primary. The EUR figure is a secondary analytical equivalent, not an observed transaction value or a current spot conversion.</a:t>
            </a:r>
          </a:p>
          <a:p xmlns:a="http://schemas.openxmlformats.org/drawingml/2006/main">
            <a:r>
              <a:t>- NZD 2024: ECB-EXR-A-NZD-EUR-SP00-A-2024 · 1.788048828125 currency units per EUR</a:t>
            </a:r>
          </a:p>
          <a:p xmlns:a="http://schemas.openxmlformats.org/drawingml/2006/main">
            <a:r>
              <a:t>- USD 2021: ECB-EXR-A-USD-EUR-SP00-A-2021 · 1.1827403100775 currency units per EUR</a:t>
            </a:r>
          </a:p>
          <a:p xmlns:a="http://schemas.openxmlformats.org/drawingml/2006/main">
            <a:r>
              <a:t>- CAD 2024: ECB-EXR-A-CAD-EUR-SP00-A-2024 · 1.482110546875 currency units per EUR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4a3215629f4dc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4d490fe914c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f7d95551f94c6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94ce7cebb54bc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a3e5a7a2e54d8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071abaae74dc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d1db93ed5c40a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c505102bc42a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c5a9453675401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558afa6f847b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256d3ef425414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7BBFE7C-DBFA-470B-BB5E-365F06FA20F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F5F6946-4A14-4457-AEC8-423F984369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8D10F0-FD90-4D7C-8CBE-72CE793202C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2BF74F-AD15-4FBE-BA9D-72428C00D5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7996F79-7E29-48E3-B575-CEAFE1487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6D6B12-972F-4BF8-8986-537761FE90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4711D23-046A-4393-A053-01E58F16CA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56A6D75-3147-44D6-9A35-F6100BA0090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1BA0E1E-00BF-45E5-A2FF-5E81F13CFC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57A503E-8156-425A-8032-5A84E62757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AF9A4E-73C5-4533-ABF7-DBD4C086E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59FC3-7A89-4ADD-9E6E-1974A0CF0A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DBDEBBB-507F-4F32-B2EC-A9937B1F6D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8A3805-8E7C-41CF-9919-6A015C97B7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7D852A1-38CD-407B-9D80-C261691D06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BE63F5-11DC-4640-B8F3-2F4AB3775C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23A5-6E4F-4F4D-8759-519968AD86E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85A32B0-C75C-40C4-800A-FCE07AC1654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EFB8BB0-2565-4B95-9229-F625542F052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68F1B1E-4AE4-41ED-935C-0323328908F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EADCC5F-615D-405F-8CD5-C0584CA6F4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C4B6BD-A440-43B1-8869-D1E9A21DD3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52EDBEE-2592-4A22-BBF0-063F6A1D4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E1D6DC3-5B4B-4157-9FB4-600A5AFA54D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88A2D52-7098-4F32-B6B0-01A3D03D8AA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B5D52EF-03CD-41AC-99A4-2F9C85529D4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32AA920-5003-4D7C-A44F-42F58F02657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396C8AAC-3B78-4CE8-91FE-3D0006DD45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E2600CD-856B-434D-ABBE-BFE6253E61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C61D64F-B30D-4BA0-A21F-1CC15B7F74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62E158F-8BA7-4BF5-9F01-BBA401138B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65CC351-BB6A-45F4-9A61-AD47C3839F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5A4345A-30BF-4970-9DEF-8E73C73C6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47E472B-D08E-4ED1-83FD-0672785E65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A3AC2B7-ABDD-4A54-9756-0C35EF522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2F0F556-8B4C-4CD0-B4B9-CC03FD7750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580994E-4B99-409B-BBA2-37831CF053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854A9BB-C4A6-4486-8F3D-87FE7CCD30D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72DADCC-DD06-4F54-9C47-33FEFADC5F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A4B98CF-CD53-47AC-B5F3-068434BCF3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27E2E31-69CC-4875-A695-E5633FB3CE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6C8719C-E6E6-4BF4-A250-A02C0EA985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6FCF95-962D-48C7-87EA-7D09553CC8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CE24CF6-E45D-4408-B992-D31A3B65653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693D3B57-72C4-456C-953F-500AB22D5D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581BAA7-DE87-479F-825C-02FFE2EFE8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B341CB6-0185-4D11-8CA4-7921238619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5D3F275-CF17-485B-B116-393F6D5710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EB391-6631-4CB3-8591-930E5C0A74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8905449-0E7E-415D-9EBD-6EE1FE3E2D9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75573B2-5444-40DD-84D7-B71F77C446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513900B-1CE5-4C71-A57F-D1E4442987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817155A-3263-4612-9FE6-C0458CE318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CAAE2FE-FA3E-4456-B901-6A0B25C1B1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FA47AE-7046-42BB-945F-C0729FB62D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7BC7815-0188-4C93-9AC6-CBC8CA9791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34D1E8F-9B03-43FA-B3F4-23D5D31732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88F74F-C99F-4B1A-80EE-18F4A51DBE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992dd6abdf44c3" /><Relationship Type="http://schemas.openxmlformats.org/officeDocument/2006/relationships/slideLayout" Target="/ppt/slideLayouts/slideLayout1.xml" Id="R096f07c71c0c415e" /><Relationship Type="http://schemas.openxmlformats.org/officeDocument/2006/relationships/slideLayout" Target="/ppt/slideLayouts/slideLayout2.xml" Id="Rfd64cbc4ea884d5b" /><Relationship Type="http://schemas.openxmlformats.org/officeDocument/2006/relationships/slideLayout" Target="/ppt/slideLayouts/slideLayout3.xml" Id="Rbd4f3f6f061e42b4" /><Relationship Type="http://schemas.openxmlformats.org/officeDocument/2006/relationships/slideLayout" Target="/ppt/slideLayouts/slideLayout4.xml" Id="R1410289c09724547" /><Relationship Type="http://schemas.openxmlformats.org/officeDocument/2006/relationships/slideLayout" Target="/ppt/slideLayouts/slideLayout5.xml" Id="Rb3ec1ea85be040f8" /><Relationship Type="http://schemas.openxmlformats.org/officeDocument/2006/relationships/slideLayout" Target="/ppt/slideLayouts/slideLayout6.xml" Id="Rba47bb3c22ce41d4" /><Relationship Type="http://schemas.openxmlformats.org/officeDocument/2006/relationships/slideLayout" Target="/ppt/slideLayouts/slideLayout7.xml" Id="R4b824153450d465b" /><Relationship Type="http://schemas.openxmlformats.org/officeDocument/2006/relationships/slideLayout" Target="/ppt/slideLayouts/slideLayout8.xml" Id="R271531bfc9e64049" /><Relationship Type="http://schemas.openxmlformats.org/officeDocument/2006/relationships/slideLayout" Target="/ppt/slideLayouts/slideLayout9.xml" Id="Rfe71133028db4972" /><Relationship Type="http://schemas.openxmlformats.org/officeDocument/2006/relationships/slideLayout" Target="/ppt/slideLayouts/slideLayout10.xml" Id="R8a31a11ca4af4bc1" /><Relationship Type="http://schemas.openxmlformats.org/officeDocument/2006/relationships/slideLayout" Target="/ppt/slideLayouts/slideLayout11.xml" Id="R739f458340c1478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4465F11-837C-4EF2-8147-2C3F41FA98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2DEF6D8-EA80-48DB-9CC0-EB20AEA553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5BB857-9D3C-4D42-82E2-ECA9C6FEAC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CF0F6EB-056B-49A6-848B-C6D7F00F923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E769C4-7CCA-48D6-BA11-49DBD762DB7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96f07c71c0c415e"/>
    <p:sldLayoutId xmlns:r="http://schemas.openxmlformats.org/officeDocument/2006/relationships" id="2147483650" r:id="Rfd64cbc4ea884d5b"/>
    <p:sldLayoutId xmlns:r="http://schemas.openxmlformats.org/officeDocument/2006/relationships" id="2147483651" r:id="Rbd4f3f6f061e42b4"/>
    <p:sldLayoutId xmlns:r="http://schemas.openxmlformats.org/officeDocument/2006/relationships" id="2147483652" r:id="R1410289c09724547"/>
    <p:sldLayoutId xmlns:r="http://schemas.openxmlformats.org/officeDocument/2006/relationships" id="2147483653" r:id="Rb3ec1ea85be040f8"/>
    <p:sldLayoutId xmlns:r="http://schemas.openxmlformats.org/officeDocument/2006/relationships" id="2147483654" r:id="Rba47bb3c22ce41d4"/>
    <p:sldLayoutId xmlns:r="http://schemas.openxmlformats.org/officeDocument/2006/relationships" id="2147483655" r:id="R4b824153450d465b"/>
    <p:sldLayoutId xmlns:r="http://schemas.openxmlformats.org/officeDocument/2006/relationships" id="2147483656" r:id="R271531bfc9e64049"/>
    <p:sldLayoutId xmlns:r="http://schemas.openxmlformats.org/officeDocument/2006/relationships" id="2147483657" r:id="Rfe71133028db4972"/>
    <p:sldLayoutId xmlns:r="http://schemas.openxmlformats.org/officeDocument/2006/relationships" id="2147483658" r:id="R8a31a11ca4af4bc1"/>
    <p:sldLayoutId xmlns:r="http://schemas.openxmlformats.org/officeDocument/2006/relationships" id="2147483659" r:id="R739f458340c14780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794d1655444338" /><Relationship Type="http://schemas.openxmlformats.org/officeDocument/2006/relationships/notesSlide" Target="/ppt/notesSlides/notesSlide1.xml" Id="R33031ae7cdf149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74ca041e4f4c1a" /><Relationship Type="http://schemas.openxmlformats.org/officeDocument/2006/relationships/notesSlide" Target="/ppt/notesSlides/notesSlide2.xml" Id="Rbb1583e01d59464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f3e5fc0d7784cee" /><Relationship Type="http://schemas.openxmlformats.org/officeDocument/2006/relationships/notesSlide" Target="/ppt/notesSlides/notesSlide3.xml" Id="Rdfdac8e9f6224e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3ed21856c4245fe" /><Relationship Type="http://schemas.openxmlformats.org/officeDocument/2006/relationships/notesSlide" Target="/ppt/notesSlides/notesSlide4.xml" Id="Rd7a2b063ed1a4f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0a7a55ae804425e" /><Relationship Type="http://schemas.openxmlformats.org/officeDocument/2006/relationships/notesSlide" Target="/ppt/notesSlides/notesSlide5.xml" Id="R1fc9f4ecfdd14ac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565507f3853487c" /><Relationship Type="http://schemas.openxmlformats.org/officeDocument/2006/relationships/notesSlide" Target="/ppt/notesSlides/notesSlide6.xml" Id="R942a0ced6b0846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e848676b304b8b" /><Relationship Type="http://schemas.openxmlformats.org/officeDocument/2006/relationships/notesSlide" Target="/ppt/notesSlides/notesSlide7.xml" Id="Ra8633fe0a18c4b6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f1eca8e8ac49e9" /><Relationship Type="http://schemas.openxmlformats.org/officeDocument/2006/relationships/notesSlide" Target="/ppt/notesSlides/notesSlide8.xml" Id="R6270423c668849f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b08d291739143a7" /><Relationship Type="http://schemas.openxmlformats.org/officeDocument/2006/relationships/notesSlide" Target="/ppt/notesSlides/notesSlide9.xml" Id="R5b32aa0c999a43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f8c7185f6524632" /><Relationship Type="http://schemas.openxmlformats.org/officeDocument/2006/relationships/notesSlide" Target="/ppt/notesSlides/notesSlide10.xml" Id="Rd39a6f113eb64e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018b8d625d14d4d" /><Relationship Type="http://schemas.openxmlformats.org/officeDocument/2006/relationships/notesSlide" Target="/ppt/notesSlides/notesSlide11.xml" Id="Rb29d3284c57542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cd517caf2d4402" /><Relationship Type="http://schemas.openxmlformats.org/officeDocument/2006/relationships/notesSlide" Target="/ppt/notesSlides/notesSlide12.xml" Id="Ra6fed6b124c74ff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33313A9-8C61-45BD-A679-81A5BB82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566928"/>
            <a:ext cx="109728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6D0CAC7-D42A-4246-BD02-044D22E9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914400"/>
            <a:ext cx="6766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PIXAN · PUBLIC EVIDENCE PACKAGE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A9A632E-D226-46D2-B3A3-DBEEE2F1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389888"/>
            <a:ext cx="736092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From patent to a lender-ready</a:t>
            </a:r>
            <a:br/>
            <a:r>
              <a:rPr sz="40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package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2C3EA56-09CA-48D4-8497-54E82494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03320"/>
            <a:ext cx="70408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C6D8E2"/>
                </a:solidFill>
                <a:latin typeface="Aptos"/>
                <a:ea typeface="Aptos"/>
                <a:cs typeface="Aptos"/>
              </a:rPr>
              <a:t>12-slide financing and technology assessment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AF2F06F-53FB-4A11-AA68-2C1D0EE3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0"/>
            <a:ext cx="39136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CD8DDBF-45CF-4A11-B058-E149E7137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143000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 status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83C5A7C-D122-4FFC-A8CE-92735401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700784"/>
            <a:ext cx="2880360" cy="5151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2026.07.24-19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0670456-9B08-4FC5-884E-EF27703C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2359152"/>
            <a:ext cx="27889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Updated 2026-07-24</a:t>
            </a:r>
            <a:br/>
            <a:r>
              <a:rPr sz="17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12 slides · English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F4A8B76-B969-4DD0-BFC7-70DE3BCD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822191"/>
            <a:ext cx="2743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1">
                <a:solidFill>
                  <a:srgbClr val="B8DFE2"/>
                </a:solidFill>
                <a:latin typeface="Aptos"/>
                <a:ea typeface="Aptos"/>
                <a:cs typeface="Aptos"/>
              </a:rPr>
              <a:t>Starting point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1338F63-93E3-4228-81BA-103F79FB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4251960"/>
            <a:ext cx="2788920" cy="1170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Confirmed evidence is separated from supported information, assumptions and missing evidence.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DD0B23B-E8AB-49F7-ADFB-2D129F32B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254496"/>
            <a:ext cx="7040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Not Pixan Oy's official position · not a valuation, investment, lending or legal opinion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05ADC1E-83AB-4973-9F4E-0084D9323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15968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 · Financing thesis</a:t>
            </a:r>
          </a:p>
        </p:txBody>
      </p:sp>
    </p:spTree>
    <p:extLst>
      <p:ext uri="{BB962C8B-B14F-4D97-AF65-F5344CB8AC3E}">
        <p14:creationId xmlns:p14="http://schemas.microsoft.com/office/powerpoint/2010/main" val="11548848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467A43E-5A61-491E-89A4-753A16D9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2 · PROBLEM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426E3E5-75BD-4DD2-AAA0-DED6F9F6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5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problem lies as much in the evidence as in the technology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86994F-1EEB-4B68-9969-99FB432A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0A7CDB6-7735-42F9-A1D0-817A3B29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FBD1525-2F1B-4225-9FD8-6D968A5E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2026.07.24-19 · 2026-07-24 · Sources: Atlas readiness; WIPO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FDF2B85-B855-4478-9777-5D005B5B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178739E-44DA-4924-9E48-8A32183CB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298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Broad market claims do not become lender-ready collateral without a country-specific rights, product, sales and cash-flow chain.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215C51C-7765-436D-A60A-E71A7618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090672"/>
            <a:ext cx="6629400" cy="2807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Market metrics are fragmented: shipments, taxes, litres and commercial estimates are not the same thing.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A family publication does not prove current validity or absence of encumbrances.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A court judgment alone does not prove paid damages or a global royalty base.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684253C-0552-499A-A904-E40E100B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F361F45-7044-4CA8-A2DD-E5AA7FB7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Lender's core question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9110566-59EE-4419-8CC9-25ED6B71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Which verified asset and cash flow covers the loan in a downside case?</a:t>
            </a:r>
          </a:p>
        </p:txBody>
      </p:sp>
    </p:spTree>
    <p:extLst>
      <p:ext uri="{BB962C8B-B14F-4D97-AF65-F5344CB8AC3E}">
        <p14:creationId xmlns:p14="http://schemas.microsoft.com/office/powerpoint/2010/main" val="10704931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2001C6E-900B-407F-B474-12587BB1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3 · PATENTED SOLUTION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8E185EB-68DA-4228-963A-0E73452F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13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solution controls vaporiser power based on measured resistance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E0E469-99AA-42DF-A082-9C8F87C2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5881EC-33F1-42E4-AEAE-AC2817871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EE42AD2-D7DB-4630-B582-64068804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2026.07.24-19 · 2026-07-24 · Sources: EP3032975B2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EE80CE9-20A2-4D49-9730-3A60CDFD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DD01F8C-12D3-45B0-8CBC-5C8FF45F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627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published patent specification concerns control of an electrically powered vaporiser by measuring heating-element resistance, selecting the corresponding power from stored data and controlling power delivered to the heater within defined user-adjustment limits.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0018251-8853-4CE8-8A3C-DB974269B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3419856"/>
            <a:ext cx="6629400" cy="2478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Control is based on stored resistance–power values.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power relationship is described as non-proportional.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User adjustment occurs between a non-zero minimum and a stored maximum.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22055E6-0E50-4C10-9EB9-5EB1F237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BE42DFF-5C0C-4660-B833-37F5640F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3ABABF5-3C6B-4E87-8AB9-E2F6FCCF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This is a plain-language summary of the published patent specification. Only the operative claims in the relevant country and a product-specific claim chart are determinative.</a:t>
            </a:r>
          </a:p>
        </p:txBody>
      </p:sp>
    </p:spTree>
    <p:extLst>
      <p:ext uri="{BB962C8B-B14F-4D97-AF65-F5344CB8AC3E}">
        <p14:creationId xmlns:p14="http://schemas.microsoft.com/office/powerpoint/2010/main" val="56750712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59C23C0-7384-4161-8D4F-D3206C59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4 · PATENT AND IP STATUS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3827838-98CE-46C8-9F31-BD2A44AE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The IP core is documented; country-level usability still requires reconciliation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DD582B1-0B6A-4405-B9BE-305F80CE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75F675-CA63-4F0A-B17D-D9943C22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E68C2CE-72F9-4D1A-81C0-61FE8EA2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2026.07.24-19 · 2026-07-24 · Sources: EPO Register; EP3032975B2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3ADAD7E-DC12-464D-AE6A-E89317C8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5BC6E2A-4A73-44A5-BBBE-618DFAD3A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24858EA-D907-4C6B-B67F-8CE9CA44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2013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B6D662C-13EC-498B-AEFF-9CAE5F30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earliest priority year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9F19166-6EF5-4FD3-B134-CADD53D0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304F7C9-F172-450C-AF2D-9FD065B80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B01F8E9-F47A-4F00-88EE-510BD2AD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B2 claims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680A569-4346-4811-BF89-1748228DE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F7F3D94-2E17-46E0-B9C3-A009FA02F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510154F-74F7-4112-A39E-2D74E8C8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family-publication records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F922B05-90B2-4C83-9D3F-B5EE7AFF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EPO Register: patent maintained as amended after opposition; B2 published on 24 April 2024.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714CCF9-9132-4FA8-B021-59112934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6C69826C-7708-4581-9DE8-4B8BE8E8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7DFBA14-95A8-492A-BDC4-9B73F52B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Recorded proprietor in the public register: Pixan Oy. Current national validity, fees and encumbrances across the family have not yet been verified.</a:t>
            </a:r>
          </a:p>
        </p:txBody>
      </p:sp>
    </p:spTree>
    <p:extLst>
      <p:ext uri="{BB962C8B-B14F-4D97-AF65-F5344CB8AC3E}">
        <p14:creationId xmlns:p14="http://schemas.microsoft.com/office/powerpoint/2010/main" val="16609213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B6CE26A-56CA-4EB4-8FD1-607AAD93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5 · TECHNICAL DIFFERENTIATION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2B497AC-5EE1-449A-9336-ECBC46EFF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13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Technical differentiation lies in the claims — not product appearance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0A4EA1D-2021-43A6-95AE-D0AC405A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F9D81A9-585B-46FB-9551-5DA9306E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B6F8DEA-9F9F-46FD-B354-B2F66437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2026.07.24-19 · 2026-07-24 · Sources: EP3032975B2; 7 O 3341/24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9D7AFEC-BD93-47E2-8585-058C0E68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D497F52-738B-4F3E-ABB0-AD31C634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The financing assessment must trace every material claim limitation to a product and country.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F47237E-66E2-496B-A084-DF75CDF8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The patent specification provides a technical hypothesis and documented protection text.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Germany: the decision supports the link between certain products and claims 1 and 6.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Independent tests, teardown dossiers and claim charts for other countries are missing from the public evidence.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4CFE299-1B49-451E-BDA9-3786264E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AD639C6-5B05-48B2-8521-8F8ECB34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Evidence chain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70BB94E-84B6-426C-B603-37079C55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Sample → chain of custody → teardown → measurement data → claim chart → counsel review → relevant sales.</a:t>
            </a:r>
          </a:p>
        </p:txBody>
      </p:sp>
    </p:spTree>
    <p:extLst>
      <p:ext uri="{BB962C8B-B14F-4D97-AF65-F5344CB8AC3E}">
        <p14:creationId xmlns:p14="http://schemas.microsoft.com/office/powerpoint/2010/main" val="17293504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3251B6E-567D-464D-91EC-CC818B68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6 · MARKET SIZE AND SCOPE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2D37280-31C4-41C2-A347-794C51E0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88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Market size remains a range — not a single value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8FC4DED-36EE-48BC-BEA4-500B55493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AEEFD81-A7EB-4EFE-8181-96A68C28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B043428-E3C8-4EA4-9A0C-9A5A6E66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2026.07.24-19 · 2026-07-24 · Sources: Statistics Canada; Market-values; FTC; IMARC; GVR; Fortune; European Commission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4E1CEFF-C6D6-46B5-9510-E58A5775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9B37E6A4-9872-4AB5-8D87-FC008E8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F4EE265-DF59-492F-9AAE-402D335F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5AC71B1-5CA8-4768-BEC5-0F1CEC59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468879"/>
            <a:ext cx="3203448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official annual observations from 7 countries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56B7B6E-BC7B-4706-A68E-C512AB58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9016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64B19AF-803E-49D7-848C-66012A20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5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NZD 533.7–731.2m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B859EE5-340B-45E2-9968-FFE97DB7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608" y="2468879"/>
            <a:ext cx="3203448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≈EUR 298.5–408.9m · ECB 2024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266804AA-5D23-41DF-BDE1-B712D6F5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7680" y="1719072"/>
            <a:ext cx="35326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F79686D-7671-47F3-B8DE-7B71F04C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1883664"/>
            <a:ext cx="3203448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EUR 4.99bn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10994E7-CBAB-4480-8582-459A2016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272" y="2468879"/>
            <a:ext cx="3203448" cy="499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EU 2023: Commission-published benchmark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6C23826-0A80-455D-862D-348E01F1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29584"/>
            <a:ext cx="10927080" cy="835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5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5/5 candidates remain outside the D1–D10 gate; the accepted-donor count is 0/3.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B77E487-9ACC-49B2-9EFF-15A73824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10927080" cy="11430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6"/>
          </a:solidFill>
          <a:ln xmlns:a="http://schemas.openxmlformats.org/drawingml/2006/main">
            <a:solidFill>
              <a:srgbClr val="EAF3F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431A1FC-6A70-4B68-BDFF-A9334ADD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81728"/>
            <a:ext cx="1059789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77332C2-C4F0-4277-B4D2-378810A1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38344"/>
            <a:ext cx="10597896" cy="1216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5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Canada 2024: retail CAD 1.219bn (≈EUR 822.6m; ECB 2024); shipments CAD 1.161bn (≈EUR 783.2m; ECB 2024); all retail quarters quality E and bridge open. FTC 2021 USD 2.763bn (≈EUR 2.336bn; ECB 2021) is manufacturer reporting. Do not sum the routes.</a:t>
            </a:r>
          </a:p>
        </p:txBody>
      </p:sp>
    </p:spTree>
    <p:extLst>
      <p:ext uri="{BB962C8B-B14F-4D97-AF65-F5344CB8AC3E}">
        <p14:creationId xmlns:p14="http://schemas.microsoft.com/office/powerpoint/2010/main" val="134213083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C2DD201-BB1E-4AA6-903D-8069E34C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7 · CUSTOMERS AND PURCHASE RATIONALE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8841C0-BBDA-4209-8916-80FA0873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38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Customer demand still requires validation across three decision logics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E53A31A-0979-4EBF-B14E-C0C5E2C0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DB60502-C357-403B-B3CF-BC6F7DDB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D71EBB3-58D7-4092-931D-0A2156A0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2026.07.24-19 · 2026-07-24 · Sources: WIPO licensing; WIPO IP Finance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0046C0D-CC03-490F-8C6C-7AB05121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3845A80-8FA2-4B09-9ACE-64D253F1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554480"/>
            <a:ext cx="6766560" cy="11247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Potential segments are manufacturers, technology providers, and IP financiers or buyers.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81FBA63-92E2-4304-91E0-52E80D5A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2816352"/>
            <a:ext cx="6629400" cy="308152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A manufacturer buys freedom to operate, legal certainty or technology — if the relevant product and territory are established.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A technology provider evaluates integrability, freedom to operate and unit economics.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650">
                <a:solidFill>
                  <a:srgbClr val="182935"/>
                </a:solidFill>
                <a:latin typeface="Aptos"/>
                <a:ea typeface="Aptos"/>
                <a:cs typeface="Aptos"/>
              </a:defRPr>
            </a:pPr>
            <a:r>
              <a:t>•  A financier evaluates title, realisable cash flow, control and downside value.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ECF484F-7EB1-428A-B319-71894844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1554480"/>
            <a:ext cx="3886200" cy="43434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3F6F3"/>
          </a:solidFill>
          <a:ln xmlns:a="http://schemas.openxmlformats.org/drawingml/2006/main">
            <a:solidFill>
              <a:srgbClr val="E3F6F3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521F958-89D8-4238-B488-9E51DC19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700784"/>
            <a:ext cx="3557016" cy="332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Current evidence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7709E45-9F06-4BC6-8A3D-CE1FBC8D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057400"/>
            <a:ext cx="3557016" cy="3721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The public evidence does not confirm named customers, pilots, purchase intentions or signed licences.</a:t>
            </a:r>
          </a:p>
        </p:txBody>
      </p:sp>
    </p:spTree>
    <p:extLst>
      <p:ext uri="{BB962C8B-B14F-4D97-AF65-F5344CB8AC3E}">
        <p14:creationId xmlns:p14="http://schemas.microsoft.com/office/powerpoint/2010/main" val="108608814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828F889-76C9-43DF-A985-4905321F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8 · COMPETITION AND ALTERNATIVES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1AE82B-51A4-494E-808F-A0159961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Distinguish competition, alternatives and patent risk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8B4AE7F-7264-47F3-9393-F646E404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6F03936-FCFD-478F-A7C0-2E1A801C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1EC4B82-B246-41AC-8373-916177F5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2026.07.24-19 · 2026-07-24 · Sources: Evidence Register; EPO; WIPO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D77794C-6899-45C2-B9D2-36A8136F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6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455"/>
                <a:gridCol w="6040366"/>
                <a:gridCol w="2265137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Benchmark level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Question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status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Product solutions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Does the product solve the same problem differently?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 families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Is there overlapping protection or FTO risk?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Commercial alternatives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Licence, assignment, settlement or own use?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Assumption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83896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Non-patented alternatives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Can the performance be achieved by designing around the claims?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BD34ABC-F449-40F8-8D99-8FDD8746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Competitor analysis is a material open workstream in the lender's technology assessment.</a:t>
            </a:r>
          </a:p>
        </p:txBody>
      </p:sp>
    </p:spTree>
    <p:extLst>
      <p:ext uri="{BB962C8B-B14F-4D97-AF65-F5344CB8AC3E}">
        <p14:creationId xmlns:p14="http://schemas.microsoft.com/office/powerpoint/2010/main" val="10527087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CE39133-FA70-481D-A709-D7F650C5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9 · VALIDATION AND CURRENT EVIDENCE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BAF4194-8D94-43AA-89AB-49709177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Uneven validation strength is explicitly classified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E59D0FD-DC0D-40B8-88D7-82B40342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064590-C23E-4985-B9AF-A42F8620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BBE4B1-0270-420B-A628-E30AE04B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2026.07.24-19 · 2026-07-24 · Sources: Evidence Register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C23BA76-D55A-43C1-B179-1C5D241E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8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1992"/>
                <a:gridCol w="1599834"/>
                <a:gridCol w="3377427"/>
                <a:gridCol w="3910705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Claim scope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Classification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exists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What is missing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 core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Confirmed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EPO Register and B2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Country status matrix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German proceedings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Confirmed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Two official decisions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Finality, enforcement, cash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Market observations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Confirmed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official routes from 7 countries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Comparable retail value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Technical testing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Patent specification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Independent test and raw data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Commercial evidence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Commercialisation framework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Customers, contracts, payments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7F3F397-0DB9-4D36-9B7E-438558D9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Proven legal evidence does not replace technical, commercial or financial validation.</a:t>
            </a:r>
          </a:p>
        </p:txBody>
      </p:sp>
    </p:spTree>
    <p:extLst>
      <p:ext uri="{BB962C8B-B14F-4D97-AF65-F5344CB8AC3E}">
        <p14:creationId xmlns:p14="http://schemas.microsoft.com/office/powerpoint/2010/main" val="4410034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5D5A351-87D5-4FC0-8C4E-AF27DA02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10 · COMMERCIALISATION MODEL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ADF16A6-6735-461A-8CF2-DD6D7861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1109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38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Commercialisation proceeds through gates, not mass assertions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14F9F99-B660-497D-89AB-585E2B0A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25296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E8F04C8-0DC6-4B31-9B6D-1314443C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8E5B3EE-F0EB-4001-982E-0E5DE9F6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2026.07.24-19 · 2026-07-24 · Sources: WIPO licensing; dispute resolution; IPscore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B436EB6-8026-4C4B-A7FD-A4A63D8F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ED62F44C-6DEB-4925-BEE2-AFD1F8705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27632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CA66CC8-6216-404C-80A6-F2870100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700784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346A864-467E-4542-82EB-4FD9ED80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1609344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Rights matrix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A17B3E55-4840-45AF-A469-B69553D0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09344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Confirm country, proprietor, fee payment, encumbrance, operative claims and deadlines.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B6CFC91-F9AC-4295-A6BE-3ED4C3D0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06624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2302EDA-CF60-4E81-847C-60FE9801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79776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AD15083-27F4-476A-9FA4-1C0F7C41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2688336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Product dossier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99C5490-1317-48C7-B946-7467C1DA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88336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Obtain a sample, document the chain and prepare a counsel-reviewed claim chart.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6B3FDE2C-B09D-4AFA-94FA-16DB5A29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85615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78C1ED0-982F-4BDE-84E5-9DFAC1D0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858768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887F29E-C434-415B-8879-3BF38E73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767328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Target scoring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6BCFA66-0DA3-483B-84C5-1FC53575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67328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Assess rights, evidence, sales, counterparty, cost and enforcement.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4306ECA0-90E7-4A46-873E-26BAC25C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864608"/>
            <a:ext cx="566928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D5F86"/>
          </a:solidFill>
          <a:ln xmlns:a="http://schemas.openxmlformats.org/drawingml/2006/main">
            <a:solidFill>
              <a:srgbClr val="0D5F8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6F88424-872A-45FD-82BB-250164F2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37760"/>
            <a:ext cx="56692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0FCA070D-90EA-462B-A7EB-04DAFE72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846320"/>
            <a:ext cx="2743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Limited pilot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CED04BC-19DF-4720-AEF6-3FD9869D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46320"/>
            <a:ext cx="7086600" cy="960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>
                <a:solidFill>
                  <a:srgbClr val="182935"/>
                </a:solidFill>
                <a:latin typeface="Aptos"/>
                <a:ea typeface="Aptos"/>
                <a:cs typeface="Aptos"/>
              </a:rPr>
              <a:t>Test a licence, settlement, assignment or financing route on auditable terms.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2454E64-C7FE-478A-9870-9CF14CF6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88736"/>
            <a:ext cx="106527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Only an executed contract or receivable creates cash-flow evidence.</a:t>
            </a:r>
          </a:p>
        </p:txBody>
      </p:sp>
    </p:spTree>
    <p:extLst>
      <p:ext uri="{BB962C8B-B14F-4D97-AF65-F5344CB8AC3E}">
        <p14:creationId xmlns:p14="http://schemas.microsoft.com/office/powerpoint/2010/main" val="32652215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DC9FF91-E197-46A2-ADD7-E9610F3C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"/>
            <a:ext cx="3474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36576" rIns="36576" bIns="36576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11 · FINANCIAL MODEL AND SENSITIVITIES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67D8C65-E0B4-49B2-99A8-AA09061D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21792"/>
            <a:ext cx="1110996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71A2B"/>
                </a:solidFill>
                <a:latin typeface="Aptos"/>
                <a:ea typeface="Aptos"/>
                <a:cs typeface="Aptos"/>
              </a:rPr>
              <a:t>Evidence—not market share—must drive the model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AB1C45C-EA35-45B3-A6F3-668A1E69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960120" cy="502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4A6"/>
          </a:solidFill>
          <a:ln xmlns:a="http://schemas.openxmlformats.org/drawingml/2006/main">
            <a:solidFill>
              <a:srgbClr val="00A4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FE10D64-8E9D-4DBC-A986-1AFC86E4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" y="6519672"/>
            <a:ext cx="11494008" cy="13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DE"/>
          </a:solidFill>
          <a:ln xmlns:a="http://schemas.openxmlformats.org/drawingml/2006/main">
            <a:solidFill>
              <a:srgbClr val="CBD8D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9303A9-DDC6-423D-80DA-AA3A9C83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556248"/>
            <a:ext cx="10835640" cy="2026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Independent public evidence summary · 2026.07.24-19 · 2026-07-24 · Sources: WIPO IP valuation; Market-values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9359D59-9144-49B7-9007-E086CCCC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537960"/>
            <a:ext cx="411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0">
                <a:solidFill>
                  <a:srgbClr val="5B6B7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graphicFrame>
        <p:nvGraphicFramePr>
          <p:cNvPr id="17" name="Table 7"/>
          <p:cNvGraphicFramePr/>
          <p:nvPr/>
        </p:nvGraphicFramePr>
        <p:xfrm>
          <a:off xmlns:a="http://schemas.openxmlformats.org/drawingml/2006/main" x="530352" y="1719072"/>
          <a:ext xmlns:a="http://schemas.openxmlformats.org/drawingml/2006/main" cx="11109959" cy="379475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7490"/>
                <a:gridCol w="6332677"/>
                <a:gridCol w="1999792"/>
              </a:tblGrid>
              <a:tr h="438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Bridge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Input to verify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2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status</a:t>
                      </a:r>
                    </a:p>
                  </a:txBody>
                  <a:tcPr marL="73152" marR="73152" marT="45720" marB="45720">
                    <a:solidFill>
                      <a:srgbClr val="071A2B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Total market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Comparable country-level sales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0/3 retail-value donors; 5 candidates remain outside the D1–D10 gate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Attributable sales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Validity × product × period × country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Royalty base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Claim-mapped net sales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Cash flow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Contract terms, costs, taxes, delay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6F9FA"/>
                    </a:solidFill>
                  </a:tcPr>
                </a:tc>
              </a:tr>
              <a:tr h="67116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Collateral value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Downside realisation and control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320">
                          <a:solidFill>
                            <a:srgbClr val="182935"/>
                          </a:solidFill>
                          <a:latin typeface="Aptos"/>
                          <a:ea typeface="Aptos"/>
                          <a:cs typeface="Aptos"/>
                        </a:rPr>
                        <a:t>Missing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894190B-4748-4B21-B94A-47358E00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5660136"/>
            <a:ext cx="10881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b="1">
                <a:solidFill>
                  <a:srgbClr val="0D5F86"/>
                </a:solidFill>
                <a:latin typeface="Aptos"/>
                <a:ea typeface="Aptos"/>
                <a:cs typeface="Aptos"/>
              </a:rPr>
              <a:t>Show downside/base/upside only after every bridge input has been documented.</a:t>
            </a:r>
          </a:p>
        </p:txBody>
      </p:sp>
    </p:spTree>
    <p:extLst>
      <p:ext uri="{BB962C8B-B14F-4D97-AF65-F5344CB8AC3E}">
        <p14:creationId xmlns:p14="http://schemas.microsoft.com/office/powerpoint/2010/main" val="11673851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1935346-65F8-40EF-96B5-5BCD4F00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2920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DECISION FRAMEWORK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8745E78-C693-454C-8CCD-F4F95F613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005840"/>
            <a:ext cx="10881360" cy="126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Financing decision only after four critical gaps are closed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456030F-8591-467A-8E4B-451B1B7B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286000"/>
            <a:ext cx="10012680" cy="3246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7432" tIns="18288" rIns="27432" bIns="18288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1. Counsel-signed title, encumbrance, fee-payment and rights matrix.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2. Claim charts for prioritised products and documented relevant sales.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3. Realised or contract-based cash flows and audited financial information.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4. Independent valuation and downside collateral analysis.</a:t>
            </a:r>
          </a:p>
          <a:p xmlns:a="http://schemas.openxmlformats.org/drawingml/2006/main">
            <a:pPr>
              <a:lnSpc>
                <a:spcPct val="105000"/>
              </a:lnSpc>
              <a:spcAft>
                <a:spcPts val="1200"/>
              </a:spcAft>
              <a:buNone/>
              <a:defRPr sz="190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•  Next decision: approve a controlled 90-day diligence phase?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EBEFC98-2B6A-44AA-833B-A57B36CA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272784"/>
            <a:ext cx="102412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9DB3C0"/>
                </a:solidFill>
                <a:latin typeface="Aptos"/>
                <a:ea typeface="Aptos"/>
                <a:cs typeface="Aptos"/>
              </a:rPr>
              <a:t>Version 2026.07.24-19 · 2026-07-24 · 12 / 12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E58CA37-63A1-4AFB-B100-8257B2DB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749808"/>
            <a:ext cx="7955279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36576" rIns="36576" bIns="36576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A4A6"/>
                </a:solidFill>
                <a:latin typeface="Aptos"/>
                <a:ea typeface="Aptos"/>
                <a:cs typeface="Aptos"/>
              </a:rPr>
              <a:t>12 · Risks, controls and next steps</a:t>
            </a:r>
          </a:p>
        </p:txBody>
      </p:sp>
    </p:spTree>
    <p:extLst>
      <p:ext uri="{BB962C8B-B14F-4D97-AF65-F5344CB8AC3E}">
        <p14:creationId xmlns:p14="http://schemas.microsoft.com/office/powerpoint/2010/main" val="15612691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2026-07-24T11:03:45.7730000Z</dcterms:created>
  <dcterms:modified xsi:type="dcterms:W3CDTF">2026-07-24T11:03:45.7730000Z</dcterms:modified>
</coreProperties>
</file>