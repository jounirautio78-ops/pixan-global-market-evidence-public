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a9e578327c4953" /><Relationship Type="http://schemas.openxmlformats.org/officeDocument/2006/relationships/extended-properties" Target="/docProps/app.xml" Id="R189c721ae7514149" /><Relationship Type="http://schemas.openxmlformats.org/officeDocument/2006/relationships/officeDocument" Target="/ppt/presentation.xml" Id="R61c7ea82504a4cd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a4c9e29233a4ce8"/>
  </p:sldMasterIdLst>
  <p:notesMasterIdLst>
    <p:notesMasterId xmlns:r="http://schemas.openxmlformats.org/officeDocument/2006/relationships" r:id="R8030271d823c40e5"/>
  </p:notesMasterIdLst>
  <p:sldIdLst>
    <p:sldId xmlns:r="http://schemas.openxmlformats.org/officeDocument/2006/relationships" id="256" r:id="R2984835a59a0444c"/>
    <p:sldId xmlns:r="http://schemas.openxmlformats.org/officeDocument/2006/relationships" id="257" r:id="Rd2439710b30549d6"/>
    <p:sldId xmlns:r="http://schemas.openxmlformats.org/officeDocument/2006/relationships" id="258" r:id="Rf771ce95e34e4a29"/>
    <p:sldId xmlns:r="http://schemas.openxmlformats.org/officeDocument/2006/relationships" id="259" r:id="Re7ce93a54c1247fb"/>
    <p:sldId xmlns:r="http://schemas.openxmlformats.org/officeDocument/2006/relationships" id="260" r:id="R2d390b1d99a94ac1"/>
    <p:sldId xmlns:r="http://schemas.openxmlformats.org/officeDocument/2006/relationships" id="261" r:id="R4c15c8be941f4a3a"/>
    <p:sldId xmlns:r="http://schemas.openxmlformats.org/officeDocument/2006/relationships" id="262" r:id="R468432cb2c044b5a"/>
    <p:sldId xmlns:r="http://schemas.openxmlformats.org/officeDocument/2006/relationships" id="263" r:id="Rac015fba173d48ef"/>
    <p:sldId xmlns:r="http://schemas.openxmlformats.org/officeDocument/2006/relationships" id="264" r:id="R5b476b66fb5d475b"/>
    <p:sldId xmlns:r="http://schemas.openxmlformats.org/officeDocument/2006/relationships" id="265" r:id="Rcf099f31e1484bb7"/>
    <p:sldId xmlns:r="http://schemas.openxmlformats.org/officeDocument/2006/relationships" id="266" r:id="R5012779f7df844d5"/>
    <p:sldId xmlns:r="http://schemas.openxmlformats.org/officeDocument/2006/relationships" id="267" r:id="Rd5cde795cba84000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e5618e7ed4c4e7f" /><Relationship Type="http://schemas.openxmlformats.org/officeDocument/2006/relationships/slideMaster" Target="/ppt/slideMasters/slideMaster1.xml" Id="R0a4c9e29233a4ce8" /><Relationship Type="http://schemas.openxmlformats.org/officeDocument/2006/relationships/notesMaster" Target="/ppt/notesMasters/notesMaster1.xml" Id="R8030271d823c40e5" /><Relationship Type="http://schemas.openxmlformats.org/officeDocument/2006/relationships/presProps" Target="/ppt/presProps.xml" Id="R0dbacc8295bd4e47" /><Relationship Type="http://schemas.openxmlformats.org/officeDocument/2006/relationships/viewProps" Target="/ppt/viewProps.xml" Id="Rbd83d540b1b14fbc" /><Relationship Type="http://schemas.openxmlformats.org/officeDocument/2006/relationships/tableStyles" Target="/ppt/tableStyles.xml" Id="Rf8a0b96a03464c04" /><Relationship Type="http://schemas.openxmlformats.org/officeDocument/2006/relationships/slide" Target="/ppt/slides/slide1.xml" Id="R2984835a59a0444c" /><Relationship Type="http://schemas.openxmlformats.org/officeDocument/2006/relationships/slide" Target="/ppt/slides/slide2.xml" Id="Rd2439710b30549d6" /><Relationship Type="http://schemas.openxmlformats.org/officeDocument/2006/relationships/slide" Target="/ppt/slides/slide3.xml" Id="Rf771ce95e34e4a29" /><Relationship Type="http://schemas.openxmlformats.org/officeDocument/2006/relationships/slide" Target="/ppt/slides/slide4.xml" Id="Re7ce93a54c1247fb" /><Relationship Type="http://schemas.openxmlformats.org/officeDocument/2006/relationships/slide" Target="/ppt/slides/slide5.xml" Id="R2d390b1d99a94ac1" /><Relationship Type="http://schemas.openxmlformats.org/officeDocument/2006/relationships/slide" Target="/ppt/slides/slide6.xml" Id="R4c15c8be941f4a3a" /><Relationship Type="http://schemas.openxmlformats.org/officeDocument/2006/relationships/slide" Target="/ppt/slides/slide7.xml" Id="R468432cb2c044b5a" /><Relationship Type="http://schemas.openxmlformats.org/officeDocument/2006/relationships/slide" Target="/ppt/slides/slide8.xml" Id="Rac015fba173d48ef" /><Relationship Type="http://schemas.openxmlformats.org/officeDocument/2006/relationships/slide" Target="/ppt/slides/slide9.xml" Id="R5b476b66fb5d475b" /><Relationship Type="http://schemas.openxmlformats.org/officeDocument/2006/relationships/slide" Target="/ppt/slides/slide10.xml" Id="Rcf099f31e1484bb7" /><Relationship Type="http://schemas.openxmlformats.org/officeDocument/2006/relationships/slide" Target="/ppt/slides/slide11.xml" Id="R5012779f7df844d5" /><Relationship Type="http://schemas.openxmlformats.org/officeDocument/2006/relationships/slide" Target="/ppt/slides/slide12.xml" Id="Rd5cde795cba840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327869a5a55479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9d83e5bfc754031" /><Relationship Type="http://schemas.openxmlformats.org/officeDocument/2006/relationships/notesMaster" Target="/ppt/notesMasters/notesMaster1.xml" Id="R72b7a824fd6c461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23b413c923642fa" /><Relationship Type="http://schemas.openxmlformats.org/officeDocument/2006/relationships/notesMaster" Target="/ppt/notesMasters/notesMaster1.xml" Id="R8b96a26b0ca44c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2450aad0574e84" /><Relationship Type="http://schemas.openxmlformats.org/officeDocument/2006/relationships/notesMaster" Target="/ppt/notesMasters/notesMaster1.xml" Id="R551e195d5399450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2d3e2a6698d440b" /><Relationship Type="http://schemas.openxmlformats.org/officeDocument/2006/relationships/notesMaster" Target="/ppt/notesMasters/notesMaster1.xml" Id="R518f33a73a8248a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20c138361c049ec" /><Relationship Type="http://schemas.openxmlformats.org/officeDocument/2006/relationships/notesMaster" Target="/ppt/notesMasters/notesMaster1.xml" Id="R00bb15c3f0754d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23ff17ef2404624" /><Relationship Type="http://schemas.openxmlformats.org/officeDocument/2006/relationships/notesMaster" Target="/ppt/notesMasters/notesMaster1.xml" Id="R112a9418ae9f46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07064706d114144" /><Relationship Type="http://schemas.openxmlformats.org/officeDocument/2006/relationships/notesMaster" Target="/ppt/notesMasters/notesMaster1.xml" Id="R863c89d9ae96426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3b19e910d914a60" /><Relationship Type="http://schemas.openxmlformats.org/officeDocument/2006/relationships/notesMaster" Target="/ppt/notesMasters/notesMaster1.xml" Id="Rc121af4ca799434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f37471f1acf4265" /><Relationship Type="http://schemas.openxmlformats.org/officeDocument/2006/relationships/notesMaster" Target="/ppt/notesMasters/notesMaster1.xml" Id="Rb7a2dca87a7d438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f01a86b342b4720" /><Relationship Type="http://schemas.openxmlformats.org/officeDocument/2006/relationships/notesMaster" Target="/ppt/notesMasters/notesMaster1.xml" Id="R77514d79bcf2444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447db8fa5e24ced" /><Relationship Type="http://schemas.openxmlformats.org/officeDocument/2006/relationships/notesMaster" Target="/ppt/notesMasters/notesMaster1.xml" Id="Rd8b2c32b2a01497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ec41a83d3f14fca" /><Relationship Type="http://schemas.openxmlformats.org/officeDocument/2006/relationships/notesMaster" Target="/ppt/notesMasters/notesMaster1.xml" Id="Rcf267000dcaf4f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4df26850f343e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385f851b0348f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982219230b492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1fbf9ae87e410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94b9a27167409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f5e6a31810443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694181e0934a6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91617982a442e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793a27f111457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61400625414f6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de31df0452453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542E43-870A-4119-AC32-A98D605A3BB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43DE057-77A9-4C23-94A2-6F8D2DBF807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86F0F38-AEA3-4D0F-8B1B-B96B10E5CC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68D109-2C8D-4208-A4A0-FA0D8AB70B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F51CBD0-5845-44C6-A16B-538F4470C5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DC112C7-E951-4582-AFE1-BE6894B682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829799A-08B8-4ECA-8D27-FE2D361DC21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E8889D-E085-4058-A1B1-00EF6C8BA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FC4CE7-FA92-4A4A-8D7C-F167AA392A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060C5B4-92F3-46CD-8E91-41E623EA562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2B3C825-F72B-4CC3-BAF4-F2A6DF0E88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2D76AA0-CFBF-4C8F-B18D-F403C9D2CE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17311D0-6FD6-4E07-89D8-A1710D0D43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42A53A4-9DB9-4E51-8D47-3C20E235EA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3ECA05-EE24-443D-B7FA-2F7F335088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758570-FF82-4D3C-8A9C-5CC0BDB35D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EFBDB98-E31A-48E7-8908-9E88BE154BB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E9D041A-9555-4727-81B8-987169AF4CA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7B13559-C6BA-467F-803C-0E57D8EA45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8FC7F0D-FE05-411D-AA50-D747351F22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7701F5D-F89C-4375-B233-529E0E8B47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1A43C1C-BA95-4249-9253-C84F9EF577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3DAD9D4-5592-4D3E-BC16-5B1C9D8030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950AE90-242B-4F4B-A0C3-31EBD4087AF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1E5A82F1-CA6D-4141-8664-E406FE10A94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9587B93-5C2A-48AF-A88F-C1A66AEF14D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E6560AC-91ED-43B4-86FA-9FD4C5127D6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6F285EB-E478-4C0F-8BE0-4E46B0A28FC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9F109BA-8CEB-4659-B81B-BFEA194931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3EE53E-210B-4F65-B64B-2215F2CC78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EEABA0B-839B-4629-B748-0FA542B2719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E38C822-9229-47EF-9F62-0D2A0AF3E2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93453C3-9E42-406F-A0AF-0DC5CA575F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77CA3A6-1AAA-41D1-B502-5F0C441748B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F6FF40B-A51F-4263-A098-45208C3201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717337A-4518-40E7-A6CC-122E7624B1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6D5B29-1236-43F1-B54F-C2C15F6CC5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C931F8F-189E-460E-91B9-FF19555A760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1C6758D-7DA7-4BD6-8616-A808DC3ACAF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5A46515-919C-469A-B937-12CED1A0DDA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C2F2E61-CF0F-4E9B-A1B6-910651A6C64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2FFE967-2BDF-4758-B3D1-6D333D3013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B8CA1D-1CBD-4826-9ED0-29ADA34433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995EA556-8CBA-44C0-9E09-D13307C6E3C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4EA6901-61E7-4A4B-878D-8CDBD9341E2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8768784-EA90-4550-B0FB-4AD7FF8AEB9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85641A6-B972-4D61-B2DA-68E9A646BC7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2750483-A971-4C9B-B7F6-0785B32EADD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D635DC-88C8-45C9-9285-71D213DCBA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A3C42E3-81D7-4893-A8FC-94788595F23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1DFE2E6-D80C-43F0-9B8B-79DD5089BB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D3D0E3-B24F-4A23-8420-4572DEB8AE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4AC123-25DA-405C-A3E3-AF356A48DFD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62FFE20-A19A-4200-806D-23193456D6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9CA979B-4836-4349-825B-3D63EC0EEA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FA7403A-A165-48F0-83DF-02C325DDA72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CCE896E-F78A-4341-B759-ECD60F8B5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7AC4EA1-6A33-49DE-9E83-48E2D41353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5a3f5827da4e38" /><Relationship Type="http://schemas.openxmlformats.org/officeDocument/2006/relationships/slideLayout" Target="/ppt/slideLayouts/slideLayout1.xml" Id="Rc7fc173cea4e4203" /><Relationship Type="http://schemas.openxmlformats.org/officeDocument/2006/relationships/slideLayout" Target="/ppt/slideLayouts/slideLayout2.xml" Id="Ree9a87b6423b4266" /><Relationship Type="http://schemas.openxmlformats.org/officeDocument/2006/relationships/slideLayout" Target="/ppt/slideLayouts/slideLayout3.xml" Id="Rfb2ffbafa91b4131" /><Relationship Type="http://schemas.openxmlformats.org/officeDocument/2006/relationships/slideLayout" Target="/ppt/slideLayouts/slideLayout4.xml" Id="R557f982557784cf8" /><Relationship Type="http://schemas.openxmlformats.org/officeDocument/2006/relationships/slideLayout" Target="/ppt/slideLayouts/slideLayout5.xml" Id="Rc58802c7ebb149e7" /><Relationship Type="http://schemas.openxmlformats.org/officeDocument/2006/relationships/slideLayout" Target="/ppt/slideLayouts/slideLayout6.xml" Id="R55afb0eee931483e" /><Relationship Type="http://schemas.openxmlformats.org/officeDocument/2006/relationships/slideLayout" Target="/ppt/slideLayouts/slideLayout7.xml" Id="Re36593a35d3746b8" /><Relationship Type="http://schemas.openxmlformats.org/officeDocument/2006/relationships/slideLayout" Target="/ppt/slideLayouts/slideLayout8.xml" Id="R98e4364ce19c4ef2" /><Relationship Type="http://schemas.openxmlformats.org/officeDocument/2006/relationships/slideLayout" Target="/ppt/slideLayouts/slideLayout9.xml" Id="R1af06ae03e7245ab" /><Relationship Type="http://schemas.openxmlformats.org/officeDocument/2006/relationships/slideLayout" Target="/ppt/slideLayouts/slideLayout10.xml" Id="Redc34225233d4762" /><Relationship Type="http://schemas.openxmlformats.org/officeDocument/2006/relationships/slideLayout" Target="/ppt/slideLayouts/slideLayout11.xml" Id="R1f5ff10375284c7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F4FA4A0D-A34D-4B74-875C-000A302E29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C911582-E9A7-4995-B8B8-83133D5804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E81F0F-5BDD-4613-8F52-F02D474F8C5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9EA162C-DE0B-4528-8F62-C7431262B2D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E5D8CE5-D35B-4D0F-A5F9-44A847CA776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fc173cea4e4203"/>
    <p:sldLayoutId xmlns:r="http://schemas.openxmlformats.org/officeDocument/2006/relationships" id="2147483650" r:id="Ree9a87b6423b4266"/>
    <p:sldLayoutId xmlns:r="http://schemas.openxmlformats.org/officeDocument/2006/relationships" id="2147483651" r:id="Rfb2ffbafa91b4131"/>
    <p:sldLayoutId xmlns:r="http://schemas.openxmlformats.org/officeDocument/2006/relationships" id="2147483652" r:id="R557f982557784cf8"/>
    <p:sldLayoutId xmlns:r="http://schemas.openxmlformats.org/officeDocument/2006/relationships" id="2147483653" r:id="Rc58802c7ebb149e7"/>
    <p:sldLayoutId xmlns:r="http://schemas.openxmlformats.org/officeDocument/2006/relationships" id="2147483654" r:id="R55afb0eee931483e"/>
    <p:sldLayoutId xmlns:r="http://schemas.openxmlformats.org/officeDocument/2006/relationships" id="2147483655" r:id="Re36593a35d3746b8"/>
    <p:sldLayoutId xmlns:r="http://schemas.openxmlformats.org/officeDocument/2006/relationships" id="2147483656" r:id="R98e4364ce19c4ef2"/>
    <p:sldLayoutId xmlns:r="http://schemas.openxmlformats.org/officeDocument/2006/relationships" id="2147483657" r:id="R1af06ae03e7245ab"/>
    <p:sldLayoutId xmlns:r="http://schemas.openxmlformats.org/officeDocument/2006/relationships" id="2147483658" r:id="Redc34225233d4762"/>
    <p:sldLayoutId xmlns:r="http://schemas.openxmlformats.org/officeDocument/2006/relationships" id="2147483659" r:id="R1f5ff10375284c73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c1130115ec84a13" /><Relationship Type="http://schemas.openxmlformats.org/officeDocument/2006/relationships/notesSlide" Target="/ppt/notesSlides/notesSlide1.xml" Id="R4da6428f307948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a80397501b14d4c" /><Relationship Type="http://schemas.openxmlformats.org/officeDocument/2006/relationships/notesSlide" Target="/ppt/notesSlides/notesSlide2.xml" Id="Re9d0c66d542e42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06eb5a48bea490f" /><Relationship Type="http://schemas.openxmlformats.org/officeDocument/2006/relationships/notesSlide" Target="/ppt/notesSlides/notesSlide3.xml" Id="Rdbd569fcfa894d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20fd699f198414e" /><Relationship Type="http://schemas.openxmlformats.org/officeDocument/2006/relationships/notesSlide" Target="/ppt/notesSlides/notesSlide4.xml" Id="R26bb174fc2724a2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672ed767b1f4351" /><Relationship Type="http://schemas.openxmlformats.org/officeDocument/2006/relationships/notesSlide" Target="/ppt/notesSlides/notesSlide5.xml" Id="R835514c197bb41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3670a6ef0a348ca" /><Relationship Type="http://schemas.openxmlformats.org/officeDocument/2006/relationships/notesSlide" Target="/ppt/notesSlides/notesSlide6.xml" Id="R355d97b01ba2471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e08bd882439433a" /><Relationship Type="http://schemas.openxmlformats.org/officeDocument/2006/relationships/notesSlide" Target="/ppt/notesSlides/notesSlide7.xml" Id="R0cb418368140487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34915424abc4ead" /><Relationship Type="http://schemas.openxmlformats.org/officeDocument/2006/relationships/notesSlide" Target="/ppt/notesSlides/notesSlide8.xml" Id="R47c771f3fbcc425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5a7169eafba4b40" /><Relationship Type="http://schemas.openxmlformats.org/officeDocument/2006/relationships/notesSlide" Target="/ppt/notesSlides/notesSlide9.xml" Id="Rc3b4eb94af54431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4175803b37b45c5" /><Relationship Type="http://schemas.openxmlformats.org/officeDocument/2006/relationships/notesSlide" Target="/ppt/notesSlides/notesSlide10.xml" Id="R2799f60f59cb452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40bd2f6b5a429b" /><Relationship Type="http://schemas.openxmlformats.org/officeDocument/2006/relationships/notesSlide" Target="/ppt/notesSlides/notesSlide11.xml" Id="R447a809ede8945e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276786262ea4369" /><Relationship Type="http://schemas.openxmlformats.org/officeDocument/2006/relationships/notesSlide" Target="/ppt/notesSlides/notesSlide12.xml" Id="R5039505e998f4ca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0AF9501-51D7-4F21-9BF8-99D7F420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1A94F9A-251E-4D9B-95E7-EB877945B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B9F2E6-D0AE-4992-A079-0215FBB5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4E9ACDC-84CB-4DC9-A688-717AB932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12-slide financing and technology assessment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7B1BC0C-03EA-4442-AA14-2A1BADCBD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CC9551-6097-4331-94AB-1355CFBC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F3D937D-C326-42A5-8969-93F8895E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DB47733-2B56-4847-B76B-82354315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12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DC55C57-FCF7-4CFC-B7F7-48BBBB08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68B553C-F309-4B82-9A61-E216EF33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C7DE33D-D004-4248-A097-C1A12C42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4691EEE-71C3-4F11-BDB6-A207ED0A8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315968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 · Financing thesis</a:t>
            </a:r>
          </a:p>
        </p:txBody>
      </p:sp>
    </p:spTree>
    <p:extLst>
      <p:ext uri="{BB962C8B-B14F-4D97-AF65-F5344CB8AC3E}">
        <p14:creationId xmlns:p14="http://schemas.microsoft.com/office/powerpoint/2010/main" val="177372590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F49FE95-42A4-4DEF-9C94-1691DA4E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 · 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AEFDA99-3734-45D5-B715-A4486FCDA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problem lies as much in the evidence as in the technology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4C42033-1110-463A-857F-398056C0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02CDD22-3551-46BB-B09E-65DD48D4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FCA807D-5BE9-4BA9-9B07-F51EE066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Atlas readiness;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AFDE460-A2BD-47D2-8004-B7768937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06A7B0F-A8B0-4E29-B238-A7B38DF4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Broad market claims do not become lender-ready collateral without a country-specific rights, product, sales and cash-flow chain.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12214DD-68AD-450C-A812-6304745C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Market metrics are fragmented: shipments, taxes, litres and commercial estimates are not the same thing.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family publication does not prove current validity or absence of encumbrances.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court judgment alone does not prove paid damages or a global royalty base.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B3392CB-0FB8-4C3C-8894-73694D1A0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2B730AA-F89C-4E32-A824-A9F4F4F1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Lender's core question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A531CFB-5251-40C7-A966-A09ECBB36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Which verified asset and cash flow covers the loan in a downside case?</a:t>
            </a:r>
          </a:p>
        </p:txBody>
      </p:sp>
    </p:spTree>
    <p:extLst>
      <p:ext uri="{BB962C8B-B14F-4D97-AF65-F5344CB8AC3E}">
        <p14:creationId xmlns:p14="http://schemas.microsoft.com/office/powerpoint/2010/main" val="26825079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39C1B62-8A53-41E2-B81E-31B5E654C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 · PATENTED 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090DA8D-EA06-445A-ACC0-20C1CFB8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13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solution controls vaporiser power based on measured resistance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364E1AB-8ABD-4AD3-BF1D-DC6290AB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44F2562-EF4F-44E3-BFF6-576A910A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C7508E1-4DEA-4DDD-AC4C-24C82167D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EC4C2C9-1F74-46A9-AB90-7DD44051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41CAB65-518A-4420-8CE9-E0480400B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5A75490-B208-418B-94C8-C81623BF1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 is based on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power relationship is described as non-proportional.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User adjustment occurs between a non-zero minimum and a stored maximum.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6891B69-68CB-4652-BDCB-279E98E4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EAE6288-47FF-4484-99FA-CA0E1A76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Scope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C3B3009-E1E3-47DB-ABC4-6C42E76D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is a plain-language summary of the published patent specification. Only the operative claims in the relevant country and a product-specific claim chart are determinative.</a:t>
            </a:r>
          </a:p>
        </p:txBody>
      </p:sp>
    </p:spTree>
    <p:extLst>
      <p:ext uri="{BB962C8B-B14F-4D97-AF65-F5344CB8AC3E}">
        <p14:creationId xmlns:p14="http://schemas.microsoft.com/office/powerpoint/2010/main" val="82476510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87D198-7BD3-47E1-9C99-A6E1F688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4 · PATENT AND IP STATUS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1C0873D-00F4-4621-ADDB-60253264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IP core is documented; country-level usability still requires reconciliation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941C8D0-FC58-41F6-BE84-26676317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1CDB2EA-482B-478F-9672-DB18208F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DF3A397-CFA0-47A7-95D3-EFC1F4A13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EPO Register;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867C676-DA5F-463C-BC86-6306EEE9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63D8080-4EF6-4140-A2FA-2DCBECDF5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167AAAA-1FC1-4839-BD3D-5E29B4B1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967249C-5746-415D-957E-8505D563D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 year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56772D1-8AAE-4F76-B680-198AF568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51A790E-CBBB-4786-9EE0-A40F8F0C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E7B485E-C576-4447-A1B7-07303CD6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claims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6C03128-B871-4677-884E-36A199108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E64B091-8511-4690-AAEF-55EB93FB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938CCC8-03B1-46A1-9987-03A448BF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7B08DD7-C2B9-4FB7-BCC6-1D7F90BD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 Register: patent maintained as amended after opposition; B2 published on 24 April 2024.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C6BC1A-CB04-4255-A8E9-32352FC8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CB0BCBD-BAC7-412A-9F99-08E9BCFC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F231C04-AA18-4247-BC13-C8908F81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Recorded proprietor in the public register: Pixan Oy. Current national validity, fees and encumbrances across the family have not yet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4756773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98BE578-BEB3-4087-B2C4-5549C71C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 · TECHNICAL DIFFERENTIATION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7EAB164-9D18-4C3D-A124-C30FB3654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13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Technical differentiation lies in the claims — not product appearance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881B98B-4B85-4236-A925-5AD553C0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3B9B954-75FB-4A9F-B902-861682C9A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B64F095-ABC8-4811-83BD-99BC8E99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162AFB3-542F-48BF-A1A9-006027C81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169C0D5-B021-4306-BBA0-74824B7AB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financing assessment must trace every material claim limitation to a product and country.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D9F2049-6F67-48C4-858F-CC4A2E1BE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patent specification provides a technical hypothesis and documented protection text.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the decision supports the link between certain products and claims 1 and 6.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Independent tests, teardown dossiers and claim charts for other countries are missing from the public evidence.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6D96542-3D74-41E2-9C08-B11C6C94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21CCBA4-1E17-42B1-92D0-29DB55B58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 chain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9158CE8-0E71-48AE-A17F-E5B040B7B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Sample → chain of custody → teardown → measurement data → claim chart → counsel review → relevant sales.</a:t>
            </a:r>
          </a:p>
        </p:txBody>
      </p:sp>
    </p:spTree>
    <p:extLst>
      <p:ext uri="{BB962C8B-B14F-4D97-AF65-F5344CB8AC3E}">
        <p14:creationId xmlns:p14="http://schemas.microsoft.com/office/powerpoint/2010/main" val="201522575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3B67A0E-2B84-4196-93FC-D4813127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 · MARKET SIZE AND SCOPE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60B797C-4817-4DDA-A3CE-095F5FAD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8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size is currently a range and a set of observations — not one number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B03F39-7FEF-4EA9-8F70-31D9B09B1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B8ADC96-478D-4CAF-9011-0C9859C7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EE9A080-4964-4529-BC78-CD2C0587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Market-values;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16738B-1392-4D3F-8079-72E79EE8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85EA7C3-3C35-416E-800E-73DDCAC93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42D5BD3-2D10-4207-93FD-F28C8B38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76658E5-003E-404F-9244-1CDAF85C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country research rows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D4A576D-9774-4A9D-9781-0EBAF64A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0A98095-6006-4A8E-AD10-979B1C08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CA79E6D-86C8-422D-B81C-883DF600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with annual observations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3B260E5-25E6-4F2F-A52E-8242DD99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1E2F2A6-2440-4722-BE6A-FBCA8D9E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26.0–46.32bn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05D5357-270B-45E4-BB4F-80DD3A6E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commercial global 2025 range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63A138C-BE9A-458A-B5C8-684D80DE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Germany: the liquid model has low confidence and a range of EUR 667.92–1,654.62 million; it must not be presented as observed sales.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68EEAFE0-138D-46C2-B6AC-B52E96A80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A2865D7-3A1D-4496-BF24-ACD8F7FA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83D6E84-227F-45DC-901D-FDC1F47F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There are 0 accepted official national consumer-retail values. Atlas does not publish its own global estimate before the methodological gates are met.</a:t>
            </a:r>
          </a:p>
        </p:txBody>
      </p:sp>
    </p:spTree>
    <p:extLst>
      <p:ext uri="{BB962C8B-B14F-4D97-AF65-F5344CB8AC3E}">
        <p14:creationId xmlns:p14="http://schemas.microsoft.com/office/powerpoint/2010/main" val="63001388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8B38D50-BC00-41A2-AA44-3D198BDC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7 · CUSTOMERS AND PURCHASE RATIONALE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80A0AA-C55A-4D9F-BD2D-F37957C6E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3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Customer demand still requires validation across three decision logics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B95CA8C-B083-4F89-8157-4C34A0168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1719DB8-B57C-49B2-A1BA-D934EEB5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925C6F1-A6DD-40FF-8BE8-BE08AD84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WIPO licensing; WIPO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F67CB06-A495-4034-AAEC-CEB37BCD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9B12B50-168E-42BA-B3A5-20DF33B4D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Potential segments are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A7444C-85C8-4D1A-9F13-025C64B2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manufacturer buys freedom to operate, legal certainty or technology — if the relevant product and territory are established.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technology provider evaluates integrability, freedom to operate and unit economics.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financier evaluates title, realisable cash flow, control and downside value.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98E7C2F-77FE-4DA1-9598-209822CF9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910E5A3-870F-49B8-AA5B-DDA7B152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Current evidence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D7FE59A-DC23-404D-A680-FEF69D883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public evidence does not confirm named customers, pilots, purchase intentions or signed licences.</a:t>
            </a:r>
          </a:p>
        </p:txBody>
      </p:sp>
    </p:spTree>
    <p:extLst>
      <p:ext uri="{BB962C8B-B14F-4D97-AF65-F5344CB8AC3E}">
        <p14:creationId xmlns:p14="http://schemas.microsoft.com/office/powerpoint/2010/main" val="30316815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A46EE5-F28E-40A2-9CC6-C6EF2D1D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8 · COMPETITION AND ALTERNATIVES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B1C18C-0C43-430D-B6D6-25363DBCF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Distinguish competition, alternatives and patent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79097EB-985F-468B-9C1C-E0CE5E4F0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77D304C-DE3D-489D-B407-2419FA5C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BD5674A-84A4-4C5A-9E41-1BFEB1A4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Evidence Register; EPO;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D8C2F7B-279C-4A92-8D1C-40A3CB60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Benchmark 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solutions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Does the product solve the same problem differently?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families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there overlapping protection or FTO risk?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assignment, settlement or own use?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Assumption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Non-patented alternatives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by designing around the claims?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977EACA-90AF-41FC-A371-E22E82D0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Competitor analysis is a material open workstream in the lender's technology assessment.</a:t>
            </a:r>
          </a:p>
        </p:txBody>
      </p:sp>
    </p:spTree>
    <p:extLst>
      <p:ext uri="{BB962C8B-B14F-4D97-AF65-F5344CB8AC3E}">
        <p14:creationId xmlns:p14="http://schemas.microsoft.com/office/powerpoint/2010/main" val="70034258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EF4C795-E4A5-4B4D-92F0-884D799F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 · VALIDATION AND CURRENT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9B015B1-7FBA-46BA-89A0-0D11ED22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Uneven validation strength is explicitly classified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F9365B0-34D6-4EF3-B294-40C2518C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5BF6B39-DDA4-431B-9FDE-BCCC393BB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BA04A0-CF8C-470E-B2A5-99117820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35B287E-656F-42E0-908C-3952909A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Claim scope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Classification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exists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is missing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 Register and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 status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 proceedings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Two official decisions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Finality, enforcement, cash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Market observations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Official figures from 5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retail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testing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specification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test and raw 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evidence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Commercialisation framework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Customers, contracts,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669A97A-CD0A-49AA-883E-F5D6BABC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Proven legal evidence does not replace technical, commercial or financial validation.</a:t>
            </a:r>
          </a:p>
        </p:txBody>
      </p:sp>
    </p:spTree>
    <p:extLst>
      <p:ext uri="{BB962C8B-B14F-4D97-AF65-F5344CB8AC3E}">
        <p14:creationId xmlns:p14="http://schemas.microsoft.com/office/powerpoint/2010/main" val="44235321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BCAD885-D9BE-4BFD-83C5-6217780D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10 · COMMERCIALISATION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E16017F-A5CB-48E2-8488-35D92C3A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3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proceeds through gates, not mass assertions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2AE1B71-100E-4E9D-88F5-925972D1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FB3D474-FF4A-4A2F-848A-D478620C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72138CC-3200-4DB7-BA9D-F0C5562F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WIPO licensing; dispute resolution;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B0CFFCB-262F-496A-8569-D338B5001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2C90362-E4DC-47FC-84DD-29D1A9785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4BF1AB5-170A-4A22-A2E8-2F1EC27F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E7CB702-E98D-410E-8170-C31ACB6B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Rights matrix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AB01624-0A38-4515-826B-9D364849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Confirm country, proprietor, fee payment, encumbrance, operative claims and deadlines.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63DD7B3C-669B-47B5-8C64-350D3292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B112A15-A971-41FC-BA3B-81BC815D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56E1838-ED4E-4956-8F3D-B015B0D1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dossier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328C0A9-9DCB-4314-9E7B-DADDD8A9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Obtain a sample, document the chain and prepare a counsel-reviewed claim chart.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1BDB2710-E6DB-4ABB-B659-8AE356B9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E490D84-6273-4CA9-A7F3-9C3B6BA75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E7165AA-77A1-4A12-86BF-CDD224294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Target scoring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ED2894B-9714-4B9C-A0B4-F66386DE1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rights, evidence, sales, counterparty, cost and enforcement.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9EF10E90-90BC-4142-BDFF-A7FF5608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1CD0853-B584-4B0E-A45C-4A62E177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842E3F1-F72D-4939-B8AB-2205FA5F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Limited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8F0C00B-1FCB-44CF-8591-A977D093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Test a licence, settlement, assignment or financing route on auditable terms.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2F7C796-5320-483E-A5FA-DAD5C3C9F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an executed contract or receivable creates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95034766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99523FB-5F13-4677-8CD9-E90D0A9F1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11 · FINANCIAL MODEL AND 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B2EE27A-9FDB-4C2E-9CCE-23528483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Evidence—not market share—must drive the model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B8858B1-EDD1-43D3-8E2C-C3C430CC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128A027-32B6-4F37-9C67-8F20C1F3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1D71BD-6F7A-4D45-90CE-637E85A8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WIPO IP valuation; Market-values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CF0507-2C35-414B-9124-C88EFCFB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Bridge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 to verify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country-level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0 retail-value donors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Attributable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Validity × product × period × country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terms, costs, taxes, delay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Downside realisation and control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17FEBF5-05E0-4BAA-B9BD-B0CD34CF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Show downside/base/upside only after every bridge input has been documented.</a:t>
            </a:r>
          </a:p>
        </p:txBody>
      </p:sp>
    </p:spTree>
    <p:extLst>
      <p:ext uri="{BB962C8B-B14F-4D97-AF65-F5344CB8AC3E}">
        <p14:creationId xmlns:p14="http://schemas.microsoft.com/office/powerpoint/2010/main" val="130815241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70452E5-922B-46EF-9FA0-F5A74C7F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EA01E34-7850-47DC-A422-5E0B1C862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Financing decision only after four critical gaps are closed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0D189D5-6693-447D-A821-7229AA7B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1. Counsel-signed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2. Claim charts for prioritised products and documented relevant sales.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3. Realised or contract-based cash flows and audited financial information.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4. Independent valuation and downside collateral analysis.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Next decision: approve a controlled 90-day diligence phase?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B5B8DF3-F0AE-486D-9AAB-49F353CB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2026.07.23-16 · 2026-07-22 · 12 / 12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CB61A2-6585-4F54-A917-7D4853F6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749808"/>
            <a:ext cx="795527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12 · Risks, controls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192231387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2026-07-23T19:05:06.3440000Z</dcterms:created>
  <dcterms:modified xsi:type="dcterms:W3CDTF">2026-07-23T19:05:06.3440000Z</dcterms:modified>
</coreProperties>
</file>