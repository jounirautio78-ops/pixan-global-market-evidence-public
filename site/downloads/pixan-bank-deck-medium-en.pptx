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1f8f822519a4383" /><Relationship Type="http://schemas.openxmlformats.org/officeDocument/2006/relationships/extended-properties" Target="/docProps/app.xml" Id="R201de96f6eb64b50" /><Relationship Type="http://schemas.openxmlformats.org/officeDocument/2006/relationships/officeDocument" Target="/ppt/presentation.xml" Id="Ra241284d6a44481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bd00cdc78fb4774"/>
  </p:sldMasterIdLst>
  <p:notesMasterIdLst>
    <p:notesMasterId xmlns:r="http://schemas.openxmlformats.org/officeDocument/2006/relationships" r:id="R45db546a411b449e"/>
  </p:notesMasterIdLst>
  <p:sldIdLst>
    <p:sldId xmlns:r="http://schemas.openxmlformats.org/officeDocument/2006/relationships" id="256" r:id="R7cbe9b18231a4303"/>
    <p:sldId xmlns:r="http://schemas.openxmlformats.org/officeDocument/2006/relationships" id="257" r:id="R8fa3906a058e4ac7"/>
    <p:sldId xmlns:r="http://schemas.openxmlformats.org/officeDocument/2006/relationships" id="258" r:id="R3a39f7e348654d97"/>
    <p:sldId xmlns:r="http://schemas.openxmlformats.org/officeDocument/2006/relationships" id="259" r:id="R9ac48e35eefe42b6"/>
    <p:sldId xmlns:r="http://schemas.openxmlformats.org/officeDocument/2006/relationships" id="260" r:id="Rbe81582345e04c6e"/>
    <p:sldId xmlns:r="http://schemas.openxmlformats.org/officeDocument/2006/relationships" id="261" r:id="R95d82665849e49ea"/>
    <p:sldId xmlns:r="http://schemas.openxmlformats.org/officeDocument/2006/relationships" id="262" r:id="R19c3ce4487944c55"/>
    <p:sldId xmlns:r="http://schemas.openxmlformats.org/officeDocument/2006/relationships" id="263" r:id="R49eb2ae880904ab3"/>
    <p:sldId xmlns:r="http://schemas.openxmlformats.org/officeDocument/2006/relationships" id="264" r:id="R4e67af77151c434e"/>
    <p:sldId xmlns:r="http://schemas.openxmlformats.org/officeDocument/2006/relationships" id="265" r:id="R87d9172290844f4a"/>
    <p:sldId xmlns:r="http://schemas.openxmlformats.org/officeDocument/2006/relationships" id="266" r:id="Rbede7635fa2f40aa"/>
    <p:sldId xmlns:r="http://schemas.openxmlformats.org/officeDocument/2006/relationships" id="267" r:id="R14bae8b35941467d"/>
  </p:sldIdLst>
  <p:sldSz cx="12191999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8245f1ad8de4cd3" /><Relationship Type="http://schemas.openxmlformats.org/officeDocument/2006/relationships/slideMaster" Target="/ppt/slideMasters/slideMaster1.xml" Id="R7bd00cdc78fb4774" /><Relationship Type="http://schemas.openxmlformats.org/officeDocument/2006/relationships/notesMaster" Target="/ppt/notesMasters/notesMaster1.xml" Id="R45db546a411b449e" /><Relationship Type="http://schemas.openxmlformats.org/officeDocument/2006/relationships/presProps" Target="/ppt/presProps.xml" Id="R5aec982e3bc14c31" /><Relationship Type="http://schemas.openxmlformats.org/officeDocument/2006/relationships/viewProps" Target="/ppt/viewProps.xml" Id="R5d2361cfc101473a" /><Relationship Type="http://schemas.openxmlformats.org/officeDocument/2006/relationships/tableStyles" Target="/ppt/tableStyles.xml" Id="Ra478de71897d4603" /><Relationship Type="http://schemas.openxmlformats.org/officeDocument/2006/relationships/slide" Target="/ppt/slides/slide1.xml" Id="R7cbe9b18231a4303" /><Relationship Type="http://schemas.openxmlformats.org/officeDocument/2006/relationships/slide" Target="/ppt/slides/slide2.xml" Id="R8fa3906a058e4ac7" /><Relationship Type="http://schemas.openxmlformats.org/officeDocument/2006/relationships/slide" Target="/ppt/slides/slide3.xml" Id="R3a39f7e348654d97" /><Relationship Type="http://schemas.openxmlformats.org/officeDocument/2006/relationships/slide" Target="/ppt/slides/slide4.xml" Id="R9ac48e35eefe42b6" /><Relationship Type="http://schemas.openxmlformats.org/officeDocument/2006/relationships/slide" Target="/ppt/slides/slide5.xml" Id="Rbe81582345e04c6e" /><Relationship Type="http://schemas.openxmlformats.org/officeDocument/2006/relationships/slide" Target="/ppt/slides/slide6.xml" Id="R95d82665849e49ea" /><Relationship Type="http://schemas.openxmlformats.org/officeDocument/2006/relationships/slide" Target="/ppt/slides/slide7.xml" Id="R19c3ce4487944c55" /><Relationship Type="http://schemas.openxmlformats.org/officeDocument/2006/relationships/slide" Target="/ppt/slides/slide8.xml" Id="R49eb2ae880904ab3" /><Relationship Type="http://schemas.openxmlformats.org/officeDocument/2006/relationships/slide" Target="/ppt/slides/slide9.xml" Id="R4e67af77151c434e" /><Relationship Type="http://schemas.openxmlformats.org/officeDocument/2006/relationships/slide" Target="/ppt/slides/slide10.xml" Id="R87d9172290844f4a" /><Relationship Type="http://schemas.openxmlformats.org/officeDocument/2006/relationships/slide" Target="/ppt/slides/slide11.xml" Id="Rbede7635fa2f40aa" /><Relationship Type="http://schemas.openxmlformats.org/officeDocument/2006/relationships/slide" Target="/ppt/slides/slide12.xml" Id="R14bae8b3594146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e5a512611642c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303dbfec6df4528" /><Relationship Type="http://schemas.openxmlformats.org/officeDocument/2006/relationships/notesMaster" Target="/ppt/notesMasters/notesMaster1.xml" Id="R21b65ddb1fcf463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e107fb8c3d64802" /><Relationship Type="http://schemas.openxmlformats.org/officeDocument/2006/relationships/notesMaster" Target="/ppt/notesMasters/notesMaster1.xml" Id="R1b6d6cafad404c0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9b10ba8afe9448d" /><Relationship Type="http://schemas.openxmlformats.org/officeDocument/2006/relationships/notesMaster" Target="/ppt/notesMasters/notesMaster1.xml" Id="R1123036d564d4cd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3d109c066b407f" /><Relationship Type="http://schemas.openxmlformats.org/officeDocument/2006/relationships/notesMaster" Target="/ppt/notesMasters/notesMaster1.xml" Id="R6170a875f550403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f83572a4894886" /><Relationship Type="http://schemas.openxmlformats.org/officeDocument/2006/relationships/notesMaster" Target="/ppt/notesMasters/notesMaster1.xml" Id="R69b8fbd2f5ad4e3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ffcf76e759b4bc2" /><Relationship Type="http://schemas.openxmlformats.org/officeDocument/2006/relationships/notesMaster" Target="/ppt/notesMasters/notesMaster1.xml" Id="Raf5323cf1e90471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0b94afa7f24da5" /><Relationship Type="http://schemas.openxmlformats.org/officeDocument/2006/relationships/notesMaster" Target="/ppt/notesMasters/notesMaster1.xml" Id="R0be4e310954043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5f5daa3974b40e3" /><Relationship Type="http://schemas.openxmlformats.org/officeDocument/2006/relationships/notesMaster" Target="/ppt/notesMasters/notesMaster1.xml" Id="R9a02c4f025ff4e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a2bae3777c54d71" /><Relationship Type="http://schemas.openxmlformats.org/officeDocument/2006/relationships/notesMaster" Target="/ppt/notesMasters/notesMaster1.xml" Id="Rfe968ca9823444e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f0fcce7e7d640d7" /><Relationship Type="http://schemas.openxmlformats.org/officeDocument/2006/relationships/notesMaster" Target="/ppt/notesMasters/notesMaster1.xml" Id="R5b9be964204743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578bf15d99e46ed" /><Relationship Type="http://schemas.openxmlformats.org/officeDocument/2006/relationships/notesMaster" Target="/ppt/notesMasters/notesMaster1.xml" Id="R21a1d9462280455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66550a4526941f0" /><Relationship Type="http://schemas.openxmlformats.org/officeDocument/2006/relationships/notesMaster" Target="/ppt/notesMasters/notesMaster1.xml" Id="Rf2153d146e7c46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98a3e3cd8a41c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3e2292b7ac4af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843dc6a5f5434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1eaf1e5c1149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3b7295ce9946a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b0a5e3cfe24f1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4070df5c1e47c7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c5ca2c63b44903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8a7784ee8846c0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1f346e1c1d42b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29968038d2443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3CB071-FDB6-4E2F-98EC-81045704E04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CD736D49-93B3-4CC3-B30D-17F781B5CF3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282E358-67F2-40A9-85C9-25225A3A558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67817E3-FC28-4F3C-BF17-4637578CF3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D9A1783-C4C7-412A-8DD1-E5DF2AEFAF1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B1E3EE1-03C9-4D93-AA52-222A18DB9F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DD16187-EFF5-4164-B2DE-51CE4F0E8C2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367902C-682F-4ED4-A966-05332B93966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926E5E-ED8B-49FB-B19C-2AB827EA04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A812921-0AEF-48E0-B42C-E3A5BAC700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A0482C-04E2-486B-B13C-060B550770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60ABC3B-9C69-45C6-8B8E-BD54D70B99A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ADCC661-4F7E-41EA-B3CB-C61C1B82F29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BC98F47-1A00-4D2A-BF1A-A32FDD417C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098D2B4-1832-4449-85D8-885A657414F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853B09-51CA-4263-9BFF-5D37901468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856FD38-E05E-477A-862D-74223F71AE1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E9FF4D9-0316-4272-91E2-CA0B297F727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77D405F-6575-4400-876C-AF1DB1A75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C507100-A8D9-4F36-9894-374EAA5A61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83D28C-2B53-4344-97B0-E2DB6CAE43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4466423-5927-4496-BD6F-972CF7A888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6356C0A-671D-4396-B553-7C3797FEF98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173C583-5DE6-472E-B401-B7560348736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297FA1FE-4D93-41B8-ABE9-464A0B5A9CF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CE7D14F-E529-4A6E-9024-B7F3B1DD893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B1FDE28-B13B-42D1-951D-435AE603160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89FC15E3-F15F-4619-80AE-3120384AA2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BE8D78B-35F9-4C05-A87D-B096BF34DF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E97600C-DE7D-4A30-A543-B233D95E7E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16750DD8-164B-4C17-B059-52F06CA56C2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A3E9E09-FE13-4A87-A3F1-234D536268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D43A6FA9-AC4B-423F-9D80-D83EDD9566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17760BA-429F-4E35-A403-7B332267DF3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11C0052-60A1-4D53-96E3-0D634BFD29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86C781F-6855-44D2-9439-A2623A5003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9855EA-0CC2-4DE4-8BDE-13C9955890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BEC2F1-B728-4EA4-AE73-6FE1BA5C311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042435A-72B7-4E61-B00D-EE4BC48A975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5BC047D-5A69-41B5-A8BA-54B2EA879D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8DA7739-AF3C-40C1-B0ED-FB11C8B239B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C57649D-AFB0-4E5F-8615-B28F3B1BE57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CA5425-51FB-4AF8-831B-E132DB045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93DFA41-53D1-4409-9C76-700C6ED0B092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B0A82083-BAA8-489A-B95E-30F1C9277DA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8C9B86C-C4A1-4691-B327-204CD19A4B7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2C07262-A1FC-45AF-8103-7591F34C07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CD0032-7ED1-4642-98D8-DA624E3693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8D01BE5-FB15-438C-9CA7-2F5388109D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302645D-E086-4EB8-B6E8-2F050C60A3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01520EC-F97E-42B2-9192-E3225118A6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CB1A74A-41D6-4E91-A463-83897AA34AA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05E11FD-1099-45E6-A1CF-5710CFDFA0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7DEC973-C504-4801-92D2-090B7A7C7B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9E6260F-E3F8-4E26-95BE-BA7A712EB62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1CB64D-B64E-449B-8837-B18EDD57052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C3788C-4BEF-4BBE-9215-BE33EF01A1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BDD443-6E8A-41A5-A1C5-4E5365740F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774d1f34c2c45a9" /><Relationship Type="http://schemas.openxmlformats.org/officeDocument/2006/relationships/slideLayout" Target="/ppt/slideLayouts/slideLayout1.xml" Id="R5802b66091104732" /><Relationship Type="http://schemas.openxmlformats.org/officeDocument/2006/relationships/slideLayout" Target="/ppt/slideLayouts/slideLayout2.xml" Id="R910585c1b8c44737" /><Relationship Type="http://schemas.openxmlformats.org/officeDocument/2006/relationships/slideLayout" Target="/ppt/slideLayouts/slideLayout3.xml" Id="R47960bef1a064957" /><Relationship Type="http://schemas.openxmlformats.org/officeDocument/2006/relationships/slideLayout" Target="/ppt/slideLayouts/slideLayout4.xml" Id="R7baf2f5bb0f14c7d" /><Relationship Type="http://schemas.openxmlformats.org/officeDocument/2006/relationships/slideLayout" Target="/ppt/slideLayouts/slideLayout5.xml" Id="Re09a058364634a6d" /><Relationship Type="http://schemas.openxmlformats.org/officeDocument/2006/relationships/slideLayout" Target="/ppt/slideLayouts/slideLayout6.xml" Id="R550ff65a282743bc" /><Relationship Type="http://schemas.openxmlformats.org/officeDocument/2006/relationships/slideLayout" Target="/ppt/slideLayouts/slideLayout7.xml" Id="R77928f0a7b9143dd" /><Relationship Type="http://schemas.openxmlformats.org/officeDocument/2006/relationships/slideLayout" Target="/ppt/slideLayouts/slideLayout8.xml" Id="Rbe418784e7fd42d9" /><Relationship Type="http://schemas.openxmlformats.org/officeDocument/2006/relationships/slideLayout" Target="/ppt/slideLayouts/slideLayout9.xml" Id="Raf417f40e7944b6c" /><Relationship Type="http://schemas.openxmlformats.org/officeDocument/2006/relationships/slideLayout" Target="/ppt/slideLayouts/slideLayout10.xml" Id="R251fc99aaa994196" /><Relationship Type="http://schemas.openxmlformats.org/officeDocument/2006/relationships/slideLayout" Target="/ppt/slideLayouts/slideLayout11.xml" Id="R4d59b883590544e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F095A68-3C3B-4FE3-A6DB-5E959446658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75C3797-38BA-450F-8BCB-DA712724F0C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9B0535A-688E-4B58-B871-BE5FB23B60A0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12F49EC-627E-4437-9414-7542EEA65C1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9BC8D1-7358-435E-9B03-C7B47D36675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02b66091104732"/>
    <p:sldLayoutId xmlns:r="http://schemas.openxmlformats.org/officeDocument/2006/relationships" id="2147483650" r:id="R910585c1b8c44737"/>
    <p:sldLayoutId xmlns:r="http://schemas.openxmlformats.org/officeDocument/2006/relationships" id="2147483651" r:id="R47960bef1a064957"/>
    <p:sldLayoutId xmlns:r="http://schemas.openxmlformats.org/officeDocument/2006/relationships" id="2147483652" r:id="R7baf2f5bb0f14c7d"/>
    <p:sldLayoutId xmlns:r="http://schemas.openxmlformats.org/officeDocument/2006/relationships" id="2147483653" r:id="Re09a058364634a6d"/>
    <p:sldLayoutId xmlns:r="http://schemas.openxmlformats.org/officeDocument/2006/relationships" id="2147483654" r:id="R550ff65a282743bc"/>
    <p:sldLayoutId xmlns:r="http://schemas.openxmlformats.org/officeDocument/2006/relationships" id="2147483655" r:id="R77928f0a7b9143dd"/>
    <p:sldLayoutId xmlns:r="http://schemas.openxmlformats.org/officeDocument/2006/relationships" id="2147483656" r:id="Rbe418784e7fd42d9"/>
    <p:sldLayoutId xmlns:r="http://schemas.openxmlformats.org/officeDocument/2006/relationships" id="2147483657" r:id="Raf417f40e7944b6c"/>
    <p:sldLayoutId xmlns:r="http://schemas.openxmlformats.org/officeDocument/2006/relationships" id="2147483658" r:id="R251fc99aaa994196"/>
    <p:sldLayoutId xmlns:r="http://schemas.openxmlformats.org/officeDocument/2006/relationships" id="2147483659" r:id="R4d59b883590544e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fc5f906a748409f" /><Relationship Type="http://schemas.openxmlformats.org/officeDocument/2006/relationships/notesSlide" Target="/ppt/notesSlides/notesSlide1.xml" Id="R4fbab4859af64a8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ef54019e3f4224" /><Relationship Type="http://schemas.openxmlformats.org/officeDocument/2006/relationships/notesSlide" Target="/ppt/notesSlides/notesSlide2.xml" Id="R4e0e5a6d452141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d58574622ec41c2" /><Relationship Type="http://schemas.openxmlformats.org/officeDocument/2006/relationships/notesSlide" Target="/ppt/notesSlides/notesSlide3.xml" Id="R53f478c5f31347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8eda83e1ee54675" /><Relationship Type="http://schemas.openxmlformats.org/officeDocument/2006/relationships/notesSlide" Target="/ppt/notesSlides/notesSlide4.xml" Id="R95eee84373fe46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6f71dcd7e544949" /><Relationship Type="http://schemas.openxmlformats.org/officeDocument/2006/relationships/notesSlide" Target="/ppt/notesSlides/notesSlide5.xml" Id="Rb9448d8a140a494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55327b751b04ea7" /><Relationship Type="http://schemas.openxmlformats.org/officeDocument/2006/relationships/notesSlide" Target="/ppt/notesSlides/notesSlide6.xml" Id="R52af4cf4f180426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1426b9f48f4da9" /><Relationship Type="http://schemas.openxmlformats.org/officeDocument/2006/relationships/notesSlide" Target="/ppt/notesSlides/notesSlide7.xml" Id="Rc35f927c88954aa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95e100b2624107" /><Relationship Type="http://schemas.openxmlformats.org/officeDocument/2006/relationships/notesSlide" Target="/ppt/notesSlides/notesSlide8.xml" Id="Rbbb6562c21434b1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171bff605034d61" /><Relationship Type="http://schemas.openxmlformats.org/officeDocument/2006/relationships/notesSlide" Target="/ppt/notesSlides/notesSlide9.xml" Id="Rb05fd33868b9409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588a80570894b7b" /><Relationship Type="http://schemas.openxmlformats.org/officeDocument/2006/relationships/notesSlide" Target="/ppt/notesSlides/notesSlide10.xml" Id="R969ebcf3466445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e94bc84ec646e7" /><Relationship Type="http://schemas.openxmlformats.org/officeDocument/2006/relationships/notesSlide" Target="/ppt/notesSlides/notesSlide11.xml" Id="R8b39b4e2534c497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12a5ae4efb14c44" /><Relationship Type="http://schemas.openxmlformats.org/officeDocument/2006/relationships/notesSlide" Target="/ppt/notesSlides/notesSlide12.xml" Id="R2b2582ac6ed94e3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A0BD2F9-AEB7-4045-8C29-B26917095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A51428-C56E-45FC-B186-8F377004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6ED7133-C6A1-48C8-8ABF-1D4E7B2D1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D992D2A-A169-4AFE-8982-1F48CA105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12-slide financing and technology assessment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18A268D2-D2FB-4A29-A026-4801B0444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AF991A-216C-4677-9197-2AB2ED65E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98B2D12-E37D-4D9E-9071-93D577D7E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2026.07.23-15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FA024B4-6C59-4B05-8809-E94D0D7F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2026-07-22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12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3172FF5-40F1-4648-A886-E29378C5D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3CB8C0B-04FD-4011-80E4-621A045A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741132C-9CEB-4E83-A6E9-D9124A15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3A7D54D-5430-4754-8BD2-989160DF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315968"/>
            <a:ext cx="54864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 · Financing thesis</a:t>
            </a:r>
          </a:p>
        </p:txBody>
      </p:sp>
    </p:spTree>
    <p:extLst>
      <p:ext uri="{BB962C8B-B14F-4D97-AF65-F5344CB8AC3E}">
        <p14:creationId xmlns:p14="http://schemas.microsoft.com/office/powerpoint/2010/main" val="74509857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4B8B2C9-CCB3-4CEA-85BD-BC46ADFBD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 · 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49286FF-24E2-4A82-B0D3-F1ABED100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problem lies as much in the evidence as in the technology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70C2361-BDA5-4F2E-8A32-B1BBBF65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5FDDED7-0D94-432B-A979-34831FC85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20F117C-97AD-44F0-8B24-CB4D43B4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Atlas readiness;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D985C-7556-4A33-8647-D442AF556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89A2395-0954-473D-B2DF-746A164B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Broad market claims do not become lender-ready collateral without a country-specific rights, product, sales and cash-flow chain.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71A701A-A5F7-4216-AF72-FC6903189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Market metrics are fragmented: shipments, taxes, litres and commercial estimates are not the same thing.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family publication does not prove current validity or absence of encumbrances.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court judgment alone does not prove paid damages or a global royalty base.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0647B9C-C98E-4942-AF3E-9941EF04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2781B4C-F94A-4579-8F3B-FF923F6FA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Lender's core question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8D5BC21-D7FA-425C-8618-CD2CBECBC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Which verified asset and cash flow covers the loan in a downside case?</a:t>
            </a:r>
          </a:p>
        </p:txBody>
      </p:sp>
    </p:spTree>
    <p:extLst>
      <p:ext uri="{BB962C8B-B14F-4D97-AF65-F5344CB8AC3E}">
        <p14:creationId xmlns:p14="http://schemas.microsoft.com/office/powerpoint/2010/main" val="144123034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0B31499-2098-49E2-AE9C-3DD91CF3D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3 · PATENTED 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EB71770-697D-4F54-9763-1815D40E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solution controls vaporiser power based on measured resistance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0EFE56E-B4E2-47D6-AEC5-AFC48BC80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0EC18DB-9148-4C44-BA47-068C27D3D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4E03F-F873-4942-A639-0E3A0AD9A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93DBE4C-5B2E-46F5-A061-E6A505CC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0FE2CB2-6B1B-4F86-9BA9-65FB74E5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9BD4630-081D-47B5-8D36-E7F3BE405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 is based on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power relationship is described as non-proportional.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User adjustment occurs between a non-zero minimum and a stored maximum.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7372E37-C827-4B6E-A456-D13E178A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86163EE-63A4-4C42-B9DB-E4069A676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Scope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A5F1F78-4700-4C9B-B0B0-A77842582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is a plain-language summary of the published patent specification. Only the operative claims in the relevant country and a product-specific claim chart are determinative.</a:t>
            </a:r>
          </a:p>
        </p:txBody>
      </p:sp>
    </p:spTree>
    <p:extLst>
      <p:ext uri="{BB962C8B-B14F-4D97-AF65-F5344CB8AC3E}">
        <p14:creationId xmlns:p14="http://schemas.microsoft.com/office/powerpoint/2010/main" val="11625521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AC091C6-52DE-4CDB-B4A9-CB9FF933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4 · PATENT AND IP STATUS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8366A9-00F9-4E56-8612-801D096B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IP core is documented; country-level usability still requires reconciliation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B1696F2-1FA6-479F-B5C2-F7A64E345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3CA2FF0-F45C-4B6E-BD25-446739BBC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880BF0-18D7-4F35-92B5-647507DF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EPO Register;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797CAD4-7381-4C2B-BA0C-B4F55D2E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FB01C58-BF62-486F-B927-94F70EF8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5EC31F-7AE8-4E0C-BB29-6949F18E2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B96556F-9EAA-40C1-9781-8E7F969E3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 year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77AA7F28-3B7D-4129-AA13-14D3D5004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5708FFD0-F7FB-4279-8BF0-F689638FE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2911F1A-D394-465C-9C05-6A41D133E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claims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28B2950-43F2-4250-92D9-0877417CD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61E8E42-963F-45A1-82D2-5C0EE4AFA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E38676E-06F1-4720-A0F3-2C5FAB9F1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2D4F11DA-980E-4BB8-B22F-AB332C94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 Register: patent maintained as amended after opposition; B2 published on 24 April 2024.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045CECC-7916-4F1F-9D20-621B30A58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40BC090-9DFF-49BE-A544-F4DF04911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20D2B4A-017C-420C-9220-41171F97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Recorded proprietor in the public register: Pixan Oy. Current national validity, fees and encumbrances across the family have not yet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42531930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01A883-B320-4A44-8DD2-1A32ABD8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 · TECHNICAL DIFFERENTIATION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E173198-7AA7-47E2-B03B-A61014EE6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13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Technical differentiation lies in the claims — not product appearance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AF20F3D-1611-4FD1-A625-442EB15EF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0E27165-22ED-42E2-8AA3-214627A6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2D581E-F40C-4E15-ABC2-54B62A041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EDAE153-4E49-4C56-9F3E-ABF6972C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7AB64F2-15E6-43B7-8A23-647DAC7D6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financing assessment must trace every material claim limitation to a product and country.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1849CD9-603A-4D4B-9CBC-B1396426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patent specification provides a technical hypothesis and documented protection text.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Germany: the decision supports the link between certain products and claims 1 and 6.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Independent tests, teardown dossiers and claim charts for other countries are missing from the public evidence.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D1CF742-F610-46C8-B283-C8C4B2907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C631C72-C4A6-4238-A435-C30E2E6DD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 chain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A455349-1A6C-4A89-AD1E-0BF8882D1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Sample → chain of custody → teardown → measurement data → claim chart → counsel review → relevant sales.</a:t>
            </a:r>
          </a:p>
        </p:txBody>
      </p:sp>
    </p:spTree>
    <p:extLst>
      <p:ext uri="{BB962C8B-B14F-4D97-AF65-F5344CB8AC3E}">
        <p14:creationId xmlns:p14="http://schemas.microsoft.com/office/powerpoint/2010/main" val="826429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46A273C-82E6-49B9-A584-F3B95BFE1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 · MARKET SIZE AND SCOPE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20946E9-97C5-4CE4-8C36-821B42B4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8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Market size is currently a range and a set of observations — not one number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E6D0B54-9FA3-4B3E-BDC8-470CBFEA7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3B21057-7CBC-440E-831E-061E852D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8387860-F331-4657-8F15-ECE41D2E6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Market-values; IMARC; GVR; Fortune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1290B9E-0100-4D62-A908-AA7DDB15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18F8368-11F3-4617-AD88-8E726453B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A622434-1EED-450C-B9A4-5221CED54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195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1442F14-4A7E-43D0-890C-86C4E614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country research rows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07002DE-39C6-4991-A9D3-3DE5023E8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318072B-200D-4477-AB12-D7AFD42A8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DDE2352-AB57-4963-A71B-BCE62AEBC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countries with annual observations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D94BA6-0FA8-478E-9641-B60EE464F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C9A3367-079B-4CE1-B5A7-77C6AD6C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26.0–46.32bn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67372151-5D92-4944-9254-031C6D280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commercial global 2025 range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ADA6D07-F0B2-4E02-A59B-0171C9385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Germany: the liquid model has low confidence and a range of EUR 667.92–1,654.62 million; it must not be presented as observed sales.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8922F8C-7C0F-4F3A-AEF9-79C679FA3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36D39FB-CCF4-4809-8DD4-12D35A85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FCBB400-EA67-4A63-99D8-048B79CBB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There are 0 accepted official national consumer-retail values. Atlas does not publish its own global estimate before the methodological gates are met.</a:t>
            </a:r>
          </a:p>
        </p:txBody>
      </p:sp>
    </p:spTree>
    <p:extLst>
      <p:ext uri="{BB962C8B-B14F-4D97-AF65-F5344CB8AC3E}">
        <p14:creationId xmlns:p14="http://schemas.microsoft.com/office/powerpoint/2010/main" val="70048408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DF4D2C0-76BB-49F2-BFE9-6E23410D5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7 · CUSTOMERS AND PURCHASE RATIONALE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993C675-2DB2-48E6-9F60-A1D568F4B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Customer demand still requires validation across three decision logics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EDFAD1C-B41D-4E2E-9FFB-04F63429D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34B683-6770-462C-A909-ABCF6FA0A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C72C607-DE02-4E43-805B-CC3E2B5A9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WIPO licensing; WIPO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094B7E0-9B52-47E8-AA02-C4177BD8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E4F21D2-B4B1-499C-87DE-D140FC40F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Potential segments are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31B2650-876B-4F2F-B984-4EFFBE42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manufacturer buys freedom to operate, legal certainty or technology — if the relevant product and territory are established.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technology provider evaluates integrability, freedom to operate and unit economics.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financier evaluates title, realisable cash flow, control and downside value.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6C420AD-A5AA-4A2D-B074-85B6D855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2C71D6FC-4D15-4E94-9ECF-183CFF74C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Current evidence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741FC6D-FB35-4E32-B3B5-A69A4F9B7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public evidence does not confirm named customers, pilots, purchase intentions or signed licences.</a:t>
            </a:r>
          </a:p>
        </p:txBody>
      </p:sp>
    </p:spTree>
    <p:extLst>
      <p:ext uri="{BB962C8B-B14F-4D97-AF65-F5344CB8AC3E}">
        <p14:creationId xmlns:p14="http://schemas.microsoft.com/office/powerpoint/2010/main" val="63937885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44E825-FB54-4908-B012-F7B7A782D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8 · COMPETITION AND ALTERNATIVES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3A48FE3-6324-4A48-844B-C37B8CD4E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Distinguish competition, alternatives and patent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31EE200-442E-4445-AE37-2826C111B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1907B74-1D63-4109-829B-B83E78C3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1B296C-1364-4FAC-8298-C8B8F8B0B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Evidence Register; EPO;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A6D1CB-ADC5-4AF4-8BF1-E4DD024C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6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4455"/>
                <a:gridCol w="6040366"/>
                <a:gridCol w="226513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Benchmark 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solutions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Does the product solve the same problem differently?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families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there overlapping protection or FTO risk?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assignment, settlement or own use?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Assumption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Non-patented alternatives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by designing around the claims?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02BF61-B98E-4134-BAD8-7A90955E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Competitor analysis is a material open workstream in the lender's technology assessment.</a:t>
            </a:r>
          </a:p>
        </p:txBody>
      </p:sp>
    </p:spTree>
    <p:extLst>
      <p:ext uri="{BB962C8B-B14F-4D97-AF65-F5344CB8AC3E}">
        <p14:creationId xmlns:p14="http://schemas.microsoft.com/office/powerpoint/2010/main" val="70345472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8274926-634D-445E-AC29-2124AE264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9 · VALIDATION AND CURRENT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A36FB3-736E-43F8-9497-B55EE7EA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Uneven validation strength is explicitly classified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27E2263-9EC8-411E-88D1-3D41BC97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20371B7-F972-438E-9917-3A5F4DA5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25792FE-26CE-4718-8FB4-7F4CC0B09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B013324-954F-423A-A243-9F5C427B5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1599834"/>
                <a:gridCol w="3377427"/>
                <a:gridCol w="3910705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Claim scope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Classification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exists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is missing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 Register and B2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 status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 proceedings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Two official decisions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Finality, enforcement, cash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Market observations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Official figures from 5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retail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testing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specification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test and raw data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evidence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Commercialisation framework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Customers, contracts, payments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5B49D2B-9CA2-4F18-A0A7-A38F188A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Proven legal evidence does not replace technical, commercial or financial validation.</a:t>
            </a:r>
          </a:p>
        </p:txBody>
      </p:sp>
    </p:spTree>
    <p:extLst>
      <p:ext uri="{BB962C8B-B14F-4D97-AF65-F5344CB8AC3E}">
        <p14:creationId xmlns:p14="http://schemas.microsoft.com/office/powerpoint/2010/main" val="46330070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0B1153F-6819-4293-8290-FAFD8547C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10 · COMMERCIALISATION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1CB108-4F20-4159-9924-8AB1E7510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38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proceeds through gates, not mass assertions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9390784-D188-4E86-9BAB-462F0D73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5EB4E33-BAD7-4A8E-8A55-F749CBAC4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ECC0C0A-835C-4DF6-A69B-852FD631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WIPO licensing; dispute resolution;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793F2B5-DEFC-4EA0-8A80-2544280A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DCFB12B-A9A5-475F-8972-89F316625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BFF03E5-45E2-4625-AE47-2FEBADFDF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14AB93A-8FB5-405C-88EA-89C8709F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Rights matrix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049D76C-79F9-40D4-8CAD-DF448EFD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Confirm country, proprietor, fee payment, encumbrance, operative claims and deadlines.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7C2C662-4889-4AEF-A059-ADFAC895F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728E824-2EAB-430E-9DE9-66A71C70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28D0D1D2-9D88-4044-B10F-447BD0EA5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dossier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F5C0D7C9-4818-43BB-B5D5-875FE8E3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Obtain a sample, document the chain and prepare a counsel-reviewed claim chart.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D294287-729C-4C40-ACFF-F895999AA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60242BA-C1FC-4D0A-88FA-AE5FDEF80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718698F-A4DA-456F-BFD3-AD6E73E76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Target scoring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9E0487C5-5A0C-48A8-A4ED-8022FED26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rights, evidence, sales, counterparty, cost and enforcement.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0520AD8-0104-4DD8-AE5A-55D7D64B9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5A52F6D-EED7-4D72-B4A5-0BF0EF13B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0ECFDD6-661A-4515-BFC2-6EC44FDE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Limited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A38F6E4-3111-4522-A61F-C9EC2B04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Test a licence, settlement, assignment or financing route on auditable terms.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D17C0E1B-BFE2-4355-974E-426EB64ED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an executed contract or receivable creates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86389301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F6FD7A9-0625-4C51-B22B-25677E907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11 · FINANCIAL MODEL AND 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0BC5E06-0B9E-4F7C-8888-D2EDC811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Evidence—not market share—must drive the model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F48DC7A-8610-48AC-A91B-D13453AEE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E9BB08-F5AB-43A0-8A31-0C146D2D2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75462E-4020-46CD-8CD6-CFB21A00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2026.07.23-15 · 2026-07-22 · Sources: WIPO IP valuation; Market-values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A55956F-B57E-402E-B99C-6DA362AE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7490"/>
                <a:gridCol w="6332677"/>
                <a:gridCol w="19997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Bridge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to verify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Current 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country-level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0 retail-value donors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Attributable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Validity × product × period × country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terms, costs, taxes, delay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Downside realisation and control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60C3BF4-8DB3-4FD2-8300-8DD18260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Show downside/base/upside only after every bridge input has been documented.</a:t>
            </a:r>
          </a:p>
        </p:txBody>
      </p:sp>
    </p:spTree>
    <p:extLst>
      <p:ext uri="{BB962C8B-B14F-4D97-AF65-F5344CB8AC3E}">
        <p14:creationId xmlns:p14="http://schemas.microsoft.com/office/powerpoint/2010/main" val="18455380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AF322B-D094-4379-A5BD-A6B429AF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5C13454-2612-4932-8E71-85AB592A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Financing decision only after four critical gaps are closed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F5DB90E-50DF-466D-92DB-B1C5D2049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1. Counsel-signed title, encumbrance, fee-payment and rights matrix.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2. Claim charts for prioritised products and documented relevant sales.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3. Realised or contract-based cash flows and audited financial information.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4. Independent valuation and downside collateral analysis.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Next decision: approve a controlled 90-day diligence phase?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52B2934-6207-46E4-97E5-7B97B04C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2026.07.23-15 · 2026-07-22 · 12 / 12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5E9F87-C299-4F9B-95CA-4148E0B01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749808"/>
            <a:ext cx="7955279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12 · Risks, controls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9730858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2026-07-23T18:16:42.9850000Z</dcterms:created>
  <dcterms:modified xsi:type="dcterms:W3CDTF">2026-07-23T18:16:42.9850000Z</dcterms:modified>
</coreProperties>
</file>