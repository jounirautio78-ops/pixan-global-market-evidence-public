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ba2980eb9f4bf1" /><Relationship Type="http://schemas.openxmlformats.org/officeDocument/2006/relationships/extended-properties" Target="/docProps/app.xml" Id="R2971a801947043bb" /><Relationship Type="http://schemas.openxmlformats.org/officeDocument/2006/relationships/officeDocument" Target="/ppt/presentation.xml" Id="R2ca5b27d75924e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6ad9de53cb49d1"/>
  </p:sldMasterIdLst>
  <p:notesMasterIdLst>
    <p:notesMasterId xmlns:r="http://schemas.openxmlformats.org/officeDocument/2006/relationships" r:id="Raa3e541c7d414026"/>
  </p:notesMasterIdLst>
  <p:sldIdLst>
    <p:sldId xmlns:r="http://schemas.openxmlformats.org/officeDocument/2006/relationships" id="256" r:id="R7901752c24c54712"/>
    <p:sldId xmlns:r="http://schemas.openxmlformats.org/officeDocument/2006/relationships" id="257" r:id="Re67a416706dc424b"/>
    <p:sldId xmlns:r="http://schemas.openxmlformats.org/officeDocument/2006/relationships" id="258" r:id="Rad4011dfc7d1403c"/>
    <p:sldId xmlns:r="http://schemas.openxmlformats.org/officeDocument/2006/relationships" id="259" r:id="Rbd03c67b1de94e02"/>
    <p:sldId xmlns:r="http://schemas.openxmlformats.org/officeDocument/2006/relationships" id="260" r:id="R15864b6f97fc47e6"/>
    <p:sldId xmlns:r="http://schemas.openxmlformats.org/officeDocument/2006/relationships" id="261" r:id="R5bca14f30ac6437c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2da4af65574753" /><Relationship Type="http://schemas.openxmlformats.org/officeDocument/2006/relationships/slideMaster" Target="/ppt/slideMasters/slideMaster1.xml" Id="R5a6ad9de53cb49d1" /><Relationship Type="http://schemas.openxmlformats.org/officeDocument/2006/relationships/notesMaster" Target="/ppt/notesMasters/notesMaster1.xml" Id="Raa3e541c7d414026" /><Relationship Type="http://schemas.openxmlformats.org/officeDocument/2006/relationships/presProps" Target="/ppt/presProps.xml" Id="R09fc4b6378524818" /><Relationship Type="http://schemas.openxmlformats.org/officeDocument/2006/relationships/viewProps" Target="/ppt/viewProps.xml" Id="R6a97874dfcef4839" /><Relationship Type="http://schemas.openxmlformats.org/officeDocument/2006/relationships/tableStyles" Target="/ppt/tableStyles.xml" Id="Rbedc8887b8af4b2c" /><Relationship Type="http://schemas.openxmlformats.org/officeDocument/2006/relationships/slide" Target="/ppt/slides/slide1.xml" Id="R7901752c24c54712" /><Relationship Type="http://schemas.openxmlformats.org/officeDocument/2006/relationships/slide" Target="/ppt/slides/slide2.xml" Id="Re67a416706dc424b" /><Relationship Type="http://schemas.openxmlformats.org/officeDocument/2006/relationships/slide" Target="/ppt/slides/slide3.xml" Id="Rad4011dfc7d1403c" /><Relationship Type="http://schemas.openxmlformats.org/officeDocument/2006/relationships/slide" Target="/ppt/slides/slide4.xml" Id="Rbd03c67b1de94e02" /><Relationship Type="http://schemas.openxmlformats.org/officeDocument/2006/relationships/slide" Target="/ppt/slides/slide5.xml" Id="R15864b6f97fc47e6" /><Relationship Type="http://schemas.openxmlformats.org/officeDocument/2006/relationships/slide" Target="/ppt/slides/slide6.xml" Id="R5bca14f30ac643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2d0de104304e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e4287d48df403a" /><Relationship Type="http://schemas.openxmlformats.org/officeDocument/2006/relationships/notesMaster" Target="/ppt/notesMasters/notesMaster1.xml" Id="R00d6d003d78046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025368e6b1461d" /><Relationship Type="http://schemas.openxmlformats.org/officeDocument/2006/relationships/notesMaster" Target="/ppt/notesMasters/notesMaster1.xml" Id="R3abbc17b2a9447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e0fd4b6b8f4739" /><Relationship Type="http://schemas.openxmlformats.org/officeDocument/2006/relationships/notesMaster" Target="/ppt/notesMasters/notesMaster1.xml" Id="R77576e76a96c4e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fe353c155e4fa1" /><Relationship Type="http://schemas.openxmlformats.org/officeDocument/2006/relationships/notesMaster" Target="/ppt/notesMasters/notesMaster1.xml" Id="R4f0530e962c04c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d334ff4e2b4794" /><Relationship Type="http://schemas.openxmlformats.org/officeDocument/2006/relationships/notesMaster" Target="/ppt/notesMasters/notesMaster1.xml" Id="Rad5c94dab40e41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8f5006931f4f55" /><Relationship Type="http://schemas.openxmlformats.org/officeDocument/2006/relationships/notesMaster" Target="/ppt/notesMasters/notesMaster1.xml" Id="R0a1041ad71e342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</a:t>
            </a:r>
          </a:p>
          <a:p xmlns:a="http://schemas.openxmlformats.org/drawingml/2006/main">
            <a:r>
              <a:t>- https://www.health.govt.nz/system/files/2024-12/2024-annual-returns-user-guide.pdf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https://www150.statcan.gc.ca/t1/tbl1/en/tv.action?pid=2010008001</a:t>
            </a:r>
          </a:p>
          <a:p xmlns:a="http://schemas.openxmlformats.org/drawingml/2006/main">
            <a:r>
              <a:t>- https://www23.statcan.gc.ca/imdb/p2SV.pl?Function=getSurvey&amp;Id=1544050</a:t>
            </a:r>
          </a:p>
          <a:p xmlns:a="http://schemas.openxmlformats.org/drawingml/2006/main">
            <a:r>
              <a:t>- https://www23.statcan.gc.ca/imdb/p2SV.pl?Function=getSurvey&amp;SDDS=2008</a:t>
            </a:r>
          </a:p>
          <a:p xmlns:a="http://schemas.openxmlformats.org/drawingml/2006/main">
            <a:r>
              <a:t>- https://www23.statcan.gc.ca/imdb/p2SV.pl?Function=getSurvey&amp;SDDS=2406</a:t>
            </a:r>
          </a:p>
          <a:p xmlns:a="http://schemas.openxmlformats.org/drawingml/2006/main">
            <a:r>
              <a:t>- https://www150.statcan.gc.ca/n1/pub/36-28-0001/2025004/article/00001-eng.pdf</a:t>
            </a:r>
          </a:p>
          <a:p xmlns:a="http://schemas.openxmlformats.org/drawingml/2006/main">
            <a:r>
              <a:t>- https://datahelpdesk.worldbank.org/knowledgebase/articles/898581-api-basic-call-structures</a:t>
            </a:r>
          </a:p>
          <a:p xmlns:a="http://schemas.openxmlformats.org/drawingml/2006/main">
            <a:r>
              <a:t>- https://www.who.int/data/gho/info/gho-odata-api</a:t>
            </a:r>
          </a:p>
          <a:p xmlns:a="http://schemas.openxmlformats.org/drawingml/2006/main">
            <a:r>
              <a:t>- https://uncomtrade.org/docs/un-comtrade-api/</a:t>
            </a:r>
          </a:p>
          <a:p xmlns:a="http://schemas.openxmlformats.org/drawingml/2006/main">
            <a:r>
              <a:t>- https://www.podatki.gov.pl/akcyza/stawki-podatkowe/</a:t>
            </a:r>
          </a:p>
          <a:p xmlns:a="http://schemas.openxmlformats.org/drawingml/2006/main">
            <a:r>
              <a:t>- https://www.gov.pl/web/chemical/notification-of-electronic-cigarettes-and-refill-containers</a:t>
            </a:r>
          </a:p>
          <a:p xmlns:a="http://schemas.openxmlformats.org/drawingml/2006/main">
            <a:r>
              <a:t>- https://www.customs.govt.nz/about-us/news/important-notices-archive/important-notices-archive-2023/reminder-classification-of-vaping-devices-and-similar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https://www.folkhalsomyndigheten.se/regler-och-tillsyn/tobak-och-nikotinprodukter-regler-for-tillverkning-handel-och-hantering/elektroniska-cigaretter-och-pafyllningsbehallare-sa-foljer-du-reglerna/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5e8e4c961243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0235a49fb45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6420d8dffb4a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d6cd1158c46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7e743b86f41e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a26a1fe0c846d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4c3c8183af43b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f7b53f13754b3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15ffb9df2145e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b61688eba496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2e62e517747e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6C710B-5706-4679-9A22-DAD8377FC2C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E3DD999-3F97-41EE-B876-F23D71B0E3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EC3A1F-438E-4FCB-84ED-5AFFD4D441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FFFB539-4089-4626-BD32-8CBC35F8B9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4E8C78-2256-4379-85AF-2FD7D4EED9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0FE6FB-334C-4C90-8D1C-805B824C81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8E6660D-1B1F-4B08-801F-8ED5C6B78F2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8B2DEB-874A-4A26-B57D-7896A20581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15F40BD-F2A2-41E0-A0E5-AE0CF63E8E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1F4C834-3134-47E6-8BE4-271BD1B735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16D8C9-C1A6-48D4-B43F-F42F73F316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864F53D-1233-40AE-B789-C9EED50FDE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9FF319-FF96-4360-8FD8-19B1334CC1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36B8C3-EF90-46B8-98B5-D45C35D068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8577CD-BDB1-426B-9D45-BB3CC2349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96CE4A-0A7D-41E7-BA28-D1B5E4BC8A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8E6D2E-FCC7-4649-921A-16D4C94AD52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C6CE855-07EB-47D5-97A5-A462BF4D10E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C937F56-118F-4465-A476-4CAC9927B2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D02580A-F116-465D-9B68-926C795B74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C87F393-8B33-43E5-A667-1F17271BF7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D6EBEF-9546-4F14-9226-F21BE61892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632BC7-CFE3-430B-953A-1B964A3C8A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ECBFA31-CA8E-4C82-B483-5586589E34E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BD896A6-1107-4D75-86DE-AFE728E8CD9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514D321-9B75-4380-B77F-FC1A90C4863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9281C62-79FA-46D7-BCB7-AD57FF2ACB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EEF5B33-C8A5-4735-8E2B-5E76146005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0E6995C-5F7C-43E9-AB93-134432785F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952B6F-B8D8-4BCA-AF11-50CEEDC9DD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2048539-19D6-4520-80C0-5FD3935BFC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28436F7-54DD-4E94-B027-2D52CF7B96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A61784D-4A45-4E68-9872-80D8CE4802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663103F-BE1D-457C-9D33-7BA816223F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B51D9F7-4E24-408C-B584-DFFBB99923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B0AC4BD-7E62-4ED5-B191-B66EB81D0C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F03AE59-6171-4DC8-A597-526DAA5774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C7F3E22-F5CA-4C29-AA6D-87FAB988727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C16FCE2-10DD-41D2-B209-933B9904E7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E4C2921-1F58-4168-B6E9-983C5F5CD1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CAAABFD-55F8-4F05-81F2-5B49F27A0F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8213D0E-FDCC-414E-99C3-E5C2633AF7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A23159-3117-4A67-98BC-25C20CFBE8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3FC9F0F-097F-41C5-9302-E927720DD0F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7C33D5D-2E62-4D0F-B1DE-C8CC3FB9EF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6BDB037-02B5-4387-BD61-66D1A6103C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9AA2C29-64EE-4F57-B713-CC46935217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06584F0-E0E2-4FE4-9409-FD4B9C94B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ECB1D8-CE5F-4C44-BA3B-36BE09400C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4AE5F83-4F1F-4F33-8F2A-AE0502492D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3D2ACC-B0E1-450C-8423-5E0E2C6D03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9372F0-3793-4343-9D69-F7F0D51A44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7D8888-C27B-4B9F-98E5-FDE92CD6B0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53F0F45-61C4-4E81-81DB-3CDFE6A7D4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5CB3A95-81D9-4745-A972-32A51B7AF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ED8105-4918-4867-ACB5-6CE8F5A8C3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8F6482E-2C1B-4CFA-9A9F-4CEE562EB7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04A8A2C-79EF-490F-8944-A128B2C70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eb3e52ace2401c" /><Relationship Type="http://schemas.openxmlformats.org/officeDocument/2006/relationships/slideLayout" Target="/ppt/slideLayouts/slideLayout1.xml" Id="Raa9c890dc73e4407" /><Relationship Type="http://schemas.openxmlformats.org/officeDocument/2006/relationships/slideLayout" Target="/ppt/slideLayouts/slideLayout2.xml" Id="Rb90ff496bdda4c6b" /><Relationship Type="http://schemas.openxmlformats.org/officeDocument/2006/relationships/slideLayout" Target="/ppt/slideLayouts/slideLayout3.xml" Id="R29363830634a4261" /><Relationship Type="http://schemas.openxmlformats.org/officeDocument/2006/relationships/slideLayout" Target="/ppt/slideLayouts/slideLayout4.xml" Id="Rdf47032a5eba4de1" /><Relationship Type="http://schemas.openxmlformats.org/officeDocument/2006/relationships/slideLayout" Target="/ppt/slideLayouts/slideLayout5.xml" Id="R5d41fff128e14bc6" /><Relationship Type="http://schemas.openxmlformats.org/officeDocument/2006/relationships/slideLayout" Target="/ppt/slideLayouts/slideLayout6.xml" Id="Raf91935795884b54" /><Relationship Type="http://schemas.openxmlformats.org/officeDocument/2006/relationships/slideLayout" Target="/ppt/slideLayouts/slideLayout7.xml" Id="R7ff45709cc65417f" /><Relationship Type="http://schemas.openxmlformats.org/officeDocument/2006/relationships/slideLayout" Target="/ppt/slideLayouts/slideLayout8.xml" Id="Ra969b0df7500430d" /><Relationship Type="http://schemas.openxmlformats.org/officeDocument/2006/relationships/slideLayout" Target="/ppt/slideLayouts/slideLayout9.xml" Id="Rff444b1a8d364e21" /><Relationship Type="http://schemas.openxmlformats.org/officeDocument/2006/relationships/slideLayout" Target="/ppt/slideLayouts/slideLayout10.xml" Id="Rba3552208abd481e" /><Relationship Type="http://schemas.openxmlformats.org/officeDocument/2006/relationships/slideLayout" Target="/ppt/slideLayouts/slideLayout11.xml" Id="R6fcd20ad7eae422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FDBC3E4-868F-4F63-85A2-687CA1AD62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9ADF63-FBCB-4539-8E93-EB37D5E598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B98E6BB-88A0-4CE1-AA50-71588519B2F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7CF98E-CCD7-4027-ADDA-9E350594406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5D137D2-F745-4BA1-B2B7-92E1ACDB2DC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9c890dc73e4407"/>
    <p:sldLayoutId xmlns:r="http://schemas.openxmlformats.org/officeDocument/2006/relationships" id="2147483650" r:id="Rb90ff496bdda4c6b"/>
    <p:sldLayoutId xmlns:r="http://schemas.openxmlformats.org/officeDocument/2006/relationships" id="2147483651" r:id="R29363830634a4261"/>
    <p:sldLayoutId xmlns:r="http://schemas.openxmlformats.org/officeDocument/2006/relationships" id="2147483652" r:id="Rdf47032a5eba4de1"/>
    <p:sldLayoutId xmlns:r="http://schemas.openxmlformats.org/officeDocument/2006/relationships" id="2147483653" r:id="R5d41fff128e14bc6"/>
    <p:sldLayoutId xmlns:r="http://schemas.openxmlformats.org/officeDocument/2006/relationships" id="2147483654" r:id="Raf91935795884b54"/>
    <p:sldLayoutId xmlns:r="http://schemas.openxmlformats.org/officeDocument/2006/relationships" id="2147483655" r:id="R7ff45709cc65417f"/>
    <p:sldLayoutId xmlns:r="http://schemas.openxmlformats.org/officeDocument/2006/relationships" id="2147483656" r:id="Ra969b0df7500430d"/>
    <p:sldLayoutId xmlns:r="http://schemas.openxmlformats.org/officeDocument/2006/relationships" id="2147483657" r:id="Rff444b1a8d364e21"/>
    <p:sldLayoutId xmlns:r="http://schemas.openxmlformats.org/officeDocument/2006/relationships" id="2147483658" r:id="Rba3552208abd481e"/>
    <p:sldLayoutId xmlns:r="http://schemas.openxmlformats.org/officeDocument/2006/relationships" id="2147483659" r:id="R6fcd20ad7eae422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25047707314cf0" /><Relationship Type="http://schemas.openxmlformats.org/officeDocument/2006/relationships/notesSlide" Target="/ppt/notesSlides/notesSlide1.xml" Id="Rea6700f79e2847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3c44d1f2fe41bc" /><Relationship Type="http://schemas.openxmlformats.org/officeDocument/2006/relationships/notesSlide" Target="/ppt/notesSlides/notesSlide2.xml" Id="R5eaef5e0252041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a943b12f1245f0" /><Relationship Type="http://schemas.openxmlformats.org/officeDocument/2006/relationships/notesSlide" Target="/ppt/notesSlides/notesSlide3.xml" Id="Rdaeafd00d39943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2ad352daa24ae0" /><Relationship Type="http://schemas.openxmlformats.org/officeDocument/2006/relationships/notesSlide" Target="/ppt/notesSlides/notesSlide4.xml" Id="R8cef8986ceda4a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3e06f9de384e78" /><Relationship Type="http://schemas.openxmlformats.org/officeDocument/2006/relationships/notesSlide" Target="/ppt/notesSlides/notesSlide5.xml" Id="Re98d570d8bb74b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a4b06f02e241ce" /><Relationship Type="http://schemas.openxmlformats.org/officeDocument/2006/relationships/notesSlide" Target="/ppt/notesSlides/notesSlide6.xml" Id="Rfbfadcf9fcc442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015171-0212-434B-9C2C-9A139C65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66928"/>
            <a:ext cx="109728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8085DE9-0834-4CF3-BD2F-28DBBE9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14400"/>
            <a:ext cx="6766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PIXAN · PUBLIC EVIDENCE PACKAGE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EE5D755-A9C6-4FA7-9620-63D7E4DA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89888"/>
            <a:ext cx="736092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patent to a lender-ready</a:t>
            </a:r>
            <a:br/>
            <a:r>
              <a:rPr sz="4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package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EA897F9-9EDA-46E0-98B7-DCB1BE4D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03320"/>
            <a:ext cx="70408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C6D8E2"/>
                </a:solidFill>
                <a:latin typeface="Aptos"/>
                <a:ea typeface="Aptos"/>
                <a:cs typeface="Aptos"/>
              </a:rPr>
              <a:t>Concise decision summary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7CE15DB-D1B2-4FB3-897D-704E1E4F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0"/>
            <a:ext cx="39136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F3068A9-D50E-46B2-A308-A7C2F5A3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14300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status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15453E6-2B72-4F00-A727-E738DE1B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700784"/>
            <a:ext cx="2880360" cy="515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2026.07.27-29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6049AE7-0B91-430E-AD5D-A9E28B6F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359152"/>
            <a:ext cx="2788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Updated 2026-07-27</a:t>
            </a:r>
            <a:br/>
            <a: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6 slides · English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EA4DFCF-EDE8-4753-8DB3-51A39203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82219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B8DFE2"/>
                </a:solidFill>
                <a:latin typeface="Aptos"/>
                <a:ea typeface="Aptos"/>
                <a:cs typeface="Aptos"/>
              </a:rPr>
              <a:t>Starting point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CA49F7F-75D4-4B29-8377-0D9FA01F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4251960"/>
            <a:ext cx="2788920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Confirmed evidence is separated from supported information, assumptions and missing evidence.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D2932B-BF98-45B1-8F81-767F50EA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54496"/>
            <a:ext cx="7040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DB3C0"/>
                </a:solidFill>
                <a:latin typeface="Aptos"/>
                <a:ea typeface="Aptos"/>
                <a:cs typeface="Aptos"/>
              </a:rPr>
              <a:t>Not Pixan Oy's official position · not a valuation, investment, lending or legal opinion</a:t>
            </a:r>
          </a:p>
        </p:txBody>
      </p:sp>
    </p:spTree>
    <p:extLst>
      <p:ext uri="{BB962C8B-B14F-4D97-AF65-F5344CB8AC3E}">
        <p14:creationId xmlns:p14="http://schemas.microsoft.com/office/powerpoint/2010/main" val="15195848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10D888B-FEA5-4315-ADCD-4C45A4F9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FINANCING THESIS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66F4CD3-E4D2-4A1D-9EF9-6F7871E9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1109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5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financing thesis is based on evidence — not market hype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5A8BD6-698C-4991-984A-27EFEFFF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C973341-05EA-42EF-8AE7-EC3B5852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CC275CD-1E69-418E-A74B-CF39C19E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2026.07.27-29 · 2026-07-27 · Sources: EPO; Germany — official judgments; WIPO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33F9828-A5C8-45C0-B005-8E9296A2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6FC2919-29EC-4B50-B29C-AAA42590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298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The patent has a documented technical core and material official legal evidence, but collateral value has not yet been proven.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A440A39-1EF7-4712-8F65-873B71BE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090672"/>
            <a:ext cx="6629400" cy="2807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EPO Register: the patent was maintained as amended after opposition proceedings; the B2 patent specification was published. EP3032975B2 contains 9 claims.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Germany: two official decisions; finality and territorial limits remain.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Financeability arises when rights, claim charts, cash flow and independent valuation are linked together.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36A5033-F49D-4DA2-B5C4-04AF5EBD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C564ABE-DC7B-4FE6-9E7A-9A80AAF2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Lender reading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EEDED32-E968-4261-A025-202BA8FE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The current evidence supports further diligence. It does not yet by itself support a specific loan amount, equity value or patent collateral value.</a:t>
            </a:r>
          </a:p>
        </p:txBody>
      </p:sp>
    </p:spTree>
    <p:extLst>
      <p:ext uri="{BB962C8B-B14F-4D97-AF65-F5344CB8AC3E}">
        <p14:creationId xmlns:p14="http://schemas.microsoft.com/office/powerpoint/2010/main" val="10718270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477D62E-D7F5-4B55-A3EE-3C35DC9A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PATENT AND IP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5049508-0798-406E-8A8E-E15EEE60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Patent history provides a strong but limited anchor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CBA8479-696C-46A4-92A0-573F53E5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3BE64CA-E449-4720-AF93-63A2FC74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0C20A3A-DD6F-4376-BEC3-29332E83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2026.07.27-29 · 2026-07-27 · Sources: EPO Register; EP3032975B2; 8 Ni 18/24 (EP); 7 O 3341/24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7CB3A42-94DB-4EAE-B9CF-9A699DDC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2954D54-D39F-4A78-9306-66AF7ECF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70B291E-CF92-4820-AEBE-EB7BC8FB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19CC223-6D57-480C-81AF-DDE81B58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claims in EP3032975B2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B21AA11-C7CC-4D55-9954-32F85A5E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2125E1C-CACE-4373-9232-C040F678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E61A3CE-DDB7-49F4-9F9F-F49D434E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family-publication records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FBA2AA3-8C1B-41AE-BA3C-2158C1E8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E119199-8925-4893-9C8D-68F300E1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409DEBF-BB6A-4334-8229-0EA062FF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official decisions: Germany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9BFD6FB-E2BC-46FC-A1E8-DBD5063B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835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Proven legal evidence is valuable only with country-specific validity and product linkage.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80FFCB0-7E63-454A-8039-5DF3E9DF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6390D8-080C-492F-A536-BA75792F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2B83730-962E-49C5-8A1E-C3625FFD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The recorded proprietor, priority and central EPO outcome can be confirmed. Current national status, encumbrances and enforcement across the family require further evidence.</a:t>
            </a:r>
          </a:p>
        </p:txBody>
      </p:sp>
    </p:spTree>
    <p:extLst>
      <p:ext uri="{BB962C8B-B14F-4D97-AF65-F5344CB8AC3E}">
        <p14:creationId xmlns:p14="http://schemas.microsoft.com/office/powerpoint/2010/main" val="15763646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DED61B8-201F-4353-A5AB-F4AF107A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MARKET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8512841-DD2B-412F-88B8-AA73E0A1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1109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75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Market evidence is transparent; a global value is not yet supported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1CAFE5B-4168-4142-8139-C401AB24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E9343CA-AFA0-4082-9292-8B7461BD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C07FF05-94C4-4F9C-B649-BC219E5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2026.07.27-29 · 2026-07-27 · Sources: World Bank; Statistics Canada; Health Canada; NZ Ministry of Health; Sejm; FHM; FTC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B48460-8827-4FEB-9529-AA583B7E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08CEC53-BB21-4B13-B535-B593A5FF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092AC2A-CFAC-4358-A39F-4F04FC48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195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DDF9361-69BB-4E55-A911-6A6DDFB0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75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578 WB records; 39 market measures + 36 Swedish FHM register counts; not sales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8B3372A-42EC-4FD9-8E8A-704D0676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551213E-63D1-413B-8C70-88BE3BE0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NZD 274.180m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21602CA-28F6-4D1D-8848-4C7F9EDE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99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identified AIS/AVP subtotal · ≈EUR 153.3m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BA29147-8D18-42E0-A0FD-1FFD2534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BE35305-4D29-4311-B3C2-C143AB69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EUR 4.99bn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2B619F3-C991-4BF6-AA75-20B7DE75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99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EU 2023: Commission-published benchmark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82B9F0E-22D0-4F4F-9AB8-17CB912C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835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New Zealand passes 7/10: D5 failed; D8 and D10 open. Not accepted; the donor gate remains 0/3.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5FE525A-4505-4A12-826C-30163EC1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484482F-06B7-4271-915E-69C61B48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0ACDACF-432C-431B-8A91-0BA7D930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Base: 195/578 WB; not sales. Poland 2020–23 flow; 2025 tax bridge 4,382,500 devices / 62,500 sets. Canada CAD 1.219160bn (≈EUR 822.6m; ECB 2024); Health Canada shipments CAD 1.160754bn (≈EUR 783.2m; ECB 2024); FTC USD 2.763bn (≈EUR 2.336bn; ECB 2021). Euromonitor 0/6; donor 0/3.</a:t>
            </a:r>
          </a:p>
        </p:txBody>
      </p:sp>
    </p:spTree>
    <p:extLst>
      <p:ext uri="{BB962C8B-B14F-4D97-AF65-F5344CB8AC3E}">
        <p14:creationId xmlns:p14="http://schemas.microsoft.com/office/powerpoint/2010/main" val="17689003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B4C6306-1B63-4BF2-AD60-8C16D7A5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RISKS AND EVIDENCE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A3C954C-8852-441D-B464-1C4251CA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gaps can be scoped into a concrete work programme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311CE50-4ADB-41DA-B47B-7CA16D44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821E28-9977-4B94-AE0B-8B3024C5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15BE68B-5BDE-4419-B27F-B27C2E13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2026.07.27-29 · 2026-07-27 · Sources: Evidence Register; WIPO IP valuation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D667956-F33B-4F7B-B6D2-FB94B776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293"/>
                <a:gridCol w="3670254"/>
                <a:gridCol w="4761411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Missing evidence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Why it matters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Next evidence item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National status across the family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Determines enforceable rights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Counsel-signed country matrix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Product–claim comparisons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Defines relevant sales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Samples, teardown, claim chart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Cash flow and contracts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Determines repayment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Contracts, invoices, payments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Independent valuation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Defines scenarios and downside risk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IVS-compatible valuation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9481F39-B9DF-4517-819F-488E56B2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Financeability improves most when these four gaps are closed before any value discussion.</a:t>
            </a:r>
          </a:p>
        </p:txBody>
      </p:sp>
    </p:spTree>
    <p:extLst>
      <p:ext uri="{BB962C8B-B14F-4D97-AF65-F5344CB8AC3E}">
        <p14:creationId xmlns:p14="http://schemas.microsoft.com/office/powerpoint/2010/main" val="8331962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4BAA44E-5A84-4F2A-A352-DD7F2DE6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29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DECISION FRAMEWORK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DBF27A3-0666-408D-A967-38B236CD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05840"/>
            <a:ext cx="10881360" cy="126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Conditional progression: 90-day diligence before a financing decision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C55AE55-0D68-402E-BC98-DA9C974A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286000"/>
            <a:ext cx="10012680" cy="3246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Days 0–30: title, encumbrance, fee-payment and rights matrix.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Days 31–60: prioritised claim charts, market-sales scope and counterparty data.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Days 61–90: independent valuation, cash-flow scenarios and financing terms.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Decision gate: a structure based only on confirmed rights and repayment sources.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345E2BD-E74D-4F84-A9B4-7A8ED981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72784"/>
            <a:ext cx="10241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DB3C0"/>
                </a:solidFill>
                <a:latin typeface="Aptos"/>
                <a:ea typeface="Aptos"/>
                <a:cs typeface="Aptos"/>
              </a:rPr>
              <a:t>Version 2026.07.27-29 · 2026-07-27 · 6 / 6</a:t>
            </a:r>
          </a:p>
        </p:txBody>
      </p:sp>
    </p:spTree>
    <p:extLst>
      <p:ext uri="{BB962C8B-B14F-4D97-AF65-F5344CB8AC3E}">
        <p14:creationId xmlns:p14="http://schemas.microsoft.com/office/powerpoint/2010/main" val="620561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2026-07-27T14:32:59.7890000Z</dcterms:created>
  <dcterms:modified xsi:type="dcterms:W3CDTF">2026-07-27T14:32:59.7890000Z</dcterms:modified>
</coreProperties>
</file>