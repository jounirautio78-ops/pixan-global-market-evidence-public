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2b8ea433dab429f" /><Relationship Type="http://schemas.openxmlformats.org/officeDocument/2006/relationships/extended-properties" Target="/docProps/app.xml" Id="R7dd692be74754962" /><Relationship Type="http://schemas.openxmlformats.org/officeDocument/2006/relationships/officeDocument" Target="/ppt/presentation.xml" Id="R12b507bc065d430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53660a6b94f4321"/>
  </p:sldMasterIdLst>
  <p:notesMasterIdLst>
    <p:notesMasterId xmlns:r="http://schemas.openxmlformats.org/officeDocument/2006/relationships" r:id="R9156afa3e0a749fc"/>
  </p:notesMasterIdLst>
  <p:sldIdLst>
    <p:sldId xmlns:r="http://schemas.openxmlformats.org/officeDocument/2006/relationships" id="256" r:id="Rab97ebb492004932"/>
    <p:sldId xmlns:r="http://schemas.openxmlformats.org/officeDocument/2006/relationships" id="257" r:id="R8c9720c18c1946b8"/>
    <p:sldId xmlns:r="http://schemas.openxmlformats.org/officeDocument/2006/relationships" id="258" r:id="R3a20329b16e8470b"/>
    <p:sldId xmlns:r="http://schemas.openxmlformats.org/officeDocument/2006/relationships" id="259" r:id="R7adcdeb8b442427e"/>
    <p:sldId xmlns:r="http://schemas.openxmlformats.org/officeDocument/2006/relationships" id="260" r:id="Rff612b1b0bc94cfb"/>
    <p:sldId xmlns:r="http://schemas.openxmlformats.org/officeDocument/2006/relationships" id="261" r:id="R95d5ed6d30474a90"/>
  </p:sldIdLst>
  <p:sldSz cx="12191999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50c769e42194e07" /><Relationship Type="http://schemas.openxmlformats.org/officeDocument/2006/relationships/slideMaster" Target="/ppt/slideMasters/slideMaster1.xml" Id="R753660a6b94f4321" /><Relationship Type="http://schemas.openxmlformats.org/officeDocument/2006/relationships/notesMaster" Target="/ppt/notesMasters/notesMaster1.xml" Id="R9156afa3e0a749fc" /><Relationship Type="http://schemas.openxmlformats.org/officeDocument/2006/relationships/presProps" Target="/ppt/presProps.xml" Id="R3638e7ed66104c44" /><Relationship Type="http://schemas.openxmlformats.org/officeDocument/2006/relationships/viewProps" Target="/ppt/viewProps.xml" Id="R3dc1a1f4f0784e40" /><Relationship Type="http://schemas.openxmlformats.org/officeDocument/2006/relationships/tableStyles" Target="/ppt/tableStyles.xml" Id="R716acff74db946e5" /><Relationship Type="http://schemas.openxmlformats.org/officeDocument/2006/relationships/slide" Target="/ppt/slides/slide1.xml" Id="Rab97ebb492004932" /><Relationship Type="http://schemas.openxmlformats.org/officeDocument/2006/relationships/slide" Target="/ppt/slides/slide2.xml" Id="R8c9720c18c1946b8" /><Relationship Type="http://schemas.openxmlformats.org/officeDocument/2006/relationships/slide" Target="/ppt/slides/slide3.xml" Id="R3a20329b16e8470b" /><Relationship Type="http://schemas.openxmlformats.org/officeDocument/2006/relationships/slide" Target="/ppt/slides/slide4.xml" Id="R7adcdeb8b442427e" /><Relationship Type="http://schemas.openxmlformats.org/officeDocument/2006/relationships/slide" Target="/ppt/slides/slide5.xml" Id="Rff612b1b0bc94cfb" /><Relationship Type="http://schemas.openxmlformats.org/officeDocument/2006/relationships/slide" Target="/ppt/slides/slide6.xml" Id="R95d5ed6d30474a9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78957b1474543a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0f8e034d1e442ec" /><Relationship Type="http://schemas.openxmlformats.org/officeDocument/2006/relationships/notesMaster" Target="/ppt/notesMasters/notesMaster1.xml" Id="R77528945521c48a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e682934dc0f4203" /><Relationship Type="http://schemas.openxmlformats.org/officeDocument/2006/relationships/notesMaster" Target="/ppt/notesMasters/notesMaster1.xml" Id="R9d1f40fe5b2c456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193e9b7452541db" /><Relationship Type="http://schemas.openxmlformats.org/officeDocument/2006/relationships/notesMaster" Target="/ppt/notesMasters/notesMaster1.xml" Id="R13f9f897aa714d7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d3e54f5376345c9" /><Relationship Type="http://schemas.openxmlformats.org/officeDocument/2006/relationships/notesMaster" Target="/ppt/notesMasters/notesMaster1.xml" Id="R6037885b79b848b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a8098db956d48da" /><Relationship Type="http://schemas.openxmlformats.org/officeDocument/2006/relationships/notesMaster" Target="/ppt/notesMasters/notesMaster1.xml" Id="R644694895c49447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006020a55e047c0" /><Relationship Type="http://schemas.openxmlformats.org/officeDocument/2006/relationships/notesMaster" Target="/ppt/notesMasters/notesMaster1.xml" Id="R8cd0898d642d4e9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a6ae149e064a5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ba2ad581a84c8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f4f3db326f4b1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d771c67d444f1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ad361b653f4d3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b6280bdf2646eb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b4745d99e0493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9ebd3792454e8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d7c386a70b44ec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1df5fed9d149d1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fbf63517234d84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5235AEF-00F2-41F1-972A-10B5DA30FB2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92CAB94-798E-450A-B2CF-C13F0E71788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6100ACC-4EF4-4922-99A1-4E2CF85B688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DB839A8-FADE-4FDA-8507-E547F49A06C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FB9BE1-474F-41E6-93C6-B97FB669FCF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276E23D-4EF1-427A-AA2E-A445DB9CCC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7839BA9-A066-4507-8561-3FC5A4FA47D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26AC5DA-35B7-47B4-B597-3EEDF94914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8F6F398-2731-4A1A-A114-079B4EC8749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D03C032-D150-43FB-9B85-DD86938CDF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F213A8D-FFF5-4792-ABD9-0CDCF9FC6B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AC7F3D2-5E63-49A4-AC94-1519036258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5045156-42B9-42CA-A421-3479B0CE440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0385B04-2741-4C53-85EB-7CB12D4B7EF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8F009ED-9555-49BD-ABA0-C6C45F5B23B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5168754-1D3F-4A53-B196-455B4B474F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0E831ED-7B6F-4817-BF28-A992CD453F5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0D2A3EE-DDDA-4D1A-97E3-573CA63F1DE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9128057-D0C3-4848-8C4C-43CFD46CF49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94B529D-C3AB-4605-A1BD-BC86AD877CD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BE3F1C6-9A8C-4410-8E2B-049FEC2F9C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95D3EC4-20DA-41F9-B84E-E07F9D33F53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393E8A2-36F7-4232-B356-6D022617ED0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499EB6E-70D6-4A17-BD05-2C9B4270CB4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D6CA97CB-C6EB-4394-AC6E-17C8CE30DDA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8AF1FE10-F726-4B8D-87CC-44F326E57F8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300D3E7F-D638-485E-B9DE-9882971E795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37A918EE-3E4B-4163-88B2-A0F531986CA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232A643C-2F04-43CA-9A2E-EDF1079EF1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0EC6A60-FAB6-430C-BD29-3BB46673AA9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A83276EF-6CDD-406E-AADF-267B57484EB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6F0CF609-DDD8-4E95-87EE-7A9203238B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62FD5ABC-DE45-42BE-A16A-15AC79E0CF5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6323B773-BF87-4641-B264-1EB782C6C31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E937A554-670C-4089-A5E6-0DACF7200DB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384EA80B-40C9-4F61-AF8A-9F72EB8D59F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89EECAC-04A6-4E5A-B8CB-1D614CBA29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77B83A3-9D00-4DE6-810C-7E8070B7BF8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82E1E9F-C7B2-4ABB-B1AC-C16E226DCAB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7B2F304-BC0B-444A-83FF-CE215B983B8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DDA0298-3BC4-464A-9C1B-4859338487E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4E8FB30-E301-4025-9652-64B0A5601F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58CA13B-21F0-4D10-8F51-D20C3D5CBAC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EB7A2CB-1F1E-4D0F-8642-4095DA80D90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9F26E93-180A-4327-A535-EC27257650F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9A8F921-A694-4782-B97D-14ADE1CC94C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1C39C2F-3C81-46A1-B7B5-292E3B6A91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589E8C4-8CCA-4368-86A8-EEED4A7BE6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51E99B8-FEBC-48FA-AE5C-221BD7ADDD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EDAA48A-38CE-403E-B88C-1EDF719B307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B36C936-EC6C-4864-9EED-AAA79A65B11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12ACB0E-FAB6-4DEB-A252-75AB252ECFF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0203A56-1AFD-4639-99F7-E3ED0144268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8C79245D-99D8-4442-9634-9F025C0C1F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205D342-7250-4780-9D49-CCB3B0998E6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2305666-C3B4-446C-B1EA-779B7D885E4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97A9D2D-D65B-4EF8-BF3E-3C4EA6E050E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4CCFC4D-B005-42C9-8DF5-022A3FC55A4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fa38f4713a948dd" /><Relationship Type="http://schemas.openxmlformats.org/officeDocument/2006/relationships/slideLayout" Target="/ppt/slideLayouts/slideLayout1.xml" Id="R3fdfcbceb0b64bb8" /><Relationship Type="http://schemas.openxmlformats.org/officeDocument/2006/relationships/slideLayout" Target="/ppt/slideLayouts/slideLayout2.xml" Id="Rbb1df45825a04161" /><Relationship Type="http://schemas.openxmlformats.org/officeDocument/2006/relationships/slideLayout" Target="/ppt/slideLayouts/slideLayout3.xml" Id="Rb4ade24127e245a1" /><Relationship Type="http://schemas.openxmlformats.org/officeDocument/2006/relationships/slideLayout" Target="/ppt/slideLayouts/slideLayout4.xml" Id="Re90c8173a7be4fd3" /><Relationship Type="http://schemas.openxmlformats.org/officeDocument/2006/relationships/slideLayout" Target="/ppt/slideLayouts/slideLayout5.xml" Id="R7a31e01b3ecb4f1e" /><Relationship Type="http://schemas.openxmlformats.org/officeDocument/2006/relationships/slideLayout" Target="/ppt/slideLayouts/slideLayout6.xml" Id="Rbf58d5adaf524807" /><Relationship Type="http://schemas.openxmlformats.org/officeDocument/2006/relationships/slideLayout" Target="/ppt/slideLayouts/slideLayout7.xml" Id="Re36c2615705c448a" /><Relationship Type="http://schemas.openxmlformats.org/officeDocument/2006/relationships/slideLayout" Target="/ppt/slideLayouts/slideLayout8.xml" Id="R619c0990c8f04ec7" /><Relationship Type="http://schemas.openxmlformats.org/officeDocument/2006/relationships/slideLayout" Target="/ppt/slideLayouts/slideLayout9.xml" Id="R3dd997277de74a62" /><Relationship Type="http://schemas.openxmlformats.org/officeDocument/2006/relationships/slideLayout" Target="/ppt/slideLayouts/slideLayout10.xml" Id="R1aefe21521ea4a64" /><Relationship Type="http://schemas.openxmlformats.org/officeDocument/2006/relationships/slideLayout" Target="/ppt/slideLayouts/slideLayout11.xml" Id="R0af4bd139b9a4abf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943A4892-1F9E-4FC1-BE16-00B9E860153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38D891C-6895-4B2F-B8FB-A799F29ED0D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75FD636-437C-439B-AE5C-120D09CD33A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850C797-DA58-4970-9205-9AD6922E6A4A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9ED1C28-3CF2-492C-B20F-0E0684861B1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fdfcbceb0b64bb8"/>
    <p:sldLayoutId xmlns:r="http://schemas.openxmlformats.org/officeDocument/2006/relationships" id="2147483650" r:id="Rbb1df45825a04161"/>
    <p:sldLayoutId xmlns:r="http://schemas.openxmlformats.org/officeDocument/2006/relationships" id="2147483651" r:id="Rb4ade24127e245a1"/>
    <p:sldLayoutId xmlns:r="http://schemas.openxmlformats.org/officeDocument/2006/relationships" id="2147483652" r:id="Re90c8173a7be4fd3"/>
    <p:sldLayoutId xmlns:r="http://schemas.openxmlformats.org/officeDocument/2006/relationships" id="2147483653" r:id="R7a31e01b3ecb4f1e"/>
    <p:sldLayoutId xmlns:r="http://schemas.openxmlformats.org/officeDocument/2006/relationships" id="2147483654" r:id="Rbf58d5adaf524807"/>
    <p:sldLayoutId xmlns:r="http://schemas.openxmlformats.org/officeDocument/2006/relationships" id="2147483655" r:id="Re36c2615705c448a"/>
    <p:sldLayoutId xmlns:r="http://schemas.openxmlformats.org/officeDocument/2006/relationships" id="2147483656" r:id="R619c0990c8f04ec7"/>
    <p:sldLayoutId xmlns:r="http://schemas.openxmlformats.org/officeDocument/2006/relationships" id="2147483657" r:id="R3dd997277de74a62"/>
    <p:sldLayoutId xmlns:r="http://schemas.openxmlformats.org/officeDocument/2006/relationships" id="2147483658" r:id="R1aefe21521ea4a64"/>
    <p:sldLayoutId xmlns:r="http://schemas.openxmlformats.org/officeDocument/2006/relationships" id="2147483659" r:id="R0af4bd139b9a4abf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002974cc589417a" /><Relationship Type="http://schemas.openxmlformats.org/officeDocument/2006/relationships/notesSlide" Target="/ppt/notesSlides/notesSlide1.xml" Id="R8ea84b43276948b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ed02afee5474c7d" /><Relationship Type="http://schemas.openxmlformats.org/officeDocument/2006/relationships/notesSlide" Target="/ppt/notesSlides/notesSlide2.xml" Id="R1f108e09733c484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a0f26eec50b4ea2" /><Relationship Type="http://schemas.openxmlformats.org/officeDocument/2006/relationships/notesSlide" Target="/ppt/notesSlides/notesSlide3.xml" Id="Re7f1a8f22fcc47c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4c4f66bd67b459c" /><Relationship Type="http://schemas.openxmlformats.org/officeDocument/2006/relationships/notesSlide" Target="/ppt/notesSlides/notesSlide4.xml" Id="Rb837ddcea4c1409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14873cb5ce140f5" /><Relationship Type="http://schemas.openxmlformats.org/officeDocument/2006/relationships/notesSlide" Target="/ppt/notesSlides/notesSlide5.xml" Id="R33f005b70469464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37d7370140f4b3f" /><Relationship Type="http://schemas.openxmlformats.org/officeDocument/2006/relationships/notesSlide" Target="/ppt/notesSlides/notesSlide6.xml" Id="R6dddd2922886428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9E4B705-EEBE-42D9-AC3B-BCAD98498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C0A384D-962E-43F3-B174-16FCB40E4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34A5B92-F947-4472-B88C-20E48ED28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E413A5C-86D5-4DD4-BA34-6BCAA1768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Concise decision summary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EAEA0DF9-4A2D-49FF-97E0-99FD89855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571D4DC-D040-4AF5-8E2B-B31E633F1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E424507-2247-40D7-8718-00F083161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2026.07.23-11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BBBC098-8E09-4026-AD22-4E9149D8F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2026-07-22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B4102BF-6240-4164-B5F3-1DED30625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0473676-FF63-4423-B6E0-710162F4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E5B62EA-260B-4FB3-8CE0-A78453F63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187116258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061435B-403C-41EE-882F-4DCA3305C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3E66D01-A8BC-4CEF-904C-0AA0ED8CC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financing thesis is based on evidence — not market hype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18805B5-E92E-4BCF-AC31-9222A015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8BF5723-FC6C-465B-81ED-95F776B91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C524E3B-0E1F-4EB2-A6C7-292648680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2026.07.23-11 · 2026-07-22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CA9C8C8-D447-4886-BF19-4E01CC4E0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842F3C5-2175-4B43-A863-FF18D7179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patent has a documented technical core and material official legal evidence, but collateral value has not yet been proven.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B029BF5-8853-47D6-A275-2CC3EC2A5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 Register: the patent was maintained as amended after opposition proceedings; the B2 patent specification was published. EP3032975B2 contains 9 claims.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Germany: two official decisions; finality and territorial limits remain.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Financeability arises when rights, claim charts, cash flow and independent valuation are linked together.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13824C7-7E33-43FD-A332-AF4A291D3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7E63F7D-BEDE-4368-93BF-17232098D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Lender reading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C88AB4F-B0A1-4CF7-BCF3-3E89C2E99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current evidence supports further diligence. It does not yet by itself support a specific loan amount, equity value or patent collateral value.</a:t>
            </a:r>
          </a:p>
        </p:txBody>
      </p:sp>
    </p:spTree>
    <p:extLst>
      <p:ext uri="{BB962C8B-B14F-4D97-AF65-F5344CB8AC3E}">
        <p14:creationId xmlns:p14="http://schemas.microsoft.com/office/powerpoint/2010/main" val="214740909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1EECEAC-1FD4-4D7C-B18E-1AEA683D5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 AND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F960ED2-99D8-4D40-B0D7-5BD1ACC3B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 history provides a strong but limited anchor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852A895-512A-4AB3-9480-2D373D027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3AF4404-1FC8-4AA5-AE3E-3BEB6388E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8FB1572-A2E0-4099-B715-728E4D6D4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2026.07.23-11 · 2026-07-22 · Sources: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226E46E-671A-49C4-9E94-1DE640E35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0AF286D4-76C3-4B65-8DD5-906BF0023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452B88C-981F-49DD-811B-E8EE2DF08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1E2BAC7-5A18-4CED-A687-30B8141DE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claims in EP3032975B2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66E7F67F-98E7-4D2B-B3B3-35A34B9B3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C3212C9-59A9-4E55-8EA9-878025D3B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814BBFB-3CD9-48BE-948D-3B31C596F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6A57FC91-2FD6-4B4D-BD23-1CC8D547D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C7C19EF-5C92-45E3-A3A6-C88C0CAD8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2C40F79D-950F-472E-9541-28B5E053D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decisions: Germany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F649F69B-8149-4AA4-A732-B45B0F590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Proven legal evidence is valuable only with country-specific validity and product linkage.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993766B0-BAA2-4B3C-B3C4-61ED4F252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E2F635B-1951-4774-8030-EDEF56E4D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EFD13F05-A033-49F2-9D69-144B02F5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recorded proprietor, priority and central EPO outcome can be confirmed. Current national status, encumbrances and enforcement across the family require further evidence.</a:t>
            </a:r>
          </a:p>
        </p:txBody>
      </p:sp>
    </p:spTree>
    <p:extLst>
      <p:ext uri="{BB962C8B-B14F-4D97-AF65-F5344CB8AC3E}">
        <p14:creationId xmlns:p14="http://schemas.microsoft.com/office/powerpoint/2010/main" val="113216989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E079688-BF07-446D-9678-3F6713926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52193B6-06CC-427D-969B-9D9A4C455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market evidence is transparent but not yet ready as a global value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120C76E-1463-42A7-87EF-AB7EB64BB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68AB2E1-94A0-4CA5-9A7E-A92585C59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465759E-99F7-4227-95B9-1DAC6BFA6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2026.07.23-11 · 2026-07-22 · Sources: Health Canada; Destatis; Vero; Sejm; Swedish Government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EEE4178-CDDA-4AF1-8761-BD3A6D7C4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A0E70488-21A1-4FCC-9992-6A8DE519E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7AD90F4-9F67-49BE-B5B9-C2916BF11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195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9EF60C0-64E5-40BE-996F-315C2907F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countries in the research universe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447341AE-D232-4BAA-BE3B-748DE4A33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354F33C-816A-40BF-A21E-C81A7F35E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64BD196-CE64-4DBE-BB7A-322C38F87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countries with official annual observations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05832718-8791-43AE-ABBA-6D2D0A272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6733F4D-2562-4DA8-BFDD-452BCC03B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6D00179F-81CE-4D6D-8533-B7C74902E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accepted retail-value donors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E02825AE-1693-46BA-B1C4-A86CA0FFC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commercial USD 26.0–46.32bn range is a reasonableness check — not Atlas's own global estimate.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154F2797-8AE4-4348-A3B6-F484B4B37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C0983E9-A2BD-483E-893E-6F38397AA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26308D1-ED76-454B-BF1E-CBE945B15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Canada: CAD 1.16bn shipment value. Germany: 1.518m litres of taxed liquid in 2025 (provisional). The metrics are not summed.</a:t>
            </a:r>
          </a:p>
        </p:txBody>
      </p:sp>
    </p:spTree>
    <p:extLst>
      <p:ext uri="{BB962C8B-B14F-4D97-AF65-F5344CB8AC3E}">
        <p14:creationId xmlns:p14="http://schemas.microsoft.com/office/powerpoint/2010/main" val="100148609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F2FE077-6ECB-44B2-8836-45EDA8044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 AND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A8F4BB8-9A3C-46DF-8680-BAEAE419D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gaps can be scoped into a concrete work programme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49591EF-D4B6-4787-B95F-89C468527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B8D72AD-0981-42EA-934C-37897550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59E51FB-9DD2-4180-A46B-0FB2B5A9F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2026.07.23-11 · 2026-07-22 · Sources: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19F94AE-DE63-4EA0-9F59-691B15365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6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Missing 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Why it matters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Next 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status across the family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enforceable rights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Counsel-signed country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Product–claim comparisons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Samples,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Cash flow and contracts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repayment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invoices, payments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scenarios and downside risk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IVS-compatible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EADA579-0CD7-4555-9BEA-E750F3578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Financeability improves most when these four gaps are closed before any value discussion.</a:t>
            </a:r>
          </a:p>
        </p:txBody>
      </p:sp>
    </p:spTree>
    <p:extLst>
      <p:ext uri="{BB962C8B-B14F-4D97-AF65-F5344CB8AC3E}">
        <p14:creationId xmlns:p14="http://schemas.microsoft.com/office/powerpoint/2010/main" val="118581311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489C5AF-52E3-4E34-93F9-2346463CA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91F07A9-BDED-42EE-8BEF-7958BFD38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Conditional progression: 90-day diligence before a financing decision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3A35927-9CC7-4026-8CEA-425F211BE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0–30: title, encumbrance, fee-payment and rights matrix.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31–60: prioritised claim charts, market-sales scope and counterparty data.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61–90: independent valuation, cash-flow scenarios and financing terms.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Decision gate: a structure based only on confirmed rights and repayment sources.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75F1994-12BD-4D3B-9F2F-75F326B49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2026.07.23-11 · 2026-07-22 · 6 / 6</a:t>
            </a:r>
          </a:p>
        </p:txBody>
      </p:sp>
    </p:spTree>
    <p:extLst>
      <p:ext uri="{BB962C8B-B14F-4D97-AF65-F5344CB8AC3E}">
        <p14:creationId xmlns:p14="http://schemas.microsoft.com/office/powerpoint/2010/main" val="212255079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2026-07-23T11:20:43.1310000Z</dcterms:created>
  <dcterms:modified xsi:type="dcterms:W3CDTF">2026-07-23T11:20:43.1310000Z</dcterms:modified>
</coreProperties>
</file>