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66928"/>
            <a:ext cx="1097280" cy="64008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6766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0A4A6"/>
                </a:solidFill>
                <a:latin typeface="Aptos"/>
              </a:rPr>
              <a:t>PIXAN · JULKINEN EVIDENSSIPAKETTI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389888"/>
            <a:ext cx="736092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Patentista pankkikelpoiseksi
todistelupaketiksi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03320"/>
            <a:ext cx="70408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6D8E2"/>
                </a:solidFill>
                <a:latin typeface="Aptos"/>
              </a:rPr>
              <a:t>12 dian rahoitus- ja teknologia-arvio</a:t>
            </a:r>
          </a:p>
        </p:txBody>
      </p:sp>
      <p:sp>
        <p:nvSpPr>
          <p:cNvPr id="6" name="Rectangle 5"/>
          <p:cNvSpPr/>
          <p:nvPr/>
        </p:nvSpPr>
        <p:spPr>
          <a:xfrm>
            <a:off x="8275320" y="0"/>
            <a:ext cx="3913632" cy="6858000"/>
          </a:xfrm>
          <a:prstGeom prst="rect">
            <a:avLst/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Aineiston tila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700784"/>
            <a:ext cx="2880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F4B942"/>
                </a:solidFill>
                <a:latin typeface="Aptos"/>
              </a:rPr>
              <a:t>2026.07.22-9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35915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Päivitetty 2026-07-22
12 diaa · suomeksi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822191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B8DFE2"/>
                </a:solidFill>
                <a:latin typeface="Aptos"/>
              </a:rPr>
              <a:t>Lähtökohta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51960"/>
            <a:ext cx="27889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254496"/>
            <a:ext cx="7040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Ei Pixan Oy:n virallinen kanta · ei arvo-, sijoitus-, laina- tai oikeudellinen lausunto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315968"/>
            <a:ext cx="54864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0A4A6"/>
                </a:solidFill>
                <a:latin typeface="Aptos"/>
              </a:rPr>
              <a:t>1 · Rahoitusteesi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2 · ONGELMA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Ongelma on yhtä paljon evidenssissä kuin teknologiassa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Atlas readiness;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Laaja markkinapuhe ei muutu pankkikelpoiseksi vakuudeksi ilman maakohtaista oikeus-, tuote-, myynti- ja kassavirtaketjua.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Markkinamittarit ovat hajanaisia: toimitukset, verot, litrat ja kaupalliset arviot eivät ole sama asia.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Perhejulkaisu ei todista nykyistä voimassaoloa tai rasitteettomuutta.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Oikeustuomio ei yksin todista maksettua korvausta tai globaalia rojaltipohjaa.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Pankin ydinkysymys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Mikä todennettu omaisuus ja kassavirta kattaa lainan myös downside-tapauksessa?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3 · PATENTOITU RATKAISU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Ratkaisu ohjaa höyrystimen tehoa mitatun resistanssin perusteella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6276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50" b="1">
                <a:solidFill>
                  <a:srgbClr val="0D5F86"/>
                </a:solidFill>
                <a:latin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419856"/>
            <a:ext cx="6629400" cy="24780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Ohjaus perustuu tallennettuihin resistanssi–tehoarvoihin.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Tehosuhde kuvataan ei-suoraan-verrannolliseksi.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Käyttäjäsäätö tapahtuu nollasta poikkeavan minimin ja tallennetun maksimin välillä.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Rajaus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Tämä on julkaistun patenttiselityksen yleiskielinen tiivistelmä. Vain kyseisen maan operative claims ja tuotekohtainen claim chart ratkaisevat.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4 · PATENTTI JA IP-STATUS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IP-ydin on dokumentoitu; maakohtainen käyttökelpoisuus on vielä täsmäytettävä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EPO Register;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2013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varhaisin prioriteettivuosi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B2-vaatimusta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perhejulkaisutietuetta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EPO-rekisteri: patentti pysytetty muutettuna väitemenettelyn jälkeen; B2-patenttijulkaisu julkaistu. B2 julkaistiin 24.4.2024.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Julkisen rekisterin kirjattu haltija: Pixan Oy. Koko perheen nykyistä kansallista voimassaoloa, maksuja ja rasitteita ei ole vielä varmennettu.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5 · TEKNINEN EROTTAUTUMINEN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Tekninen erottautuminen on vaatimuksissa — ei tuotteen ulkonäössä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EP3032975B2;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Rahoitusarvioinnin tulee jäljittää jokainen olennainen vaatimuspiirre tuotteeseen ja maahan.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Patenttiselitys antaa teknisen hypoteesin ja dokumentoidun suojatekstin.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Saksa: ratkaisu tukee tiettyjen tuotteiden ja vaatimusten 1 ja 6 kytkentää.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Riippumattomat testit, teardown-dossierit ja muiden maiden claim chartit puuttuvat julkisesta aineistosta.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Todistusketju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Näyte → hallussapitoketju → teardown → mittausdata → claim chart → asiamiehen tarkastus → relevantti myynti.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6 · MARKKINAN KOKO JA RAJAUS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Markkinakoko on tällä hetkellä haarukka ja havaintokokoelma — ei yksi luku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Market-values; IMARC; GVR; Fortune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maan tutkimusrivit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maata vuosihavainnoilla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26,0–46,32 mrd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kaupallinen globaali 2025 haarukka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Saksa: nestemallin luottamustaso on matala ja vaihteluväli 667,92 milj. EUR–1 654,62 milj. EUR; sitä ei saa esittää havaittuna myyntinä.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Hyväksyttyjä virallisia kansallisia consumer-retail-arvoja on 0. Atlas ei julkaise omaa maailmanestimaattia ennen metodisten porttien täyttymistä.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7 · ASIAKKAAT JA OSTOPERUSTE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Asiakkuus on vielä validoitava kolmessa eri päätöksentekologiikassa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WIPO licensing; WIPO IP Finance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Mahdolliset segmentit ovat valmistajat, teknologiatoimittajat sekä IP-rahoittajat tai ostajat.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Valmistaja ostaa toimintarauhaa, oikeusvarmuutta tai teknologiaa — jos relevantti tuote ja alue osoitetaan.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Teknologiatoimittaja arvioi integroitavuutta, vapautta toimia ja yksikkötaloutta.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Rahoittaja arvioi omistusta, realisoitavaa kassavirtaa, kontrollia ja downside-arvoa.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Nykyinen näyttö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Julkinen aineisto ei vahvista nimettyjä asiakkaita, piloteja, ostoaikomuksia tai allekirjoitettuja lisenssejä.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8 · KILPAILU JA VAIHTOEHDOT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Kilpailu on erotettava vaihtoehtoisista teknologioista ja patenttiriskistä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Evidence Register; EPO;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455"/>
                <a:gridCol w="6040366"/>
                <a:gridCol w="2265137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Vertailutaso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Kysymys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Nykytila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Ratkaiseeko tuote saman ongelman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Patenttiperheet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Onko suojan päällekkäisyys tai FTO-riski?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Kaupalliset vaihtoehdot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Lisenssi, luovutus, sovinto vai oma käyttö?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Oletus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Ei-patentoidut vaihtoehdot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Voiko suorituskyvyn saavuttaa kiertämällä vaatimukset?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Kilpailija-analyysi on pankin teknologia-arvioinnin olennainen avoin työpaketti.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9 · VALIDOINTI JA NYKYINEN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Validoinnin vahvuus on epätasainen ja siksi näkyvästi luokiteltu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992"/>
                <a:gridCol w="1599834"/>
                <a:gridCol w="3377427"/>
                <a:gridCol w="3910705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Väitealue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Luokitus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on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puuttuu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EPO-rekisteri ja B2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Maakohtainen statusmatriisi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Saksan prosessit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Kaksi virallista ratkaisua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Lopullisuus, täytäntöönpano, kassa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Markkinahavainnot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 maan viralliset luvut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Yhteismitallinen retail-arvo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Tekninen testaus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Patenttiselitys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testi ja raakadata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Kaupallinen näyttö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Kaupallistamiskehys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Asiakkaat, sopimukset,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Todistettu oikeusnäyttö ei korvaa teknistä, kaupallista tai taloudellista validointia.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10 · KAUPALLISTAMISMALLI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Kaupallistaminen etenee porttien kautta, ei massaväitteillä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WIPO licensing; dispute resolution; IPscore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Oikeusmatriisi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Vahvista maa, haltija, maksu, rasite, operative claims ja määräpäivät.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Tuotedossier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Hanki näyte, dokumentoi ketju ja tee asiamiehen tarkastama claim chart.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Kohdepisteytys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Arvioi oikeus, näyttö, myynti, vastapuoli, kustannus ja täytäntöönpano.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Rajattu pilotti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Testaa lisenssi-, sovinto-, luovutus- tai rahoitusreitti auditoitavin ehdoin.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Vasta toteutunut sopimus tai saaminen luo kassavirtanäyttöä.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11 · TALOUDELLINEN MALLI JA HERKKYYDET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Taloudellinen malli on rakennettava lähteistä, ei markkinaosuusoletuksesta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2026.07.22-9 · 2026-07-22 · Lähteet: WIPO IP valuation; Market-values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7490"/>
                <a:gridCol w="6332677"/>
                <a:gridCol w="1999792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Silta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Todennettava syöte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Nykytila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Yhteismitallinen maakohtainen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0 retail-luovuttajaa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Kohdistettava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Voimassaolo × tuote × aika × maa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Claim-mapped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Kassavirta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Sopimusehdot, kulut, verot, viive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Vakuusarvo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Downside-realisointi ja kontrolli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Näytä downside/base/upside vasta, kun jokainen sillan syöte on dokumentoitu.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PÄÄTÖSKEHYS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88136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Rahoituspäätös vasta neljän kriittisen aukon sulkeuduttua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286000"/>
            <a:ext cx="10012680" cy="3246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1. Asiamiehen allekirjoittama omistus-, rasite-, maksu- ja oikeusmatriisi.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2. Priorisoitujen tuotteiden claim chartit ja dokumentoitu relevantti myynti.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3. Toteutuneet tai sopimuspohjaiset kassavirrat sekä auditoidut taloustiedot.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4. Riippumaton arvonmääritys ja downside-vakuusanalyysi.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Seuraava päätös: hyväksytäänkö 90 päivän kontrolloitu diligence-vaihe?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72784"/>
            <a:ext cx="10241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Versio 2026.07.22-9 · 2026-07-22 · 12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749808"/>
            <a:ext cx="795527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12 · Riskit, hallintatoimet ja seuraavat vaiheet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Pixan · keskikokoinen julkinen pankkidekki</dc:title>
  <dc:subject>Julkinen pankki- ja rahoitusarvioinnin evidenssipaketti</dc:subject>
  <dc:creator>Pixan Global Market Evidence Atlas</dc:creator>
  <cp:keywords>Pixan, patentti, markkinaevidenssi, due diligence</cp:keywords>
  <dc:description>generated using python-pptx</dc:description>
  <cp:lastModifiedBy>Steve Canny</cp:lastModifiedBy>
  <cp:revision>1</cp:revision>
  <dcterms:created xsi:type="dcterms:W3CDTF">2026-07-22T00:00:00Z</dcterms:created>
  <dcterms:modified xsi:type="dcterms:W3CDTF">2026-07-22T00:00:00Z</dcterms:modified>
  <cp:category/>
</cp:coreProperties>
</file>