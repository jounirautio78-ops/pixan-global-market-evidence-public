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A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30352" y="566928"/>
            <a:ext cx="1097280" cy="64008"/>
          </a:xfrm>
          <a:prstGeom prst="rect">
            <a:avLst/>
          </a:prstGeom>
          <a:solidFill>
            <a:srgbClr val="00A4A6"/>
          </a:solidFill>
          <a:ln>
            <a:solidFill>
              <a:srgbClr val="00A4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0352" y="914400"/>
            <a:ext cx="6766560" cy="3200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00" b="1">
                <a:solidFill>
                  <a:srgbClr val="00A4A6"/>
                </a:solidFill>
                <a:latin typeface="Aptos"/>
              </a:rPr>
              <a:t>PIXAN · JULKINEN EVIDENSSIPAKETTI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1389888"/>
            <a:ext cx="7360920" cy="20574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Aptos"/>
              </a:rPr>
              <a:t>Patentista pankkikelpoiseksi
todistelupaketiksi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3703320"/>
            <a:ext cx="7040880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800" b="0">
                <a:solidFill>
                  <a:srgbClr val="C6D8E2"/>
                </a:solidFill>
                <a:latin typeface="Aptos"/>
              </a:rPr>
              <a:t>12 dian rahoitus- ja teknologia-arvio</a:t>
            </a:r>
          </a:p>
        </p:txBody>
      </p:sp>
      <p:sp>
        <p:nvSpPr>
          <p:cNvPr id="6" name="Rectangle 5"/>
          <p:cNvSpPr/>
          <p:nvPr/>
        </p:nvSpPr>
        <p:spPr>
          <a:xfrm>
            <a:off x="8275320" y="0"/>
            <a:ext cx="3913632" cy="6858000"/>
          </a:xfrm>
          <a:prstGeom prst="rect">
            <a:avLst/>
          </a:prstGeom>
          <a:solidFill>
            <a:srgbClr val="0D5F86"/>
          </a:solidFill>
          <a:ln>
            <a:solidFill>
              <a:srgbClr val="0D5F8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732520" y="1143000"/>
            <a:ext cx="2926080" cy="3657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900" b="1">
                <a:solidFill>
                  <a:srgbClr val="FFFFFF"/>
                </a:solidFill>
                <a:latin typeface="Aptos"/>
              </a:rPr>
              <a:t>Aineiston tila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32520" y="1700784"/>
            <a:ext cx="2880360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900" b="1">
                <a:solidFill>
                  <a:srgbClr val="F4B942"/>
                </a:solidFill>
                <a:latin typeface="Aptos"/>
              </a:rPr>
              <a:t>2026.07.23-12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732520" y="2359152"/>
            <a:ext cx="2788920" cy="7315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  <a:latin typeface="Aptos"/>
              </a:rPr>
              <a:t>Päivitetty 2026-07-22
12 diaa · suomeksi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732520" y="3822191"/>
            <a:ext cx="2743200" cy="3200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00" b="1">
                <a:solidFill>
                  <a:srgbClr val="B8DFE2"/>
                </a:solidFill>
                <a:latin typeface="Aptos"/>
              </a:rPr>
              <a:t>Lähtökohta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732520" y="4251960"/>
            <a:ext cx="2788920" cy="10972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800" b="0">
                <a:solidFill>
                  <a:srgbClr val="FFFFFF"/>
                </a:solidFill>
                <a:latin typeface="Aptos"/>
              </a:rPr>
              <a:t>Vahvistettu näyttö erotetaan tuetusta tiedosta, oletuksista ja puuttuvasta näytöstä.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254496"/>
            <a:ext cx="7040880" cy="31089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0">
                <a:solidFill>
                  <a:srgbClr val="9DB3C0"/>
                </a:solidFill>
                <a:latin typeface="Aptos"/>
              </a:rPr>
              <a:t>Ei Pixan Oy:n virallinen kanta · ei arvo-, sijoitus-, laina- tai oikeudellinen lausunto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4315968"/>
            <a:ext cx="5486400" cy="3200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500" b="1">
                <a:solidFill>
                  <a:srgbClr val="00A4A6"/>
                </a:solidFill>
                <a:latin typeface="Aptos"/>
              </a:rPr>
              <a:t>1 · Rahoitusteesi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347472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1">
                <a:solidFill>
                  <a:srgbClr val="00A4A6"/>
                </a:solidFill>
                <a:latin typeface="Aptos"/>
              </a:rPr>
              <a:t>2 · ONGELMA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09960" cy="5486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3400" b="1">
                <a:solidFill>
                  <a:srgbClr val="071A2B"/>
                </a:solidFill>
                <a:latin typeface="Aptos"/>
              </a:rPr>
              <a:t>Ongelma on yhtä paljon evidenssissä kuin teknologiassa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25296"/>
            <a:ext cx="960120" cy="50292"/>
          </a:xfrm>
          <a:prstGeom prst="rect">
            <a:avLst/>
          </a:prstGeom>
          <a:solidFill>
            <a:srgbClr val="00A4A6"/>
          </a:solidFill>
          <a:ln>
            <a:solidFill>
              <a:srgbClr val="00A4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47472" y="6519672"/>
            <a:ext cx="11494008" cy="13716"/>
          </a:xfrm>
          <a:prstGeom prst="rect">
            <a:avLst/>
          </a:prstGeom>
          <a:solidFill>
            <a:srgbClr val="CBD8DE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84048" y="6556248"/>
            <a:ext cx="10835640" cy="17373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50" b="0">
                <a:solidFill>
                  <a:srgbClr val="5B6B75"/>
                </a:solidFill>
                <a:latin typeface="Aptos"/>
              </a:rPr>
              <a:t>Julkinen riippumaton evidenssikooste · 2026.07.23-12 · 2026-07-22 · Lähteet: Atlas readiness; WIPO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84280" y="6537960"/>
            <a:ext cx="41148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900" b="0">
                <a:solidFill>
                  <a:srgbClr val="5B6B75"/>
                </a:solidFill>
                <a:latin typeface="Aptos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554480"/>
            <a:ext cx="6766560" cy="129844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000" b="1">
                <a:solidFill>
                  <a:srgbClr val="0D5F86"/>
                </a:solidFill>
                <a:latin typeface="Aptos"/>
              </a:rPr>
              <a:t>Laaja markkinapuhe ei muutu pankkikelpoiseksi vakuudeksi ilman maakohtaista oikeus-, tuote-, myynti- ja kassavirtaketjua.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85216" y="3090672"/>
            <a:ext cx="6629400" cy="28072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lnSpc>
                <a:spcPct val="105000"/>
              </a:lnSpc>
              <a:spcAft>
                <a:spcPts val="1200"/>
              </a:spcAft>
              <a:defRPr sz="1650">
                <a:solidFill>
                  <a:srgbClr val="182935"/>
                </a:solidFill>
                <a:latin typeface="Aptos"/>
              </a:defRPr>
            </a:pPr>
            <a:r>
              <a:t>•  Markkinamittarit ovat hajanaisia: toimitukset, verot, litrat ja kaupalliset arviot eivät ole sama asia.</a:t>
            </a:r>
          </a:p>
          <a:p>
            <a:pPr>
              <a:lnSpc>
                <a:spcPct val="105000"/>
              </a:lnSpc>
              <a:spcAft>
                <a:spcPts val="1200"/>
              </a:spcAft>
              <a:defRPr sz="1650">
                <a:solidFill>
                  <a:srgbClr val="182935"/>
                </a:solidFill>
                <a:latin typeface="Aptos"/>
              </a:defRPr>
            </a:pPr>
            <a:r>
              <a:t>•  Perhejulkaisu ei todista nykyistä voimassaoloa tai rasitteettomuutta.</a:t>
            </a:r>
          </a:p>
          <a:p>
            <a:pPr>
              <a:lnSpc>
                <a:spcPct val="105000"/>
              </a:lnSpc>
              <a:spcAft>
                <a:spcPts val="1200"/>
              </a:spcAft>
              <a:defRPr sz="1650">
                <a:solidFill>
                  <a:srgbClr val="182935"/>
                </a:solidFill>
                <a:latin typeface="Aptos"/>
              </a:defRPr>
            </a:pPr>
            <a:r>
              <a:t>•  Oikeustuomio ei yksin todista maksettua korvausta tai globaalia rojaltipohjaa.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26679" y="1554480"/>
            <a:ext cx="3886200" cy="4343400"/>
          </a:xfrm>
          <a:prstGeom prst="roundRect">
            <a:avLst>
              <a:gd name="adj" fmla="val 8000"/>
            </a:avLst>
          </a:prstGeom>
          <a:solidFill>
            <a:srgbClr val="E3F6F3"/>
          </a:solidFill>
          <a:ln>
            <a:solidFill>
              <a:srgbClr val="E3F6F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891271" y="1700784"/>
            <a:ext cx="3557016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700" b="1">
                <a:solidFill>
                  <a:srgbClr val="071A2B"/>
                </a:solidFill>
                <a:latin typeface="Aptos"/>
              </a:rPr>
              <a:t>Pankin ydinkysymys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91271" y="2057400"/>
            <a:ext cx="3557016" cy="37216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500" b="0">
                <a:solidFill>
                  <a:srgbClr val="182935"/>
                </a:solidFill>
                <a:latin typeface="Aptos"/>
              </a:rPr>
              <a:t>Mikä todennettu omaisuus ja kassavirta kattaa lainan myös downside-tapauksessa?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347472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1">
                <a:solidFill>
                  <a:srgbClr val="00A4A6"/>
                </a:solidFill>
                <a:latin typeface="Aptos"/>
              </a:rPr>
              <a:t>3 · PATENTOITU RATKAISU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09960" cy="5486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3400" b="1">
                <a:solidFill>
                  <a:srgbClr val="071A2B"/>
                </a:solidFill>
                <a:latin typeface="Aptos"/>
              </a:rPr>
              <a:t>Ratkaisu ohjaa höyrystimen tehoa mitatun resistanssin perusteella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25296"/>
            <a:ext cx="960120" cy="50292"/>
          </a:xfrm>
          <a:prstGeom prst="rect">
            <a:avLst/>
          </a:prstGeom>
          <a:solidFill>
            <a:srgbClr val="00A4A6"/>
          </a:solidFill>
          <a:ln>
            <a:solidFill>
              <a:srgbClr val="00A4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47472" y="6519672"/>
            <a:ext cx="11494008" cy="13716"/>
          </a:xfrm>
          <a:prstGeom prst="rect">
            <a:avLst/>
          </a:prstGeom>
          <a:solidFill>
            <a:srgbClr val="CBD8DE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84048" y="6556248"/>
            <a:ext cx="10835640" cy="17373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50" b="0">
                <a:solidFill>
                  <a:srgbClr val="5B6B75"/>
                </a:solidFill>
                <a:latin typeface="Aptos"/>
              </a:rPr>
              <a:t>Julkinen riippumaton evidenssikooste · 2026.07.23-12 · 2026-07-22 · Lähteet: EP3032975B2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84280" y="6537960"/>
            <a:ext cx="41148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900" b="0">
                <a:solidFill>
                  <a:srgbClr val="5B6B75"/>
                </a:solidFill>
                <a:latin typeface="Aptos"/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554480"/>
            <a:ext cx="6766560" cy="16276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750" b="1">
                <a:solidFill>
                  <a:srgbClr val="0D5F86"/>
                </a:solidFill>
                <a:latin typeface="Aptos"/>
              </a:rPr>
              <a:t>Julkaistu patenttiselitys koskee sähkökäyttöisen höyrystimen ohjausta mittaamalla lämmityselementin resistanssi, valitsemalla sitä vastaava teho tallennetusta tiedosta ja ohjaamalla lämmittimelle syötettävää tehoa määritellyissä käyttäjäsäädön rajoissa.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85216" y="3419856"/>
            <a:ext cx="6629400" cy="247802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lnSpc>
                <a:spcPct val="105000"/>
              </a:lnSpc>
              <a:spcAft>
                <a:spcPts val="1200"/>
              </a:spcAft>
              <a:defRPr sz="1650">
                <a:solidFill>
                  <a:srgbClr val="182935"/>
                </a:solidFill>
                <a:latin typeface="Aptos"/>
              </a:defRPr>
            </a:pPr>
            <a:r>
              <a:t>•  Ohjaus perustuu tallennettuihin resistanssi–tehoarvoihin.</a:t>
            </a:r>
          </a:p>
          <a:p>
            <a:pPr>
              <a:lnSpc>
                <a:spcPct val="105000"/>
              </a:lnSpc>
              <a:spcAft>
                <a:spcPts val="1200"/>
              </a:spcAft>
              <a:defRPr sz="1650">
                <a:solidFill>
                  <a:srgbClr val="182935"/>
                </a:solidFill>
                <a:latin typeface="Aptos"/>
              </a:defRPr>
            </a:pPr>
            <a:r>
              <a:t>•  Tehosuhde kuvataan ei-suoraan-verrannolliseksi.</a:t>
            </a:r>
          </a:p>
          <a:p>
            <a:pPr>
              <a:lnSpc>
                <a:spcPct val="105000"/>
              </a:lnSpc>
              <a:spcAft>
                <a:spcPts val="1200"/>
              </a:spcAft>
              <a:defRPr sz="1650">
                <a:solidFill>
                  <a:srgbClr val="182935"/>
                </a:solidFill>
                <a:latin typeface="Aptos"/>
              </a:defRPr>
            </a:pPr>
            <a:r>
              <a:t>•  Käyttäjäsäätö tapahtuu nollasta poikkeavan minimin ja tallennetun maksimin välillä.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26679" y="1554480"/>
            <a:ext cx="3886200" cy="4343400"/>
          </a:xfrm>
          <a:prstGeom prst="roundRect">
            <a:avLst>
              <a:gd name="adj" fmla="val 8000"/>
            </a:avLst>
          </a:prstGeom>
          <a:solidFill>
            <a:srgbClr val="E3F6F3"/>
          </a:solidFill>
          <a:ln>
            <a:solidFill>
              <a:srgbClr val="E3F6F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891271" y="1700784"/>
            <a:ext cx="3557016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700" b="1">
                <a:solidFill>
                  <a:srgbClr val="071A2B"/>
                </a:solidFill>
                <a:latin typeface="Aptos"/>
              </a:rPr>
              <a:t>Rajaus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91271" y="2057400"/>
            <a:ext cx="3557016" cy="37216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500" b="0">
                <a:solidFill>
                  <a:srgbClr val="182935"/>
                </a:solidFill>
                <a:latin typeface="Aptos"/>
              </a:rPr>
              <a:t>Tämä on julkaistun patenttiselityksen yleiskielinen tiivistelmä. Vain kyseisen maan operative claims ja tuotekohtainen claim chart ratkaisevat.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347472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1">
                <a:solidFill>
                  <a:srgbClr val="00A4A6"/>
                </a:solidFill>
                <a:latin typeface="Aptos"/>
              </a:rPr>
              <a:t>4 · PATENTTI JA IP-STATUS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09960" cy="5486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3400" b="1">
                <a:solidFill>
                  <a:srgbClr val="071A2B"/>
                </a:solidFill>
                <a:latin typeface="Aptos"/>
              </a:rPr>
              <a:t>IP-ydin on dokumentoitu; maakohtainen käyttökelpoisuus on vielä täsmäytettävä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25296"/>
            <a:ext cx="960120" cy="50292"/>
          </a:xfrm>
          <a:prstGeom prst="rect">
            <a:avLst/>
          </a:prstGeom>
          <a:solidFill>
            <a:srgbClr val="00A4A6"/>
          </a:solidFill>
          <a:ln>
            <a:solidFill>
              <a:srgbClr val="00A4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47472" y="6519672"/>
            <a:ext cx="11494008" cy="13716"/>
          </a:xfrm>
          <a:prstGeom prst="rect">
            <a:avLst/>
          </a:prstGeom>
          <a:solidFill>
            <a:srgbClr val="CBD8DE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84048" y="6556248"/>
            <a:ext cx="10835640" cy="17373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50" b="0">
                <a:solidFill>
                  <a:srgbClr val="5B6B75"/>
                </a:solidFill>
                <a:latin typeface="Aptos"/>
              </a:rPr>
              <a:t>Julkinen riippumaton evidenssikooste · 2026.07.23-12 · 2026-07-22 · Lähteet: EPO Register; EP3032975B2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84280" y="6537960"/>
            <a:ext cx="41148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900" b="0">
                <a:solidFill>
                  <a:srgbClr val="5B6B75"/>
                </a:solidFill>
                <a:latin typeface="Aptos"/>
              </a:rPr>
              <a:t>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30352" y="1719072"/>
            <a:ext cx="3532632" cy="1371600"/>
          </a:xfrm>
          <a:prstGeom prst="roundRect">
            <a:avLst>
              <a:gd name="adj" fmla="val 8000"/>
            </a:avLst>
          </a:prstGeom>
          <a:solidFill>
            <a:srgbClr val="F6F9FA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94944" y="1883664"/>
            <a:ext cx="3203448" cy="53035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700" b="1">
                <a:solidFill>
                  <a:srgbClr val="00A4A6"/>
                </a:solidFill>
                <a:latin typeface="Aptos"/>
              </a:rPr>
              <a:t>2013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94944" y="2468879"/>
            <a:ext cx="3203448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0">
                <a:solidFill>
                  <a:srgbClr val="5B6B75"/>
                </a:solidFill>
                <a:latin typeface="Aptos"/>
              </a:rPr>
              <a:t>varhaisin prioriteettivuosi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19016" y="1719072"/>
            <a:ext cx="3532632" cy="1371600"/>
          </a:xfrm>
          <a:prstGeom prst="roundRect">
            <a:avLst>
              <a:gd name="adj" fmla="val 8000"/>
            </a:avLst>
          </a:prstGeom>
          <a:solidFill>
            <a:srgbClr val="F6F9FA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83608" y="1883664"/>
            <a:ext cx="3203448" cy="53035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700" b="1">
                <a:solidFill>
                  <a:srgbClr val="0D5F86"/>
                </a:solidFill>
                <a:latin typeface="Aptos"/>
              </a:rPr>
              <a:t>9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3608" y="2468879"/>
            <a:ext cx="3203448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0">
                <a:solidFill>
                  <a:srgbClr val="5B6B75"/>
                </a:solidFill>
                <a:latin typeface="Aptos"/>
              </a:rPr>
              <a:t>B2-vaatimusta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07680" y="1719072"/>
            <a:ext cx="3532632" cy="1371600"/>
          </a:xfrm>
          <a:prstGeom prst="roundRect">
            <a:avLst>
              <a:gd name="adj" fmla="val 8000"/>
            </a:avLst>
          </a:prstGeom>
          <a:solidFill>
            <a:srgbClr val="F6F9FA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72272" y="1883664"/>
            <a:ext cx="3203448" cy="53035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700" b="1">
                <a:solidFill>
                  <a:srgbClr val="F4B942"/>
                </a:solidFill>
                <a:latin typeface="Aptos"/>
              </a:rPr>
              <a:t>22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72272" y="2468879"/>
            <a:ext cx="3203448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0">
                <a:solidFill>
                  <a:srgbClr val="5B6B75"/>
                </a:solidFill>
                <a:latin typeface="Aptos"/>
              </a:rPr>
              <a:t>perhejulkaisutietuetta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" y="3529584"/>
            <a:ext cx="10927080" cy="7863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500" b="1">
                <a:solidFill>
                  <a:srgbClr val="071A2B"/>
                </a:solidFill>
                <a:latin typeface="Aptos"/>
              </a:rPr>
              <a:t>EPO-rekisteri: patentti pysytetty muutettuna väitemenettelyn jälkeen; B2-patenttijulkaisu julkaistu. B2 julkaistiin 24.4.2024.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4535424"/>
            <a:ext cx="10927080" cy="1143000"/>
          </a:xfrm>
          <a:prstGeom prst="roundRect">
            <a:avLst>
              <a:gd name="adj" fmla="val 8000"/>
            </a:avLst>
          </a:prstGeom>
          <a:solidFill>
            <a:srgbClr val="EAF3F6"/>
          </a:solidFill>
          <a:ln>
            <a:solidFill>
              <a:srgbClr val="EAF3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" y="4681728"/>
            <a:ext cx="10597896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700" b="1">
                <a:solidFill>
                  <a:srgbClr val="071A2B"/>
                </a:solidFill>
                <a:latin typeface="Aptos"/>
              </a:rPr>
              <a:t>Tulkinta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5038344"/>
            <a:ext cx="10597896" cy="521207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500" b="0">
                <a:solidFill>
                  <a:srgbClr val="182935"/>
                </a:solidFill>
                <a:latin typeface="Aptos"/>
              </a:rPr>
              <a:t>Julkisen rekisterin kirjattu haltija: Pixan Oy. Koko perheen nykyistä kansallista voimassaoloa, maksuja ja rasitteita ei ole vielä varmennettu.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347472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1">
                <a:solidFill>
                  <a:srgbClr val="00A4A6"/>
                </a:solidFill>
                <a:latin typeface="Aptos"/>
              </a:rPr>
              <a:t>5 · TEKNINEN EROTTAUTUMINEN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09960" cy="5486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3400" b="1">
                <a:solidFill>
                  <a:srgbClr val="071A2B"/>
                </a:solidFill>
                <a:latin typeface="Aptos"/>
              </a:rPr>
              <a:t>Tekninen erottautuminen on vaatimuksissa — ei tuotteen ulkonäössä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25296"/>
            <a:ext cx="960120" cy="50292"/>
          </a:xfrm>
          <a:prstGeom prst="rect">
            <a:avLst/>
          </a:prstGeom>
          <a:solidFill>
            <a:srgbClr val="00A4A6"/>
          </a:solidFill>
          <a:ln>
            <a:solidFill>
              <a:srgbClr val="00A4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47472" y="6519672"/>
            <a:ext cx="11494008" cy="13716"/>
          </a:xfrm>
          <a:prstGeom prst="rect">
            <a:avLst/>
          </a:prstGeom>
          <a:solidFill>
            <a:srgbClr val="CBD8DE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84048" y="6556248"/>
            <a:ext cx="10835640" cy="17373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50" b="0">
                <a:solidFill>
                  <a:srgbClr val="5B6B75"/>
                </a:solidFill>
                <a:latin typeface="Aptos"/>
              </a:rPr>
              <a:t>Julkinen riippumaton evidenssikooste · 2026.07.23-12 · 2026-07-22 · Lähteet: EP3032975B2; 7 O 3341/24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84280" y="6537960"/>
            <a:ext cx="41148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900" b="0">
                <a:solidFill>
                  <a:srgbClr val="5B6B75"/>
                </a:solidFill>
                <a:latin typeface="Aptos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554480"/>
            <a:ext cx="6766560" cy="10241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300" b="1">
                <a:solidFill>
                  <a:srgbClr val="0D5F86"/>
                </a:solidFill>
                <a:latin typeface="Aptos"/>
              </a:rPr>
              <a:t>Rahoitusarvioinnin tulee jäljittää jokainen olennainen vaatimuspiirre tuotteeseen ja maahan.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85216" y="2816352"/>
            <a:ext cx="6629400" cy="3081527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lnSpc>
                <a:spcPct val="105000"/>
              </a:lnSpc>
              <a:spcAft>
                <a:spcPts val="1200"/>
              </a:spcAft>
              <a:defRPr sz="1650">
                <a:solidFill>
                  <a:srgbClr val="182935"/>
                </a:solidFill>
                <a:latin typeface="Aptos"/>
              </a:defRPr>
            </a:pPr>
            <a:r>
              <a:t>•  Patenttiselitys antaa teknisen hypoteesin ja dokumentoidun suojatekstin.</a:t>
            </a:r>
          </a:p>
          <a:p>
            <a:pPr>
              <a:lnSpc>
                <a:spcPct val="105000"/>
              </a:lnSpc>
              <a:spcAft>
                <a:spcPts val="1200"/>
              </a:spcAft>
              <a:defRPr sz="1650">
                <a:solidFill>
                  <a:srgbClr val="182935"/>
                </a:solidFill>
                <a:latin typeface="Aptos"/>
              </a:defRPr>
            </a:pPr>
            <a:r>
              <a:t>•  Saksa: ratkaisu tukee tiettyjen tuotteiden ja vaatimusten 1 ja 6 kytkentää.</a:t>
            </a:r>
          </a:p>
          <a:p>
            <a:pPr>
              <a:lnSpc>
                <a:spcPct val="105000"/>
              </a:lnSpc>
              <a:spcAft>
                <a:spcPts val="1200"/>
              </a:spcAft>
              <a:defRPr sz="1650">
                <a:solidFill>
                  <a:srgbClr val="182935"/>
                </a:solidFill>
                <a:latin typeface="Aptos"/>
              </a:defRPr>
            </a:pPr>
            <a:r>
              <a:t>•  Riippumattomat testit, teardown-dossierit ja muiden maiden claim chartit puuttuvat julkisesta aineistosta.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26679" y="1554480"/>
            <a:ext cx="3886200" cy="4343400"/>
          </a:xfrm>
          <a:prstGeom prst="roundRect">
            <a:avLst>
              <a:gd name="adj" fmla="val 8000"/>
            </a:avLst>
          </a:prstGeom>
          <a:solidFill>
            <a:srgbClr val="E3F6F3"/>
          </a:solidFill>
          <a:ln>
            <a:solidFill>
              <a:srgbClr val="E3F6F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891271" y="1700784"/>
            <a:ext cx="3557016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700" b="1">
                <a:solidFill>
                  <a:srgbClr val="071A2B"/>
                </a:solidFill>
                <a:latin typeface="Aptos"/>
              </a:rPr>
              <a:t>Todistusketju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91271" y="2057400"/>
            <a:ext cx="3557016" cy="37216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500" b="0">
                <a:solidFill>
                  <a:srgbClr val="182935"/>
                </a:solidFill>
                <a:latin typeface="Aptos"/>
              </a:rPr>
              <a:t>Näyte → hallussapitoketju → teardown → mittausdata → claim chart → asiamiehen tarkastus → relevantti myynti.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347472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1">
                <a:solidFill>
                  <a:srgbClr val="00A4A6"/>
                </a:solidFill>
                <a:latin typeface="Aptos"/>
              </a:rPr>
              <a:t>6 · MARKKINAN KOKO JA RAJAUS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09960" cy="5486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3400" b="1">
                <a:solidFill>
                  <a:srgbClr val="071A2B"/>
                </a:solidFill>
                <a:latin typeface="Aptos"/>
              </a:rPr>
              <a:t>Markkinakoko on tällä hetkellä haarukka ja havaintokokoelma — ei yksi luku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25296"/>
            <a:ext cx="960120" cy="50292"/>
          </a:xfrm>
          <a:prstGeom prst="rect">
            <a:avLst/>
          </a:prstGeom>
          <a:solidFill>
            <a:srgbClr val="00A4A6"/>
          </a:solidFill>
          <a:ln>
            <a:solidFill>
              <a:srgbClr val="00A4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47472" y="6519672"/>
            <a:ext cx="11494008" cy="13716"/>
          </a:xfrm>
          <a:prstGeom prst="rect">
            <a:avLst/>
          </a:prstGeom>
          <a:solidFill>
            <a:srgbClr val="CBD8DE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84048" y="6556248"/>
            <a:ext cx="10835640" cy="17373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50" b="0">
                <a:solidFill>
                  <a:srgbClr val="5B6B75"/>
                </a:solidFill>
                <a:latin typeface="Aptos"/>
              </a:rPr>
              <a:t>Julkinen riippumaton evidenssikooste · 2026.07.23-12 · 2026-07-22 · Lähteet: Market-values; IMARC; GVR; Fortune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84280" y="6537960"/>
            <a:ext cx="41148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900" b="0">
                <a:solidFill>
                  <a:srgbClr val="5B6B75"/>
                </a:solidFill>
                <a:latin typeface="Aptos"/>
              </a:rPr>
              <a:t>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30352" y="1719072"/>
            <a:ext cx="3532632" cy="1371600"/>
          </a:xfrm>
          <a:prstGeom prst="roundRect">
            <a:avLst>
              <a:gd name="adj" fmla="val 8000"/>
            </a:avLst>
          </a:prstGeom>
          <a:solidFill>
            <a:srgbClr val="F6F9FA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94944" y="1883664"/>
            <a:ext cx="3203448" cy="53035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700" b="1">
                <a:solidFill>
                  <a:srgbClr val="00A4A6"/>
                </a:solidFill>
                <a:latin typeface="Aptos"/>
              </a:rPr>
              <a:t>195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94944" y="2468879"/>
            <a:ext cx="3203448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0">
                <a:solidFill>
                  <a:srgbClr val="5B6B75"/>
                </a:solidFill>
                <a:latin typeface="Aptos"/>
              </a:rPr>
              <a:t>maan tutkimusrivit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19016" y="1719072"/>
            <a:ext cx="3532632" cy="1371600"/>
          </a:xfrm>
          <a:prstGeom prst="roundRect">
            <a:avLst>
              <a:gd name="adj" fmla="val 8000"/>
            </a:avLst>
          </a:prstGeom>
          <a:solidFill>
            <a:srgbClr val="F6F9FA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83608" y="1883664"/>
            <a:ext cx="3203448" cy="53035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700" b="1">
                <a:solidFill>
                  <a:srgbClr val="0D5F86"/>
                </a:solidFill>
                <a:latin typeface="Aptos"/>
              </a:rPr>
              <a:t>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3608" y="2468879"/>
            <a:ext cx="3203448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0">
                <a:solidFill>
                  <a:srgbClr val="5B6B75"/>
                </a:solidFill>
                <a:latin typeface="Aptos"/>
              </a:rPr>
              <a:t>maata vuosihavainnoilla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07680" y="1719072"/>
            <a:ext cx="3532632" cy="1371600"/>
          </a:xfrm>
          <a:prstGeom prst="roundRect">
            <a:avLst>
              <a:gd name="adj" fmla="val 8000"/>
            </a:avLst>
          </a:prstGeom>
          <a:solidFill>
            <a:srgbClr val="F6F9FA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72272" y="1883664"/>
            <a:ext cx="3203448" cy="53035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700" b="1">
                <a:solidFill>
                  <a:srgbClr val="F4B942"/>
                </a:solidFill>
                <a:latin typeface="Aptos"/>
              </a:rPr>
              <a:t>26,0–46,32 mrd USD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72272" y="2468879"/>
            <a:ext cx="3203448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0">
                <a:solidFill>
                  <a:srgbClr val="5B6B75"/>
                </a:solidFill>
                <a:latin typeface="Aptos"/>
              </a:rPr>
              <a:t>kaupallinen globaali 2025 haarukka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" y="3529584"/>
            <a:ext cx="10927080" cy="7863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500" b="1">
                <a:solidFill>
                  <a:srgbClr val="071A2B"/>
                </a:solidFill>
                <a:latin typeface="Aptos"/>
              </a:rPr>
              <a:t>Saksa: nestemallin luottamustaso on matala ja vaihteluväli 667,92 milj. EUR–1 654,62 milj. EUR; sitä ei saa esittää havaittuna myyntinä.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4535424"/>
            <a:ext cx="10927080" cy="1143000"/>
          </a:xfrm>
          <a:prstGeom prst="roundRect">
            <a:avLst>
              <a:gd name="adj" fmla="val 8000"/>
            </a:avLst>
          </a:prstGeom>
          <a:solidFill>
            <a:srgbClr val="EAF3F6"/>
          </a:solidFill>
          <a:ln>
            <a:solidFill>
              <a:srgbClr val="EAF3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" y="4681728"/>
            <a:ext cx="10597896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700" b="1">
                <a:solidFill>
                  <a:srgbClr val="071A2B"/>
                </a:solidFill>
                <a:latin typeface="Aptos"/>
              </a:rPr>
              <a:t>Tulkinta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5038344"/>
            <a:ext cx="10597896" cy="521207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500" b="0">
                <a:solidFill>
                  <a:srgbClr val="182935"/>
                </a:solidFill>
                <a:latin typeface="Aptos"/>
              </a:rPr>
              <a:t>Hyväksyttyjä virallisia kansallisia consumer-retail-arvoja on 0. Atlas ei julkaise omaa maailmanestimaattia ennen metodisten porttien täyttymistä.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347472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1">
                <a:solidFill>
                  <a:srgbClr val="00A4A6"/>
                </a:solidFill>
                <a:latin typeface="Aptos"/>
              </a:rPr>
              <a:t>7 · ASIAKKAAT JA OSTOPERUSTE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09960" cy="5486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3400" b="1">
                <a:solidFill>
                  <a:srgbClr val="071A2B"/>
                </a:solidFill>
                <a:latin typeface="Aptos"/>
              </a:rPr>
              <a:t>Asiakkuus on vielä validoitava kolmessa eri päätöksentekologiikassa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25296"/>
            <a:ext cx="960120" cy="50292"/>
          </a:xfrm>
          <a:prstGeom prst="rect">
            <a:avLst/>
          </a:prstGeom>
          <a:solidFill>
            <a:srgbClr val="00A4A6"/>
          </a:solidFill>
          <a:ln>
            <a:solidFill>
              <a:srgbClr val="00A4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47472" y="6519672"/>
            <a:ext cx="11494008" cy="13716"/>
          </a:xfrm>
          <a:prstGeom prst="rect">
            <a:avLst/>
          </a:prstGeom>
          <a:solidFill>
            <a:srgbClr val="CBD8DE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84048" y="6556248"/>
            <a:ext cx="10835640" cy="17373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50" b="0">
                <a:solidFill>
                  <a:srgbClr val="5B6B75"/>
                </a:solidFill>
                <a:latin typeface="Aptos"/>
              </a:rPr>
              <a:t>Julkinen riippumaton evidenssikooste · 2026.07.23-12 · 2026-07-22 · Lähteet: WIPO licensing; WIPO IP Finance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84280" y="6537960"/>
            <a:ext cx="41148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900" b="0">
                <a:solidFill>
                  <a:srgbClr val="5B6B75"/>
                </a:solidFill>
                <a:latin typeface="Aptos"/>
              </a:rPr>
              <a:t>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554480"/>
            <a:ext cx="6766560" cy="10241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300" b="1">
                <a:solidFill>
                  <a:srgbClr val="0D5F86"/>
                </a:solidFill>
                <a:latin typeface="Aptos"/>
              </a:rPr>
              <a:t>Mahdolliset segmentit ovat valmistajat, teknologiatoimittajat sekä IP-rahoittajat tai ostajat.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85216" y="2816352"/>
            <a:ext cx="6629400" cy="3081527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lnSpc>
                <a:spcPct val="105000"/>
              </a:lnSpc>
              <a:spcAft>
                <a:spcPts val="1200"/>
              </a:spcAft>
              <a:defRPr sz="1650">
                <a:solidFill>
                  <a:srgbClr val="182935"/>
                </a:solidFill>
                <a:latin typeface="Aptos"/>
              </a:defRPr>
            </a:pPr>
            <a:r>
              <a:t>•  Valmistaja ostaa toimintarauhaa, oikeusvarmuutta tai teknologiaa — jos relevantti tuote ja alue osoitetaan.</a:t>
            </a:r>
          </a:p>
          <a:p>
            <a:pPr>
              <a:lnSpc>
                <a:spcPct val="105000"/>
              </a:lnSpc>
              <a:spcAft>
                <a:spcPts val="1200"/>
              </a:spcAft>
              <a:defRPr sz="1650">
                <a:solidFill>
                  <a:srgbClr val="182935"/>
                </a:solidFill>
                <a:latin typeface="Aptos"/>
              </a:defRPr>
            </a:pPr>
            <a:r>
              <a:t>•  Teknologiatoimittaja arvioi integroitavuutta, vapautta toimia ja yksikkötaloutta.</a:t>
            </a:r>
          </a:p>
          <a:p>
            <a:pPr>
              <a:lnSpc>
                <a:spcPct val="105000"/>
              </a:lnSpc>
              <a:spcAft>
                <a:spcPts val="1200"/>
              </a:spcAft>
              <a:defRPr sz="1650">
                <a:solidFill>
                  <a:srgbClr val="182935"/>
                </a:solidFill>
                <a:latin typeface="Aptos"/>
              </a:defRPr>
            </a:pPr>
            <a:r>
              <a:t>•  Rahoittaja arvioi omistusta, realisoitavaa kassavirtaa, kontrollia ja downside-arvoa.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26679" y="1554480"/>
            <a:ext cx="3886200" cy="4343400"/>
          </a:xfrm>
          <a:prstGeom prst="roundRect">
            <a:avLst>
              <a:gd name="adj" fmla="val 8000"/>
            </a:avLst>
          </a:prstGeom>
          <a:solidFill>
            <a:srgbClr val="E3F6F3"/>
          </a:solidFill>
          <a:ln>
            <a:solidFill>
              <a:srgbClr val="E3F6F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891271" y="1700784"/>
            <a:ext cx="3557016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700" b="1">
                <a:solidFill>
                  <a:srgbClr val="071A2B"/>
                </a:solidFill>
                <a:latin typeface="Aptos"/>
              </a:rPr>
              <a:t>Nykyinen näyttö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91271" y="2057400"/>
            <a:ext cx="3557016" cy="37216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500" b="0">
                <a:solidFill>
                  <a:srgbClr val="182935"/>
                </a:solidFill>
                <a:latin typeface="Aptos"/>
              </a:rPr>
              <a:t>Julkinen aineisto ei vahvista nimettyjä asiakkaita, piloteja, ostoaikomuksia tai allekirjoitettuja lisenssejä.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347472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1">
                <a:solidFill>
                  <a:srgbClr val="00A4A6"/>
                </a:solidFill>
                <a:latin typeface="Aptos"/>
              </a:rPr>
              <a:t>8 · KILPAILU JA VAIHTOEHDOT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09960" cy="5486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3400" b="1">
                <a:solidFill>
                  <a:srgbClr val="071A2B"/>
                </a:solidFill>
                <a:latin typeface="Aptos"/>
              </a:rPr>
              <a:t>Kilpailu on erotettava vaihtoehtoisista teknologioista ja patenttiriskistä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25296"/>
            <a:ext cx="960120" cy="50292"/>
          </a:xfrm>
          <a:prstGeom prst="rect">
            <a:avLst/>
          </a:prstGeom>
          <a:solidFill>
            <a:srgbClr val="00A4A6"/>
          </a:solidFill>
          <a:ln>
            <a:solidFill>
              <a:srgbClr val="00A4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47472" y="6519672"/>
            <a:ext cx="11494008" cy="13716"/>
          </a:xfrm>
          <a:prstGeom prst="rect">
            <a:avLst/>
          </a:prstGeom>
          <a:solidFill>
            <a:srgbClr val="CBD8DE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84048" y="6556248"/>
            <a:ext cx="10835640" cy="17373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50" b="0">
                <a:solidFill>
                  <a:srgbClr val="5B6B75"/>
                </a:solidFill>
                <a:latin typeface="Aptos"/>
              </a:rPr>
              <a:t>Julkinen riippumaton evidenssikooste · 2026.07.23-12 · 2026-07-22 · Lähteet: Evidence Register; EPO; WIPO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84280" y="6537960"/>
            <a:ext cx="41148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900" b="0">
                <a:solidFill>
                  <a:srgbClr val="5B6B75"/>
                </a:solidFill>
                <a:latin typeface="Aptos"/>
              </a:rPr>
              <a:t>8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30352" y="1536192"/>
          <a:ext cx="11109958" cy="39776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04455"/>
                <a:gridCol w="6040366"/>
                <a:gridCol w="2265137"/>
              </a:tblGrid>
              <a:tr h="438912">
                <a:tc>
                  <a:txBody>
                    <a:bodyPr/>
                    <a:lstStyle/>
                    <a:p>
                      <a:pPr>
                        <a:defRPr sz="132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Vertailutaso</a:t>
                      </a:r>
                    </a:p>
                  </a:txBody>
                  <a:tcPr marL="73152" marR="73152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2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Kysymys</a:t>
                      </a:r>
                    </a:p>
                  </a:txBody>
                  <a:tcPr marL="73152" marR="73152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2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Nykytila</a:t>
                      </a:r>
                    </a:p>
                  </a:txBody>
                  <a:tcPr marL="73152" marR="73152">
                    <a:solidFill>
                      <a:srgbClr val="071A2B"/>
                    </a:solidFill>
                  </a:tcPr>
                </a:tc>
              </a:tr>
              <a:tr h="884681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Tuoteratkaisut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Ratkaiseeko tuote saman ongelman eri tavalla?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Puuttuu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884681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Patenttiperheet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Onko suojan päällekkäisyys tai FTO-riski?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Puuttuu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884681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Kaupalliset vaihtoehdot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Lisenssi, luovutus, sovinto vai oma käyttö?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Oletus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884681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Ei-patentoidut vaihtoehdot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Voiko suorituskyvyn saavuttaa kiertämällä vaatimukset?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Puuttuu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03504" y="5660136"/>
            <a:ext cx="10881360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700" b="1">
                <a:solidFill>
                  <a:srgbClr val="0D5F86"/>
                </a:solidFill>
                <a:latin typeface="Aptos"/>
              </a:rPr>
              <a:t>Kilpailija-analyysi on pankin teknologia-arvioinnin olennainen avoin työpaketti.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347472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1">
                <a:solidFill>
                  <a:srgbClr val="00A4A6"/>
                </a:solidFill>
                <a:latin typeface="Aptos"/>
              </a:rPr>
              <a:t>9 · VALIDOINTI JA NYKYINEN NÄYTTÖ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09960" cy="5486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3400" b="1">
                <a:solidFill>
                  <a:srgbClr val="071A2B"/>
                </a:solidFill>
                <a:latin typeface="Aptos"/>
              </a:rPr>
              <a:t>Validoinnin vahvuus on epätasainen ja siksi näkyvästi luokiteltu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25296"/>
            <a:ext cx="960120" cy="50292"/>
          </a:xfrm>
          <a:prstGeom prst="rect">
            <a:avLst/>
          </a:prstGeom>
          <a:solidFill>
            <a:srgbClr val="00A4A6"/>
          </a:solidFill>
          <a:ln>
            <a:solidFill>
              <a:srgbClr val="00A4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47472" y="6519672"/>
            <a:ext cx="11494008" cy="13716"/>
          </a:xfrm>
          <a:prstGeom prst="rect">
            <a:avLst/>
          </a:prstGeom>
          <a:solidFill>
            <a:srgbClr val="CBD8DE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84048" y="6556248"/>
            <a:ext cx="10835640" cy="17373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50" b="0">
                <a:solidFill>
                  <a:srgbClr val="5B6B75"/>
                </a:solidFill>
                <a:latin typeface="Aptos"/>
              </a:rPr>
              <a:t>Julkinen riippumaton evidenssikooste · 2026.07.23-12 · 2026-07-22 · Lähteet: Evidence Register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84280" y="6537960"/>
            <a:ext cx="41148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900" b="0">
                <a:solidFill>
                  <a:srgbClr val="5B6B75"/>
                </a:solidFill>
                <a:latin typeface="Aptos"/>
              </a:rPr>
              <a:t>9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30352" y="1536192"/>
          <a:ext cx="11109958" cy="397763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21992"/>
                <a:gridCol w="1599834"/>
                <a:gridCol w="3377427"/>
                <a:gridCol w="3910705"/>
              </a:tblGrid>
              <a:tr h="438912">
                <a:tc>
                  <a:txBody>
                    <a:bodyPr/>
                    <a:lstStyle/>
                    <a:p>
                      <a:pPr>
                        <a:defRPr sz="132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Väitealue</a:t>
                      </a:r>
                    </a:p>
                  </a:txBody>
                  <a:tcPr marL="73152" marR="73152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2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Luokitus</a:t>
                      </a:r>
                    </a:p>
                  </a:txBody>
                  <a:tcPr marL="73152" marR="73152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2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Mitä on</a:t>
                      </a:r>
                    </a:p>
                  </a:txBody>
                  <a:tcPr marL="73152" marR="73152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2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Mitä puuttuu</a:t>
                      </a:r>
                    </a:p>
                  </a:txBody>
                  <a:tcPr marL="73152" marR="73152">
                    <a:solidFill>
                      <a:srgbClr val="071A2B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Patenttiydin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Vahvistettu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EPO-rekisteri ja B2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Maakohtainen statusmatriisi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Saksan prosessit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Vahvistettu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Kaksi virallista ratkaisua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Lopullisuus, täytäntöönpano, kassa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Markkinahavainnot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Vahvistettu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5 maan viralliset luvut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Yhteismitallinen retail-arvo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Tekninen testaus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Puuttuu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Patenttiselitys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Riippumaton testi ja raakadata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Kaupallinen näyttö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Puuttuu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Kaupallistamiskehys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Asiakkaat, sopimukset, maksut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03504" y="5660136"/>
            <a:ext cx="10881360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700" b="1">
                <a:solidFill>
                  <a:srgbClr val="0D5F86"/>
                </a:solidFill>
                <a:latin typeface="Aptos"/>
              </a:rPr>
              <a:t>Todistettu oikeusnäyttö ei korvaa teknistä, kaupallista tai taloudellista validointia.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347472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1">
                <a:solidFill>
                  <a:srgbClr val="00A4A6"/>
                </a:solidFill>
                <a:latin typeface="Aptos"/>
              </a:rPr>
              <a:t>10 · KAUPALLISTAMISMALLI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09960" cy="5486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3400" b="1">
                <a:solidFill>
                  <a:srgbClr val="071A2B"/>
                </a:solidFill>
                <a:latin typeface="Aptos"/>
              </a:rPr>
              <a:t>Kaupallistaminen etenee porttien kautta, ei massaväitteillä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25296"/>
            <a:ext cx="960120" cy="50292"/>
          </a:xfrm>
          <a:prstGeom prst="rect">
            <a:avLst/>
          </a:prstGeom>
          <a:solidFill>
            <a:srgbClr val="00A4A6"/>
          </a:solidFill>
          <a:ln>
            <a:solidFill>
              <a:srgbClr val="00A4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47472" y="6519672"/>
            <a:ext cx="11494008" cy="13716"/>
          </a:xfrm>
          <a:prstGeom prst="rect">
            <a:avLst/>
          </a:prstGeom>
          <a:solidFill>
            <a:srgbClr val="CBD8DE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84048" y="6556248"/>
            <a:ext cx="10835640" cy="17373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50" b="0">
                <a:solidFill>
                  <a:srgbClr val="5B6B75"/>
                </a:solidFill>
                <a:latin typeface="Aptos"/>
              </a:rPr>
              <a:t>Julkinen riippumaton evidenssikooste · 2026.07.23-12 · 2026-07-22 · Lähteet: WIPO licensing; dispute resolution; IPscore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84280" y="6537960"/>
            <a:ext cx="41148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900" b="0">
                <a:solidFill>
                  <a:srgbClr val="5B6B75"/>
                </a:solidFill>
                <a:latin typeface="Aptos"/>
              </a:rPr>
              <a:t>10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627632"/>
            <a:ext cx="566928" cy="566928"/>
          </a:xfrm>
          <a:prstGeom prst="roundRect">
            <a:avLst>
              <a:gd name="adj" fmla="val 8000"/>
            </a:avLst>
          </a:prstGeom>
          <a:solidFill>
            <a:srgbClr val="00A4A6"/>
          </a:solidFill>
          <a:ln>
            <a:solidFill>
              <a:srgbClr val="00A4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700784"/>
            <a:ext cx="566928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900" b="1">
                <a:solidFill>
                  <a:srgbClr val="FFFFFF"/>
                </a:solidFill>
                <a:latin typeface="Aptos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1328" y="1609344"/>
            <a:ext cx="2743200" cy="31089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800" b="1">
                <a:solidFill>
                  <a:srgbClr val="071A2B"/>
                </a:solidFill>
                <a:latin typeface="Aptos"/>
              </a:rPr>
              <a:t>Oikeusmatriisi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0" y="1609344"/>
            <a:ext cx="7086600" cy="9601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600" b="0">
                <a:solidFill>
                  <a:srgbClr val="182935"/>
                </a:solidFill>
                <a:latin typeface="Aptos"/>
              </a:rPr>
              <a:t>Vahvista maa, haltija, maksu, rasite, operative claims ja määräpäivät.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58368" y="2706624"/>
            <a:ext cx="566928" cy="566928"/>
          </a:xfrm>
          <a:prstGeom prst="roundRect">
            <a:avLst>
              <a:gd name="adj" fmla="val 8000"/>
            </a:avLst>
          </a:prstGeom>
          <a:solidFill>
            <a:srgbClr val="00A4A6"/>
          </a:solidFill>
          <a:ln>
            <a:solidFill>
              <a:srgbClr val="00A4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2779776"/>
            <a:ext cx="566928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900" b="1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81328" y="2688336"/>
            <a:ext cx="2743200" cy="31089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800" b="1">
                <a:solidFill>
                  <a:srgbClr val="071A2B"/>
                </a:solidFill>
                <a:latin typeface="Aptos"/>
              </a:rPr>
              <a:t>Tuotedossier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14800" y="2688336"/>
            <a:ext cx="7086600" cy="9601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600" b="0">
                <a:solidFill>
                  <a:srgbClr val="182935"/>
                </a:solidFill>
                <a:latin typeface="Aptos"/>
              </a:rPr>
              <a:t>Hanki näyte, dokumentoi ketju ja tee asiamiehen tarkastama claim chart.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58368" y="3785615"/>
            <a:ext cx="566928" cy="566928"/>
          </a:xfrm>
          <a:prstGeom prst="roundRect">
            <a:avLst>
              <a:gd name="adj" fmla="val 8000"/>
            </a:avLst>
          </a:prstGeom>
          <a:solidFill>
            <a:srgbClr val="00A4A6"/>
          </a:solidFill>
          <a:ln>
            <a:solidFill>
              <a:srgbClr val="00A4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" y="3858768"/>
            <a:ext cx="566928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900" b="1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81328" y="3767328"/>
            <a:ext cx="2743200" cy="31089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800" b="1">
                <a:solidFill>
                  <a:srgbClr val="071A2B"/>
                </a:solidFill>
                <a:latin typeface="Aptos"/>
              </a:rPr>
              <a:t>Kohdepisteytys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14800" y="3767328"/>
            <a:ext cx="7086600" cy="9601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600" b="0">
                <a:solidFill>
                  <a:srgbClr val="182935"/>
                </a:solidFill>
                <a:latin typeface="Aptos"/>
              </a:rPr>
              <a:t>Arvioi oikeus, näyttö, myynti, vastapuoli, kustannus ja täytäntöönpano.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58368" y="4864608"/>
            <a:ext cx="566928" cy="566928"/>
          </a:xfrm>
          <a:prstGeom prst="roundRect">
            <a:avLst>
              <a:gd name="adj" fmla="val 8000"/>
            </a:avLst>
          </a:prstGeom>
          <a:solidFill>
            <a:srgbClr val="0D5F86"/>
          </a:solidFill>
          <a:ln>
            <a:solidFill>
              <a:srgbClr val="0D5F8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8368" y="4937760"/>
            <a:ext cx="566928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900" b="1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81328" y="4846320"/>
            <a:ext cx="2743200" cy="31089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800" b="1">
                <a:solidFill>
                  <a:srgbClr val="071A2B"/>
                </a:solidFill>
                <a:latin typeface="Aptos"/>
              </a:rPr>
              <a:t>Rajattu pilotti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114800" y="4846320"/>
            <a:ext cx="7086600" cy="9601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600" b="0">
                <a:solidFill>
                  <a:srgbClr val="182935"/>
                </a:solidFill>
                <a:latin typeface="Aptos"/>
              </a:rPr>
              <a:t>Testaa lisenssi-, sovinto-, luovutus- tai rahoitusreitti auditoitavin ehdoin.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8368" y="5888736"/>
            <a:ext cx="10652760" cy="40233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600" b="1">
                <a:solidFill>
                  <a:srgbClr val="0D5F86"/>
                </a:solidFill>
                <a:latin typeface="Aptos"/>
              </a:rPr>
              <a:t>Vasta toteutunut sopimus tai saaminen luo kassavirtanäyttöä.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347472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1">
                <a:solidFill>
                  <a:srgbClr val="00A4A6"/>
                </a:solidFill>
                <a:latin typeface="Aptos"/>
              </a:rPr>
              <a:t>11 · TALOUDELLINEN MALLI JA HERKKYYDET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09960" cy="5486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3400" b="1">
                <a:solidFill>
                  <a:srgbClr val="071A2B"/>
                </a:solidFill>
                <a:latin typeface="Aptos"/>
              </a:rPr>
              <a:t>Taloudellinen malli on rakennettava lähteistä, ei markkinaosuusoletuksesta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25296"/>
            <a:ext cx="960120" cy="50292"/>
          </a:xfrm>
          <a:prstGeom prst="rect">
            <a:avLst/>
          </a:prstGeom>
          <a:solidFill>
            <a:srgbClr val="00A4A6"/>
          </a:solidFill>
          <a:ln>
            <a:solidFill>
              <a:srgbClr val="00A4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47472" y="6519672"/>
            <a:ext cx="11494008" cy="13716"/>
          </a:xfrm>
          <a:prstGeom prst="rect">
            <a:avLst/>
          </a:prstGeom>
          <a:solidFill>
            <a:srgbClr val="CBD8DE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84048" y="6556248"/>
            <a:ext cx="10835640" cy="17373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50" b="0">
                <a:solidFill>
                  <a:srgbClr val="5B6B75"/>
                </a:solidFill>
                <a:latin typeface="Aptos"/>
              </a:rPr>
              <a:t>Julkinen riippumaton evidenssikooste · 2026.07.23-12 · 2026-07-22 · Lähteet: WIPO IP valuation; Market-values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84280" y="6537960"/>
            <a:ext cx="41148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900" b="0">
                <a:solidFill>
                  <a:srgbClr val="5B6B75"/>
                </a:solidFill>
                <a:latin typeface="Aptos"/>
              </a:rPr>
              <a:t>11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30352" y="1536192"/>
          <a:ext cx="11109959" cy="397763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77490"/>
                <a:gridCol w="6332677"/>
                <a:gridCol w="1999792"/>
              </a:tblGrid>
              <a:tr h="438912">
                <a:tc>
                  <a:txBody>
                    <a:bodyPr/>
                    <a:lstStyle/>
                    <a:p>
                      <a:pPr>
                        <a:defRPr sz="132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Silta</a:t>
                      </a:r>
                    </a:p>
                  </a:txBody>
                  <a:tcPr marL="73152" marR="73152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2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Todennettava syöte</a:t>
                      </a:r>
                    </a:p>
                  </a:txBody>
                  <a:tcPr marL="73152" marR="73152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2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Nykytila</a:t>
                      </a:r>
                    </a:p>
                  </a:txBody>
                  <a:tcPr marL="73152" marR="73152">
                    <a:solidFill>
                      <a:srgbClr val="071A2B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Kokonaismarkkina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Yhteismitallinen maakohtainen myynti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0 retail-luovuttajaa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Kohdistettava myynti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Voimassaolo × tuote × aika × maa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Puuttuu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Rojaltipohja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Claim-mapped net sales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Puuttuu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Kassavirta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Sopimusehdot, kulut, verot, viive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Puuttuu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Vakuusarvo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Downside-realisointi ja kontrolli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Puuttuu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03504" y="5660136"/>
            <a:ext cx="10881360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700" b="1">
                <a:solidFill>
                  <a:srgbClr val="0D5F86"/>
                </a:solidFill>
                <a:latin typeface="Aptos"/>
              </a:rPr>
              <a:t>Näytä downside/base/upside vasta, kun jokainen sillan syöte on dokumentoitu.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A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502920"/>
            <a:ext cx="274320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00A4A6"/>
                </a:solidFill>
                <a:latin typeface="Aptos"/>
              </a:rPr>
              <a:t>PÄÄTÖSKEHYS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005840"/>
            <a:ext cx="10881360" cy="9144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3900" b="1">
                <a:solidFill>
                  <a:srgbClr val="FFFFFF"/>
                </a:solidFill>
                <a:latin typeface="Aptos"/>
              </a:rPr>
              <a:t>Rahoituspäätös vasta neljän kriittisen aukon sulkeuduttua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2286000"/>
            <a:ext cx="10012680" cy="32461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lnSpc>
                <a:spcPct val="105000"/>
              </a:lnSpc>
              <a:spcAft>
                <a:spcPts val="1200"/>
              </a:spcAft>
              <a:defRPr sz="1900">
                <a:solidFill>
                  <a:srgbClr val="FFFFFF"/>
                </a:solidFill>
                <a:latin typeface="Aptos"/>
              </a:defRPr>
            </a:pPr>
            <a:r>
              <a:t>•  1. Asiamiehen allekirjoittama omistus-, rasite-, maksu- ja oikeusmatriisi.</a:t>
            </a:r>
          </a:p>
          <a:p>
            <a:pPr>
              <a:lnSpc>
                <a:spcPct val="105000"/>
              </a:lnSpc>
              <a:spcAft>
                <a:spcPts val="1200"/>
              </a:spcAft>
              <a:defRPr sz="1900">
                <a:solidFill>
                  <a:srgbClr val="FFFFFF"/>
                </a:solidFill>
                <a:latin typeface="Aptos"/>
              </a:defRPr>
            </a:pPr>
            <a:r>
              <a:t>•  2. Priorisoitujen tuotteiden claim chartit ja dokumentoitu relevantti myynti.</a:t>
            </a:r>
          </a:p>
          <a:p>
            <a:pPr>
              <a:lnSpc>
                <a:spcPct val="105000"/>
              </a:lnSpc>
              <a:spcAft>
                <a:spcPts val="1200"/>
              </a:spcAft>
              <a:defRPr sz="1900">
                <a:solidFill>
                  <a:srgbClr val="FFFFFF"/>
                </a:solidFill>
                <a:latin typeface="Aptos"/>
              </a:defRPr>
            </a:pPr>
            <a:r>
              <a:t>•  3. Toteutuneet tai sopimuspohjaiset kassavirrat sekä auditoidut taloustiedot.</a:t>
            </a:r>
          </a:p>
          <a:p>
            <a:pPr>
              <a:lnSpc>
                <a:spcPct val="105000"/>
              </a:lnSpc>
              <a:spcAft>
                <a:spcPts val="1200"/>
              </a:spcAft>
              <a:defRPr sz="1900">
                <a:solidFill>
                  <a:srgbClr val="FFFFFF"/>
                </a:solidFill>
                <a:latin typeface="Aptos"/>
              </a:defRPr>
            </a:pPr>
            <a:r>
              <a:t>•  4. Riippumaton arvonmääritys ja downside-vakuusanalyysi.</a:t>
            </a:r>
          </a:p>
          <a:p>
            <a:pPr>
              <a:lnSpc>
                <a:spcPct val="105000"/>
              </a:lnSpc>
              <a:spcAft>
                <a:spcPts val="1200"/>
              </a:spcAft>
              <a:defRPr sz="1900">
                <a:solidFill>
                  <a:srgbClr val="FFFFFF"/>
                </a:solidFill>
                <a:latin typeface="Aptos"/>
              </a:defRPr>
            </a:pPr>
            <a:r>
              <a:t>•  Seuraava päätös: hyväksytäänkö 90 päivän kontrolloitu diligence-vaihe?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272784"/>
            <a:ext cx="102412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0">
                <a:solidFill>
                  <a:srgbClr val="9DB3C0"/>
                </a:solidFill>
                <a:latin typeface="Aptos"/>
              </a:rPr>
              <a:t>Versio 2026.07.23-12 · 2026-07-22 · 12 / 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5216" y="749808"/>
            <a:ext cx="7955279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00A4A6"/>
                </a:solidFill>
                <a:latin typeface="Aptos"/>
              </a:rPr>
              <a:t>12 · Riskit, hallintatoimet ja seuraavat vaiheet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Pixan · keskikokoinen julkinen pankkidekki</dc:title>
  <dc:subject>Julkinen pankki- ja rahoitusarvioinnin evidenssipaketti</dc:subject>
  <dc:creator>Pixan Global Market Evidence Atlas</dc:creator>
  <cp:keywords>Pixan, patentti, markkinaevidenssi, due diligence</cp:keywords>
  <dc:description>generated using python-pptx</dc:description>
  <cp:lastModifiedBy>Steve Canny</cp:lastModifiedBy>
  <cp:revision>1</cp:revision>
  <dcterms:created xsi:type="dcterms:W3CDTF">2026-07-22T00:00:00Z</dcterms:created>
  <dcterms:modified xsi:type="dcterms:W3CDTF">2026-07-22T00:00:00Z</dcterms:modified>
  <cp:category/>
</cp:coreProperties>
</file>