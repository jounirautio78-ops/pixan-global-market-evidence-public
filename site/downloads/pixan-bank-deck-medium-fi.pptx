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defe7bfda4586" /><Relationship Type="http://schemas.openxmlformats.org/officeDocument/2006/relationships/extended-properties" Target="/docProps/app.xml" Id="Rcfb3594a9fc14a0b" /><Relationship Type="http://schemas.openxmlformats.org/officeDocument/2006/relationships/officeDocument" Target="/ppt/presentation.xml" Id="Rd55b918fd41e41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8ad08e06bb43fb"/>
  </p:sldMasterIdLst>
  <p:notesMasterIdLst>
    <p:notesMasterId xmlns:r="http://schemas.openxmlformats.org/officeDocument/2006/relationships" r:id="Rb2746156e999404b"/>
  </p:notesMasterIdLst>
  <p:sldIdLst>
    <p:sldId xmlns:r="http://schemas.openxmlformats.org/officeDocument/2006/relationships" id="256" r:id="Rc4720e88250e48da"/>
    <p:sldId xmlns:r="http://schemas.openxmlformats.org/officeDocument/2006/relationships" id="257" r:id="Ra922a2f6e4904f00"/>
    <p:sldId xmlns:r="http://schemas.openxmlformats.org/officeDocument/2006/relationships" id="258" r:id="Re3dd3c25f4564ca3"/>
    <p:sldId xmlns:r="http://schemas.openxmlformats.org/officeDocument/2006/relationships" id="259" r:id="R2a36c549817f4f3c"/>
    <p:sldId xmlns:r="http://schemas.openxmlformats.org/officeDocument/2006/relationships" id="260" r:id="R9c57fa0dbc184704"/>
    <p:sldId xmlns:r="http://schemas.openxmlformats.org/officeDocument/2006/relationships" id="261" r:id="Ra8e12e8b22b84846"/>
    <p:sldId xmlns:r="http://schemas.openxmlformats.org/officeDocument/2006/relationships" id="262" r:id="R27e521a053d943ff"/>
    <p:sldId xmlns:r="http://schemas.openxmlformats.org/officeDocument/2006/relationships" id="263" r:id="Raf73e9f8490944a2"/>
    <p:sldId xmlns:r="http://schemas.openxmlformats.org/officeDocument/2006/relationships" id="264" r:id="R32ad4225d823460f"/>
    <p:sldId xmlns:r="http://schemas.openxmlformats.org/officeDocument/2006/relationships" id="265" r:id="R29cd04a6b43e4e62"/>
    <p:sldId xmlns:r="http://schemas.openxmlformats.org/officeDocument/2006/relationships" id="266" r:id="R4751266b8800403f"/>
    <p:sldId xmlns:r="http://schemas.openxmlformats.org/officeDocument/2006/relationships" id="267" r:id="R9fabe1ddb93643ef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867ab7c8b14084" /><Relationship Type="http://schemas.openxmlformats.org/officeDocument/2006/relationships/slideMaster" Target="/ppt/slideMasters/slideMaster1.xml" Id="R0b8ad08e06bb43fb" /><Relationship Type="http://schemas.openxmlformats.org/officeDocument/2006/relationships/notesMaster" Target="/ppt/notesMasters/notesMaster1.xml" Id="Rb2746156e999404b" /><Relationship Type="http://schemas.openxmlformats.org/officeDocument/2006/relationships/presProps" Target="/ppt/presProps.xml" Id="R8baf4e86bcbc4a83" /><Relationship Type="http://schemas.openxmlformats.org/officeDocument/2006/relationships/viewProps" Target="/ppt/viewProps.xml" Id="Ra8bf7ffbe407486a" /><Relationship Type="http://schemas.openxmlformats.org/officeDocument/2006/relationships/tableStyles" Target="/ppt/tableStyles.xml" Id="Ra00d5400e19140f4" /><Relationship Type="http://schemas.openxmlformats.org/officeDocument/2006/relationships/slide" Target="/ppt/slides/slide1.xml" Id="Rc4720e88250e48da" /><Relationship Type="http://schemas.openxmlformats.org/officeDocument/2006/relationships/slide" Target="/ppt/slides/slide2.xml" Id="Ra922a2f6e4904f00" /><Relationship Type="http://schemas.openxmlformats.org/officeDocument/2006/relationships/slide" Target="/ppt/slides/slide3.xml" Id="Re3dd3c25f4564ca3" /><Relationship Type="http://schemas.openxmlformats.org/officeDocument/2006/relationships/slide" Target="/ppt/slides/slide4.xml" Id="R2a36c549817f4f3c" /><Relationship Type="http://schemas.openxmlformats.org/officeDocument/2006/relationships/slide" Target="/ppt/slides/slide5.xml" Id="R9c57fa0dbc184704" /><Relationship Type="http://schemas.openxmlformats.org/officeDocument/2006/relationships/slide" Target="/ppt/slides/slide6.xml" Id="Ra8e12e8b22b84846" /><Relationship Type="http://schemas.openxmlformats.org/officeDocument/2006/relationships/slide" Target="/ppt/slides/slide7.xml" Id="R27e521a053d943ff" /><Relationship Type="http://schemas.openxmlformats.org/officeDocument/2006/relationships/slide" Target="/ppt/slides/slide8.xml" Id="Raf73e9f8490944a2" /><Relationship Type="http://schemas.openxmlformats.org/officeDocument/2006/relationships/slide" Target="/ppt/slides/slide9.xml" Id="R32ad4225d823460f" /><Relationship Type="http://schemas.openxmlformats.org/officeDocument/2006/relationships/slide" Target="/ppt/slides/slide10.xml" Id="R29cd04a6b43e4e62" /><Relationship Type="http://schemas.openxmlformats.org/officeDocument/2006/relationships/slide" Target="/ppt/slides/slide11.xml" Id="R4751266b8800403f" /><Relationship Type="http://schemas.openxmlformats.org/officeDocument/2006/relationships/slide" Target="/ppt/slides/slide12.xml" Id="R9fabe1ddb93643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b1b30f6e5047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9e302389d34be2" /><Relationship Type="http://schemas.openxmlformats.org/officeDocument/2006/relationships/notesMaster" Target="/ppt/notesMasters/notesMaster1.xml" Id="R43239f6332bb49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a62505fa9431b" /><Relationship Type="http://schemas.openxmlformats.org/officeDocument/2006/relationships/notesMaster" Target="/ppt/notesMasters/notesMaster1.xml" Id="R21436e38d03b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db6a5c6c404c56" /><Relationship Type="http://schemas.openxmlformats.org/officeDocument/2006/relationships/notesMaster" Target="/ppt/notesMasters/notesMaster1.xml" Id="R1c715fa53ad945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12243bdf54207" /><Relationship Type="http://schemas.openxmlformats.org/officeDocument/2006/relationships/notesMaster" Target="/ppt/notesMasters/notesMaster1.xml" Id="Red78af2300b04a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2429309eb44322" /><Relationship Type="http://schemas.openxmlformats.org/officeDocument/2006/relationships/notesMaster" Target="/ppt/notesMasters/notesMaster1.xml" Id="Rc02500c2f85640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3014481c7f4c5b" /><Relationship Type="http://schemas.openxmlformats.org/officeDocument/2006/relationships/notesMaster" Target="/ppt/notesMasters/notesMaster1.xml" Id="R0b98f40f14c242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6de85fbb684ebb" /><Relationship Type="http://schemas.openxmlformats.org/officeDocument/2006/relationships/notesMaster" Target="/ppt/notesMasters/notesMaster1.xml" Id="Re1822d583df74d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4492cfc22a4977" /><Relationship Type="http://schemas.openxmlformats.org/officeDocument/2006/relationships/notesMaster" Target="/ppt/notesMasters/notesMaster1.xml" Id="R84505e5f69ef4d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e795986c9d47ad" /><Relationship Type="http://schemas.openxmlformats.org/officeDocument/2006/relationships/notesMaster" Target="/ppt/notesMasters/notesMaster1.xml" Id="R306af837d24847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85a1c3fb51450c" /><Relationship Type="http://schemas.openxmlformats.org/officeDocument/2006/relationships/notesMaster" Target="/ppt/notesMasters/notesMaster1.xml" Id="Rbc549c40688f46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4251cb1e6549dc" /><Relationship Type="http://schemas.openxmlformats.org/officeDocument/2006/relationships/notesMaster" Target="/ppt/notesMasters/notesMaster1.xml" Id="Rfca35ef07faa46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47334ca97b4a88" /><Relationship Type="http://schemas.openxmlformats.org/officeDocument/2006/relationships/notesMaster" Target="/ppt/notesMasters/notesMaster1.xml" Id="Rc191083a561f4f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92c024e0947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af498122f4a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e768e701714e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ae21f21b840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4cb747a7a43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2f1392337413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3bbcbc8c443a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ac4e9ad6044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69dc14304445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ea4da057a40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0be03e5bd430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689E84-5036-4407-9AF6-7D3CA356CC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3F7E2B3-985B-405E-8806-EF5AB795A6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72A244-A17F-4276-98D9-259C21599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BAF9556-3A89-46A0-9AD0-8B5EE7E8F0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458718-4496-469D-8535-459614F843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7F0E79-FD9F-429E-A264-22AFC112B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57D0DD-D8C3-428F-BD3B-C172BCAF16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E52E2F-30C0-4540-B535-AD4069704B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1A645B4-2425-441E-AD95-5969254B1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90B14B-DC36-4182-9EEA-B047F91AC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19951F-5378-4A9E-BA04-EFE94E882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A6F41C-915B-4482-9EB9-3587905FB4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E79E92C-BA4C-49E7-9D07-8FC7C48BA64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67E155-BBE9-4F87-90CC-54276CBA48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62EEBE-0E72-4385-B89C-3FF911AEA8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350802-B729-49DB-98C7-40F918E6A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5A0DAFA-994D-4259-AA42-D3B23D5A37D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56E0175-3C67-4931-B6F3-2C11C88B55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A10199F-0D37-4F45-AE8F-E3F3841655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3F732CC-22EB-46CE-9C03-74A0CABD12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CB5A888-3A27-41A5-9B2A-CA230F23B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546FE2-82C9-46EC-9685-B79F13668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B6D358-8A73-4D17-AFC2-3B59E5CAD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D1474B-0DFF-49D8-B9DA-5A4CB08E7F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24EBF3-B7F6-454A-BBDC-368A32DF745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8F48996-FFE9-4F84-A312-FF61A8D297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D7AE254-3BFF-4ABC-ACFB-908B79FD57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33168AC-81E1-4E06-A5B7-761C17F5A6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DDC2F81-5390-4DA1-93B0-9DBB3B59D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6FE3FE-A44C-4B30-81E2-80E11A9B69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32DD679-2B7D-4FED-9CA7-265819B5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59BF307-372D-46D6-9C03-4CD4C0C1E9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C19F408-3827-4CD4-B86A-53863ED097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4DD6890-294C-426E-843A-51D63AF8E7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349743E-C524-4CCE-8AB0-3B1826ADC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FD7ECC6-2C6C-48E5-BD35-15034E712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DDEEDE-2000-41CC-B4C7-BC9FEA28BA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A4FFD-E61B-4841-84B2-723BE1D156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3445DE-1297-4D99-BFB9-B25DB07F03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FD2D9D-E012-4B4B-8C4C-2F21AB0F22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5C3C34C-A4F3-4B10-B00F-ACB93FCAA1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D51C05-B6EC-40A8-BBD3-3F7F1FB6FA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042971-9020-4EB9-B0D3-4ED672A977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F98E5F7-4B98-47A8-9CD0-4D180076F09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96736D-122E-4CB9-AF20-1C4D0A21F7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DBD040-7444-4E30-ACD5-F0A8F59B36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6187241-083E-45E0-AEFE-F40CCD7C7A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EAA597-9EB4-4CC1-9C36-353046B6A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156FBF7-5384-4B16-A5F5-2CB5ACC747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B0ABAF-A9CE-4DBE-A7BD-82DF1ED967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6CC3C96-7175-4A55-A25C-31F72FC8A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B638A9-D837-441C-8DF7-BA478202F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1D2313-A96D-4CA8-BEF0-FCD9498D5F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52C473C-E4A3-4E61-B260-92D9208097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6C7255-609F-4415-9E96-0AA8A224FE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4F6CEF-CA2D-40F0-9AE6-AD52E9C2F6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4E97E7-3634-46ED-A54F-2E9CA2E642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F77FFA8-674F-4F9F-A188-5313CF7287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4025ecb0534dfa" /><Relationship Type="http://schemas.openxmlformats.org/officeDocument/2006/relationships/slideLayout" Target="/ppt/slideLayouts/slideLayout1.xml" Id="R291ddebb3bed49f3" /><Relationship Type="http://schemas.openxmlformats.org/officeDocument/2006/relationships/slideLayout" Target="/ppt/slideLayouts/slideLayout2.xml" Id="R4c9d395716ef4c5c" /><Relationship Type="http://schemas.openxmlformats.org/officeDocument/2006/relationships/slideLayout" Target="/ppt/slideLayouts/slideLayout3.xml" Id="Re8ad8a72c9a34e70" /><Relationship Type="http://schemas.openxmlformats.org/officeDocument/2006/relationships/slideLayout" Target="/ppt/slideLayouts/slideLayout4.xml" Id="R9ec4fecbc77545b3" /><Relationship Type="http://schemas.openxmlformats.org/officeDocument/2006/relationships/slideLayout" Target="/ppt/slideLayouts/slideLayout5.xml" Id="R86e2f14e5bb04172" /><Relationship Type="http://schemas.openxmlformats.org/officeDocument/2006/relationships/slideLayout" Target="/ppt/slideLayouts/slideLayout6.xml" Id="R9eeb2937c93c41d7" /><Relationship Type="http://schemas.openxmlformats.org/officeDocument/2006/relationships/slideLayout" Target="/ppt/slideLayouts/slideLayout7.xml" Id="R0c306871ddff4a6f" /><Relationship Type="http://schemas.openxmlformats.org/officeDocument/2006/relationships/slideLayout" Target="/ppt/slideLayouts/slideLayout8.xml" Id="R5562f513a9844664" /><Relationship Type="http://schemas.openxmlformats.org/officeDocument/2006/relationships/slideLayout" Target="/ppt/slideLayouts/slideLayout9.xml" Id="Rf38867b578c9435a" /><Relationship Type="http://schemas.openxmlformats.org/officeDocument/2006/relationships/slideLayout" Target="/ppt/slideLayouts/slideLayout10.xml" Id="Rddad1026b6eb4078" /><Relationship Type="http://schemas.openxmlformats.org/officeDocument/2006/relationships/slideLayout" Target="/ppt/slideLayouts/slideLayout11.xml" Id="R070085cf34804a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384342-6234-415C-B619-E34C6CE6D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C759CA-182A-49B0-9674-824B8BA61D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A748D8C-2F3A-49B4-BEE8-130A361E1D2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C86139-6CF0-4AF1-9C71-C6A96F22DED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49E3C2-540F-4754-B644-C3D70A7FE04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1ddebb3bed49f3"/>
    <p:sldLayoutId xmlns:r="http://schemas.openxmlformats.org/officeDocument/2006/relationships" id="2147483650" r:id="R4c9d395716ef4c5c"/>
    <p:sldLayoutId xmlns:r="http://schemas.openxmlformats.org/officeDocument/2006/relationships" id="2147483651" r:id="Re8ad8a72c9a34e70"/>
    <p:sldLayoutId xmlns:r="http://schemas.openxmlformats.org/officeDocument/2006/relationships" id="2147483652" r:id="R9ec4fecbc77545b3"/>
    <p:sldLayoutId xmlns:r="http://schemas.openxmlformats.org/officeDocument/2006/relationships" id="2147483653" r:id="R86e2f14e5bb04172"/>
    <p:sldLayoutId xmlns:r="http://schemas.openxmlformats.org/officeDocument/2006/relationships" id="2147483654" r:id="R9eeb2937c93c41d7"/>
    <p:sldLayoutId xmlns:r="http://schemas.openxmlformats.org/officeDocument/2006/relationships" id="2147483655" r:id="R0c306871ddff4a6f"/>
    <p:sldLayoutId xmlns:r="http://schemas.openxmlformats.org/officeDocument/2006/relationships" id="2147483656" r:id="R5562f513a9844664"/>
    <p:sldLayoutId xmlns:r="http://schemas.openxmlformats.org/officeDocument/2006/relationships" id="2147483657" r:id="Rf38867b578c9435a"/>
    <p:sldLayoutId xmlns:r="http://schemas.openxmlformats.org/officeDocument/2006/relationships" id="2147483658" r:id="Rddad1026b6eb4078"/>
    <p:sldLayoutId xmlns:r="http://schemas.openxmlformats.org/officeDocument/2006/relationships" id="2147483659" r:id="R070085cf34804a6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2c527003ef4644" /><Relationship Type="http://schemas.openxmlformats.org/officeDocument/2006/relationships/notesSlide" Target="/ppt/notesSlides/notesSlide1.xml" Id="R65408e9a0d8941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72f0dbf1024e08" /><Relationship Type="http://schemas.openxmlformats.org/officeDocument/2006/relationships/notesSlide" Target="/ppt/notesSlides/notesSlide2.xml" Id="Re1eb50a8632c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dc78ff3a654c70" /><Relationship Type="http://schemas.openxmlformats.org/officeDocument/2006/relationships/notesSlide" Target="/ppt/notesSlides/notesSlide3.xml" Id="R60fc7769aece49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3c42fcf9a64782" /><Relationship Type="http://schemas.openxmlformats.org/officeDocument/2006/relationships/notesSlide" Target="/ppt/notesSlides/notesSlide4.xml" Id="Rd4eaa0396b2847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0b66e2327343d2" /><Relationship Type="http://schemas.openxmlformats.org/officeDocument/2006/relationships/notesSlide" Target="/ppt/notesSlides/notesSlide5.xml" Id="R462aeb220bd847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2921d710724dec" /><Relationship Type="http://schemas.openxmlformats.org/officeDocument/2006/relationships/notesSlide" Target="/ppt/notesSlides/notesSlide6.xml" Id="Rf9aefe16ff1f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40411febb74128" /><Relationship Type="http://schemas.openxmlformats.org/officeDocument/2006/relationships/notesSlide" Target="/ppt/notesSlides/notesSlide7.xml" Id="Rcfc864d48dfb4a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300bb5f0974073" /><Relationship Type="http://schemas.openxmlformats.org/officeDocument/2006/relationships/notesSlide" Target="/ppt/notesSlides/notesSlide8.xml" Id="Rfad925eb5d7447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33dab26d2b4d3a" /><Relationship Type="http://schemas.openxmlformats.org/officeDocument/2006/relationships/notesSlide" Target="/ppt/notesSlides/notesSlide9.xml" Id="R341d041872aa43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fbf74af30248c7" /><Relationship Type="http://schemas.openxmlformats.org/officeDocument/2006/relationships/notesSlide" Target="/ppt/notesSlides/notesSlide10.xml" Id="Rbeca7dee534643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3988ffea314a7e" /><Relationship Type="http://schemas.openxmlformats.org/officeDocument/2006/relationships/notesSlide" Target="/ppt/notesSlides/notesSlide11.xml" Id="Rcd21bf1eeded49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c81d062f6e4a07" /><Relationship Type="http://schemas.openxmlformats.org/officeDocument/2006/relationships/notesSlide" Target="/ppt/notesSlides/notesSlide12.xml" Id="R813edf3ca4d84c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E79EF10-3A32-4428-9E51-BEC93AD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D8C067B-3BB5-4550-9B69-3B5ABDB4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JULKINEN EVIDENSSIPAKETTI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29351B3-9F72-444E-9F5B-F5709D0B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Patentista pankkikelpoiseksi
todistelupaketiksi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C4A383F-0153-4A30-BB37-A637676C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12 dian rahoitus- ja teknologia-arvio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EC7CF2-7AC7-43F6-BE0F-0433A5ED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A97B801-9A45-4C39-B9B0-AA7F9F2F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Aineiston tila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3F5127-39EA-4EBE-B3EC-13A3DE2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2026.07.24-20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F9F4DB6-A9FA-488B-B7D1-E7454C16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Päivitetty 2026-07-24
12 diaa · suomeksi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6D5C030-EE4A-45C0-A310-F9E3AB37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Lähtökohta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2E00FB2-1A0A-48AB-9588-D76AFDE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Vahvistettu näyttö erotetaan tuetusta tiedosta, oletuksista ja puuttuvasta näytöstä.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0F93232-E3A0-4603-A473-103058E5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Ei Pixan Oy:n virallinen kanta · ei arvo-, sijoitus-, laina- tai oikeudellinen lausunto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6A214FA-1B54-4EC0-A1FB-00447B41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 · Rahoitusteesi</a:t>
            </a:r>
          </a:p>
        </p:txBody>
      </p:sp>
    </p:spTree>
    <p:extLst>
      <p:ext uri="{BB962C8B-B14F-4D97-AF65-F5344CB8AC3E}">
        <p14:creationId xmlns:p14="http://schemas.microsoft.com/office/powerpoint/2010/main" val="14715763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7B9DDC1-0BF3-406C-A09D-D31491A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 · ONGELMA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5EE53D8-BEEA-453B-B5D7-08DBD1E1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Ongelma on evidenssissä ja teknologiassa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76A6C41-2C27-406C-A864-AFB47457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E86DFD-F4BA-440C-B79E-AE4B93FB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E17D64-4FBD-4305-B8E9-C665E00D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Atlas readiness;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C25A16E-D6A7-43C5-9F77-468C6F30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A6602E9-BB91-40E8-A4C7-1926C141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Laaja markkinapuhe ei muutu pankkikelpoiseksi vakuudeksi ilman maakohtaista oikeus-, tuote-, myynti- ja kassavirtaketjua.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B2AEA9-55A2-455D-BB92-9B6AE530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Markkinamittarit ovat hajanaisia: toimitukset, verot, litrat ja kaupalliset arviot eivät ole sama asia.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Perhejulkaisu ei todista nykyistä voimassaoloa tai rasitteettomuutta.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Oikeustuomio ei yksin todista maksettua korvausta tai globaalia rojaltipohjaa.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6E76E7D-18CD-4900-8735-513F06E8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56DA9A-084B-4DB2-867C-03AE0432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Pankin ydinkysymys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071810-FB40-4163-9B18-F35332D3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Mikä todennettu omaisuus ja kassavirta kattaa lainan myös downside-tapauksessa?</a:t>
            </a:r>
          </a:p>
        </p:txBody>
      </p:sp>
    </p:spTree>
    <p:extLst>
      <p:ext uri="{BB962C8B-B14F-4D97-AF65-F5344CB8AC3E}">
        <p14:creationId xmlns:p14="http://schemas.microsoft.com/office/powerpoint/2010/main" val="3000233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0207B3B-66B5-4123-83C9-FA4ECA82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 · PATENTOITU RATKAISU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AD5E98-A393-4C9D-9EAB-2951181F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Ratkaisu ohjaa tehoa resistanssin perusteella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59AE26F-83AD-468B-AD70-FCFE77B9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466E78-ED42-402E-B181-FC341E74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F965CF3-AFCC-4BA6-8C85-9BC19EE8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9D269AC-EF04-47E1-8EC6-1999561E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90938EB-C1F2-4388-AF13-0BF190D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Julkaistu patenttiselitys koskee sähkökäyttöisen höyrystimen ohjausta mittaamalla lämmityselementin resistanssi, valitsemalla sitä vastaava teho tallennetusta tiedosta ja ohjaamalla lämmittimelle syötettävää tehoa määritellyissä käyttäjäsäädön rajoissa.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213578C-A846-47A5-A178-FDC98F6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Ohjaus perustuu tallennettuihin resistanssi–tehoarvoihin.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Tehosuhde kuvataan ei-suoraan-verrannolliseksi.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Käyttäjäsäätö tapahtuu nollasta poikkeavan minimin ja tallennetun maksimin välillä.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2255E42-A660-491B-B8EB-C78D7E8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9E8F8C4-C1E0-4D2F-9178-4E03CE6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Rajaus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24F3CE6-630F-48E4-88F3-130B1956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Tämä on julkaistun patenttiselityksen yleiskielinen tiivistelmä. Vain kyseisen maan operative claims ja tuotekohtainen claim chart ratkaisevat.</a:t>
            </a:r>
          </a:p>
        </p:txBody>
      </p:sp>
    </p:spTree>
    <p:extLst>
      <p:ext uri="{BB962C8B-B14F-4D97-AF65-F5344CB8AC3E}">
        <p14:creationId xmlns:p14="http://schemas.microsoft.com/office/powerpoint/2010/main" val="7290677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F8BBDD1-8EB0-4BF8-9474-C3FDC956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4 · PATENTTI JA IP-STATUS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59E63C-E163-42D6-B928-A6272C11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IP-ydin on dokumentoitu; maapeitto avoin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355ECE6-D789-4957-BD97-02D7552A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0C32EC8-EF79-48B1-A230-B362339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284EC9E-6562-43DA-9C49-B6E57A6A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EPO Register;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EEAA0B-A39F-4ADC-ACE5-F7E9D60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2988FCC-3CE2-4F8F-B8EC-13509213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0C3384-B0C2-439E-90A7-82F490C8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434E04E-BBBC-40C2-BA82-23E4A195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varhaisin prioriteettivuosi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780F182-C134-4B04-914B-B2FE91F1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9875A32-F092-4779-9053-2C800512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5C0C3C0-B63F-46CF-BE50-90629661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B2-vaatimusta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D7F2B36B-9455-4385-8958-34232B72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731B153-5B41-408A-9A19-5FAA73CB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B7930A0-5BB5-4292-BCF3-7038F31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perhejulkaisutietuetta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37E77D4-185C-4E3A-B654-7EEEAFC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EPO-rekisteri: patentti pysytetty muutettuna väitemenettelyn jälkeen; B2-patenttijulkaisu julkaistu. B2 julkaistiin 24.4.2024.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6F7C618-BDB0-487B-AB45-A2442D16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EAD413-77C7-4D3D-8F5E-62DB3E5E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3646AAD-E83B-4B01-B6F7-31345CDF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212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Julkisen rekisterin kirjattu haltija: Pixan Oy. Koko perheen nykyistä kansallista voimassaoloa, maksuja ja rasitteita ei ole vielä varmennettu.</a:t>
            </a:r>
          </a:p>
        </p:txBody>
      </p:sp>
    </p:spTree>
    <p:extLst>
      <p:ext uri="{BB962C8B-B14F-4D97-AF65-F5344CB8AC3E}">
        <p14:creationId xmlns:p14="http://schemas.microsoft.com/office/powerpoint/2010/main" val="676069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A127DC-CCC6-4B89-B3FA-BA36A26B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 · TEKNINEN EROTTAUTUMINEN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C0DA67-B9E2-4886-BABA-274CFCA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Tekninen ero on patenttivaatimuksissa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ED60616-AE7C-4C9E-96E9-D8D9328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C7AE156-3B82-48BE-9AB3-5E37CD6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E29089-2F22-4B44-B51E-4EF1FB4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22D3E35-27C9-4B61-976C-93C17B33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96A108-8757-4F8F-884B-CB996D83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Rahoitusarvioinnin tulee jäljittää jokainen olennainen vaatimuspiirre tuotteeseen ja maahan.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BE39970-A158-42CC-9751-2114F0E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Patenttiselitys antaa teknisen hypoteesin ja dokumentoidun suojatekstin.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Saksa: ratkaisu tukee tiettyjen tuotteiden ja vaatimusten 1 ja 6 kytkentää.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Riippumattomat testit, teardown-dossierit ja muiden maiden claim chartit puuttuvat julkisesta aineistosta.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4577280-8984-4D5E-9FA5-7296C761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D0C68EC-57B7-486A-9189-2CFCCC47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Todistusketju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4A4FFE-92A2-4569-AAA2-1B54F027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Näyte → hallussapitoketju → teardown → mittausdata → claim chart → asiamiehen tarkastus → relevantti myynti.</a:t>
            </a:r>
          </a:p>
        </p:txBody>
      </p:sp>
    </p:spTree>
    <p:extLst>
      <p:ext uri="{BB962C8B-B14F-4D97-AF65-F5344CB8AC3E}">
        <p14:creationId xmlns:p14="http://schemas.microsoft.com/office/powerpoint/2010/main" val="12448616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6BE753B-751D-4796-A47C-6A4FAC4C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6 · MARKKINAN KOKO JA RAJAUS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C0CF9A3-850F-43A8-A75B-5BE78C12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Markkinakoko on haarukka — ei yksi luku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4E6AC59-CCF3-44C0-A42D-D9F5111E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C3205D3-3253-40D8-93B5-F133347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0B084F5-C865-4E99-A37F-BDAB8B44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Statistics Canada; Market-values; FTC;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7C5EF8-035D-419F-A8AA-3FCEF54A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FBD2B8-5380-49AA-A8AA-0A37B26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5528538-7D5A-43C6-AE6E-32B8BA6C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544AE9C-6FB3-4155-84F9-4EA42F4E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virallista vuosihavaintoa 7 maasta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62A7B42-0718-40AD-9984-5FF4E0AE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CD1922B-E52B-495E-93B5-5958900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533,7–731,2 milj. NZD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C2246C-71EB-434D-9640-FE2D4E35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≈298,5–408,9 milj. EUR · ECB 2024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9C4D120-2932-4BC1-BA88-48EFB11D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85FA31-15B9-4703-907C-EE8ED65B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4,99 mrd EUR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F704D4-36A6-4E08-857F-F737ECA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2023: komission julkaisema vertailuarvo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82AEBE0-0882-4F28-9E7B-7F5F7E82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5/5 ehdokasta jäi D1–D10-portin ulkopuolelle; hyväksytty donor-portti on 0/3.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AB1CD4B-A194-47BE-AA3B-0EEBB590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790649-E834-46C3-BCA1-52BF27CC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Tulkinta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9F9FD77-1D5D-4440-8240-FE5EAAF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Kanada 2024: retail 1,219 mrd CAD (≈822,6 milj. EUR; ECB 2024); toimitukset 1,161 mrd CAD (≈783,2 milj. EUR; ECB 2024); kaikki retail-neljännekset E-laatua ja silta avoin. FTC 2021 2,763 mrd USD (≈2,336 mrd EUR; ECB 2021) on valmistajaraportointia. Reittejä ei summata.</a:t>
            </a:r>
          </a:p>
        </p:txBody>
      </p:sp>
    </p:spTree>
    <p:extLst>
      <p:ext uri="{BB962C8B-B14F-4D97-AF65-F5344CB8AC3E}">
        <p14:creationId xmlns:p14="http://schemas.microsoft.com/office/powerpoint/2010/main" val="4119530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207E836B-7E03-4265-B9EE-3B78F78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7 · ASIAKKAAT JA OSTOPERUSTE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CB84D4B-5841-4A37-819B-27287D6C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Asiakkuus vaatii kolmen ostajaryhmän validoinnin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88B3126-0687-4BB0-B36C-1BF6B786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F38139-5520-4AA3-9A87-54EA8B34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D3B5A9-FECE-476C-8BD7-D3DCA176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WIPO licensing; WIPO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3A23544-2DB8-4D09-96E9-90ACDA3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6DF1FDD-B6A8-4034-903A-EC16CE23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Mahdolliset segmentit ovat valmistajat, teknologiatoimittajat sekä IP-rahoittajat tai ostajat.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183BED-A404-45A9-B3C6-2F3F282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Valmistaja ostaa toimintarauhaa, oikeusvarmuutta tai teknologiaa — jos relevantti tuote ja alue osoitetaan.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Teknologiatoimittaja arvioi integroitavuutta, vapautta toimia ja yksikkötaloutta.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Rahoittaja arvioi omistusta, realisoitavaa kassavirtaa, kontrollia ja downside-arvoa.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93D8357-9891-406A-AD04-F5FE73D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3EF8C8-9DFD-4501-9302-0D4572E3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Nykyinen näyttö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72812C-EA03-44BA-BE72-4EDEC6DE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Julkinen aineisto ei vahvista nimettyjä asiakkaita, piloteja, ostoaikomuksia tai allekirjoitettuja lisenssejä.</a:t>
            </a:r>
          </a:p>
        </p:txBody>
      </p:sp>
    </p:spTree>
    <p:extLst>
      <p:ext uri="{BB962C8B-B14F-4D97-AF65-F5344CB8AC3E}">
        <p14:creationId xmlns:p14="http://schemas.microsoft.com/office/powerpoint/2010/main" val="521294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4359227-7F88-44AB-9191-D52892AD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8 · KILPAILU JA VAIHTOEHDOT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7E0ECB-5698-42F5-B7C9-B92F7646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Kilpailu on erotettava vaihtoehtoisista teknologioista ja patenttiriskistä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B3AE76A-B1B6-4EC2-A56C-765C18DE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9D1902A-2CF6-4ED0-88AF-01BF0017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970AE88-D496-4AC8-B079-B7626A6D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Evidence Register; EPO;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19C9254-687E-446B-9C76-54409344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55"/>
                <a:gridCol w="6040366"/>
                <a:gridCol w="226513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Vertailutaso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Kysymys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Nykytila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Tuoteratkaisut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Ratkaiseeko tuote saman ongelman eri tavalla?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Patenttiperheet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Onko suojan päällekkäisyys tai FTO-riski?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Kaupalliset vaihtoehdot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Lisenssi, luovutus, sovinto vai oma käyttö?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Oletus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Ei-patentoidut vaihtoehdot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Voiko suorituskyvyn saavuttaa kiertämällä vaatimukset?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83615A1-53FE-45B9-9D76-68CE718D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Kilpailija-analyysi on pankin teknologia-arvioinnin olennainen avoin työpaketti.</a:t>
            </a:r>
          </a:p>
        </p:txBody>
      </p:sp>
    </p:spTree>
    <p:extLst>
      <p:ext uri="{BB962C8B-B14F-4D97-AF65-F5344CB8AC3E}">
        <p14:creationId xmlns:p14="http://schemas.microsoft.com/office/powerpoint/2010/main" val="16636482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F35D10F-3156-4BBD-B7E9-18CFDB5F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9 · VALIDOINTI JA NYKYINEN NÄYTTÖ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CDB67F-EA6F-4B0B-967F-BF51BF8E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Validoinnin vahvuus on epätasainen ja siksi näkyvästi luokiteltu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0636AA9-136A-4FA9-BE87-C06786BB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9830B18-6EDF-4F50-B1EB-526B0CF7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1706E1-0885-458F-BA19-645A7FF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F8F9EF5-60AD-476B-8AB6-D596EF7D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1599834"/>
                <a:gridCol w="3377427"/>
                <a:gridCol w="3910705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Väitealue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Luokitus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Mitä 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Mitä puuttuu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Patenttiydin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EPO-rekisteri ja B2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Maakohtainen statusmatriisi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Saksan prosessit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Kaksi virallista ratkaisua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Lopullisuus, täytäntöönpano, kassa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Markkinahavainnot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Vahvistettu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7 maan viralliset reitit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Yhteismitallinen retail-arvo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Tekninen testaus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Patenttiselitys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Riippumaton testi ja raakadata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Kaupallinen näyttö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Kaupallistamiskehys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Asiakkaat, sopimukset, maksut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51A14A-8061-4F91-9B48-E2D54B0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Todistettu oikeusnäyttö ei korvaa teknistä, kaupallista tai taloudellista validointia.</a:t>
            </a:r>
          </a:p>
        </p:txBody>
      </p:sp>
    </p:spTree>
    <p:extLst>
      <p:ext uri="{BB962C8B-B14F-4D97-AF65-F5344CB8AC3E}">
        <p14:creationId xmlns:p14="http://schemas.microsoft.com/office/powerpoint/2010/main" val="208697400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A104782-C470-48BF-9A79-7AB56D47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10 · KAUPALLISTAMISMALLI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7BB011E-71D6-41FD-8745-0C3A7EC0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591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Kaupallistaminen etenee näyttöporttien kautta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F170D33-D7F8-4591-9612-53AC613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250A08-A9F8-4576-B8A5-F72FA9CF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41A276-C6EC-4870-AA36-514C837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WIPO licensing; dispute resolution;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6B744E-7C64-45E4-9BC1-7F22B154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F90E1E07-9E05-4A94-A05B-836FC6BF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40BA9B-CD68-42B7-B359-115EDF36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A03461-6541-47AA-9CD6-4DF96F12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Oikeusmatriisi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081D82B-2A97-44DB-8C25-9D6D58EF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Vahvista maa, haltija, maksu, rasite, operative claims ja määräpäivät.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C5A2EB2-3BAE-417D-8CFB-7874DC2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19F1579-6F1E-4BE9-A569-19D030B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CE07C7D-F2D8-495A-928C-680FCCD9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Tuotedossier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F279A80-DCE8-483C-9909-C2846D9D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Hanki näyte, dokumentoi ketju ja tee asiamiehen tarkastama claim chart.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2228F51-22CF-47F9-BCEF-35F3E983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7FC902E-44D6-4970-8BE2-89431CBF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5507FC2-76CF-4C62-A0F1-76903820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Kohdepisteytys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F6AA1FF-ED09-426C-B86A-A86AE05D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Arvioi oikeus, näyttö, myynti, vastapuoli, kustannus ja täytäntöönpano.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B1C309F-B6A9-4593-81B5-F28D27DB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39D2A2-804F-4BDB-B348-E4E2A995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534F423-7792-4537-9F01-933D5228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Rajattu pilotti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22B1ADC-D18F-4165-BE67-BA5C7856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Testaa lisenssi-, sovinto-, luovutus- tai rahoitusreitti auditoitavin ehdoin.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4714266-CC1C-4FF9-9417-40FCEA52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Vasta toteutunut sopimus tai saaminen luo kassavirtanäyttöä.</a:t>
            </a:r>
          </a:p>
        </p:txBody>
      </p:sp>
    </p:spTree>
    <p:extLst>
      <p:ext uri="{BB962C8B-B14F-4D97-AF65-F5344CB8AC3E}">
        <p14:creationId xmlns:p14="http://schemas.microsoft.com/office/powerpoint/2010/main" val="12053130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B6F0249-95C0-42FB-B724-5D75B39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11 · TALOUDELLINEN MALLI JA HERKKYYDET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C2655B9-4FD5-40D4-96E5-014C3FD1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Taloudellinen malli on rakennettava lähteistä, ei markkinaosuusoletuksesta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6F35BA-9A58-4424-91F8-C7F759A7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290752-CEA7-4B5E-867B-93082203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1B5EDA9-F873-40AA-83DF-2328419D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Julkinen riippumaton evidenssikooste · 2026.07.24-20 · 2026-07-24 · Lähteet: WIPO IP valuation; Market-values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C5FE7F-E2F4-4535-9618-5830DC3E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6332677"/>
                <a:gridCol w="19997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Silta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Todennettava syöte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Nykytila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Kokonaismarkkina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Yhteismitallinen maakohtainen myynti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0/3 retail-luovuttajaa; 5 ehdokasta jäi D1–D10-portin ulkopuolelle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Kohdistettava myynti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Voimassaolo × tuote × aika × maa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Rojaltipohja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Kassavirta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Sopimusehdot, kulut, verot, viive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Vakuusarvo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Downside-realisointi ja kontrolli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Puuttuu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918DA4-251F-4877-896A-D239CDAB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Näytä downside/base/upside vasta, kun jokainen sillan syöte on dokumentoitu.</a:t>
            </a:r>
          </a:p>
        </p:txBody>
      </p:sp>
    </p:spTree>
    <p:extLst>
      <p:ext uri="{BB962C8B-B14F-4D97-AF65-F5344CB8AC3E}">
        <p14:creationId xmlns:p14="http://schemas.microsoft.com/office/powerpoint/2010/main" val="7815437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31E2C39-C986-4657-89C8-196B391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PÄÄTÖSKEHYS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6F675B7-4C86-40DE-BF86-5DBF25F9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Rahoituspäätös vasta neljän kriittisen aukon sulkeuduttua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96EA88E-51B4-4E0A-9238-F5287E80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1. Asiamiehen allekirjoittama omistus-, rasite-, maksu- ja oikeusmatriisi.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2. Priorisoitujen tuotteiden claim chartit ja dokumentoitu relevantti myynti.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3. Toteutuneet tai sopimuspohjaiset kassavirrat sekä auditoidut taloustiedot.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4. Riippumaton arvonmääritys ja downside-vakuusanalyysi.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Seuraava päätös: hyväksytäänkö 90 päivän kontrolloitu diligence-vaihe?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FC7C349-0612-48B3-ADEC-0F08CCD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 2026.07.24-20 · 2026-07-24 · 12 / 12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8B4680-D33A-47F0-B345-F06B76F3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749808"/>
            <a:ext cx="7955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12 · Riskit, hallintatoimet ja seuraavat vaiheet</a:t>
            </a:r>
          </a:p>
        </p:txBody>
      </p:sp>
    </p:spTree>
    <p:extLst>
      <p:ext uri="{BB962C8B-B14F-4D97-AF65-F5344CB8AC3E}">
        <p14:creationId xmlns:p14="http://schemas.microsoft.com/office/powerpoint/2010/main" val="19358034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2026-07-24T13:33:33.2860000Z</dcterms:created>
  <dcterms:modified xsi:type="dcterms:W3CDTF">2026-07-24T13:33:33.2860000Z</dcterms:modified>
</coreProperties>
</file>