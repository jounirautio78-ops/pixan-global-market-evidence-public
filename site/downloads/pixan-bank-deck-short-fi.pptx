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9daeb391d854179" /><Relationship Type="http://schemas.openxmlformats.org/officeDocument/2006/relationships/extended-properties" Target="/docProps/app.xml" Id="Rbd08bf34cbfc4820" /><Relationship Type="http://schemas.openxmlformats.org/officeDocument/2006/relationships/officeDocument" Target="/ppt/presentation.xml" Id="R48938eb7783347b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d985b8016d14698"/>
  </p:sldMasterIdLst>
  <p:notesMasterIdLst>
    <p:notesMasterId xmlns:r="http://schemas.openxmlformats.org/officeDocument/2006/relationships" r:id="Rd86ddc6546774a19"/>
  </p:notesMasterIdLst>
  <p:sldIdLst>
    <p:sldId xmlns:r="http://schemas.openxmlformats.org/officeDocument/2006/relationships" id="256" r:id="R626bddc7f3c14c30"/>
    <p:sldId xmlns:r="http://schemas.openxmlformats.org/officeDocument/2006/relationships" id="257" r:id="R776a086479b442eb"/>
    <p:sldId xmlns:r="http://schemas.openxmlformats.org/officeDocument/2006/relationships" id="258" r:id="Raef92adc140a4847"/>
    <p:sldId xmlns:r="http://schemas.openxmlformats.org/officeDocument/2006/relationships" id="259" r:id="R82b09a4efcf740d9"/>
    <p:sldId xmlns:r="http://schemas.openxmlformats.org/officeDocument/2006/relationships" id="260" r:id="Rd718a3da1dad452f"/>
    <p:sldId xmlns:r="http://schemas.openxmlformats.org/officeDocument/2006/relationships" id="261" r:id="Ra7e1cface16a4704"/>
  </p:sldIdLst>
  <p:sldSz cx="12191999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423f67727584454" /><Relationship Type="http://schemas.openxmlformats.org/officeDocument/2006/relationships/slideMaster" Target="/ppt/slideMasters/slideMaster1.xml" Id="R1d985b8016d14698" /><Relationship Type="http://schemas.openxmlformats.org/officeDocument/2006/relationships/notesMaster" Target="/ppt/notesMasters/notesMaster1.xml" Id="Rd86ddc6546774a19" /><Relationship Type="http://schemas.openxmlformats.org/officeDocument/2006/relationships/presProps" Target="/ppt/presProps.xml" Id="R34a9cc374a754258" /><Relationship Type="http://schemas.openxmlformats.org/officeDocument/2006/relationships/viewProps" Target="/ppt/viewProps.xml" Id="Rb3f39a7e61ef4fdf" /><Relationship Type="http://schemas.openxmlformats.org/officeDocument/2006/relationships/tableStyles" Target="/ppt/tableStyles.xml" Id="R532c72d208f64d8a" /><Relationship Type="http://schemas.openxmlformats.org/officeDocument/2006/relationships/slide" Target="/ppt/slides/slide1.xml" Id="R626bddc7f3c14c30" /><Relationship Type="http://schemas.openxmlformats.org/officeDocument/2006/relationships/slide" Target="/ppt/slides/slide2.xml" Id="R776a086479b442eb" /><Relationship Type="http://schemas.openxmlformats.org/officeDocument/2006/relationships/slide" Target="/ppt/slides/slide3.xml" Id="Raef92adc140a4847" /><Relationship Type="http://schemas.openxmlformats.org/officeDocument/2006/relationships/slide" Target="/ppt/slides/slide4.xml" Id="R82b09a4efcf740d9" /><Relationship Type="http://schemas.openxmlformats.org/officeDocument/2006/relationships/slide" Target="/ppt/slides/slide5.xml" Id="Rd718a3da1dad452f" /><Relationship Type="http://schemas.openxmlformats.org/officeDocument/2006/relationships/slide" Target="/ppt/slides/slide6.xml" Id="Ra7e1cface16a470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c8e0a61c3b74c8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3149db838d9467d" /><Relationship Type="http://schemas.openxmlformats.org/officeDocument/2006/relationships/notesMaster" Target="/ppt/notesMasters/notesMaster1.xml" Id="R72c1aea7a8a14b7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c70c6d738794bcc" /><Relationship Type="http://schemas.openxmlformats.org/officeDocument/2006/relationships/notesMaster" Target="/ppt/notesMasters/notesMaster1.xml" Id="R4dab8319a52a483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a51faf6b1f84cda" /><Relationship Type="http://schemas.openxmlformats.org/officeDocument/2006/relationships/notesMaster" Target="/ppt/notesMasters/notesMaster1.xml" Id="Rda01c26e85ea464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09119ab12234aa5" /><Relationship Type="http://schemas.openxmlformats.org/officeDocument/2006/relationships/notesMaster" Target="/ppt/notesMasters/notesMaster1.xml" Id="R4ed1c9c6cc444b0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8b4ac4bc3a343a6" /><Relationship Type="http://schemas.openxmlformats.org/officeDocument/2006/relationships/notesMaster" Target="/ppt/notesMasters/notesMaster1.xml" Id="Rd4240f62b4604bf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cd2d9df88984d11" /><Relationship Type="http://schemas.openxmlformats.org/officeDocument/2006/relationships/notesMaster" Target="/ppt/notesMasters/notesMaster1.xml" Id="R6951dcae8d2a4dc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ed02d8231074c9a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cc5177bdf634864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f6ed4ee731d42aa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c885d50502a4ef3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a5183c564a34c44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bd221d766624090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29788da779d4ad4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8d9d1d3528d42c9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4dd4e8365fd40e1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b38f79fb7e54a5c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74c91ce4b6042fd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39767D1-79CC-4BA4-896B-764799508B5B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9F880659-5BD1-41B6-92EF-57CFB4352014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937753A-0DEF-4075-94DD-5B50EA3BA9F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996FC5A-FE7E-4E08-9ED0-4B489FA4481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EB45428-F5CB-4F9F-8201-EDA4C2211B2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C35A392-1F99-4D1D-9500-F19710D5903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76D6E94-ED93-4475-A380-500FE75D2F2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34E9273-4325-48CF-A6C7-C911F009A51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9D91D71-1BA5-4B62-9CE8-F381AA420F1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1FE46EE-6A08-486E-B651-DB29F73EB2C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0A07A30-026E-451C-B608-99940B94D8D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080ED5FD-0E9D-40B8-B85C-9B9B2AEE53E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CA5DD92-FE18-4FBF-9AC4-6D9E9D149A9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BE49D63-0CBB-4387-B9E4-25846DA1327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6968B40-4A6D-4372-95D8-CDE9DB1979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05842BD-0223-4130-A6C7-B657C40E4DC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559B403-7A19-4CA3-97CF-67D09EB0C72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069BDF68-B22D-49CB-827A-69E045C7E57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7BDD9C25-65E1-47E8-B173-CB9DE73A94D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D4E4A4B5-17E9-4E6C-A7BD-236C5E4FA01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4E735FE-131B-4FAA-98AB-29F07F19F29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5ED7675-D251-46C1-8EE9-2127A841188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231801CC-BC84-4E38-8B51-C46D205DCE8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B24CF473-5471-4F50-83D2-E2544F056FFE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990212E0-096C-4349-9B1E-6E839D9324EF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6055E5FF-2CE4-4949-A4BA-E78692BCAC9F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AE22EF8E-976B-42C4-AFFB-C6BFD8F7ECB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873A1112-903B-45BB-8376-F5E2F0088C2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4F28CB07-7D89-45DF-B468-158A61568FA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34786E3-F3A5-4255-8303-B90D6F02628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E12AC0F2-3E37-4393-B911-A5C13A5EA65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BDF9E5E2-986B-4FFD-86FA-752C4704AAA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F98E4F66-81D6-4F36-A666-301258E8DE8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1A0B686E-E112-4104-8A66-5D38BA67261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92CF92EB-39B9-45B7-8167-21A307B4153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35218E4-BC4E-4E3F-9F34-F4A00073892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46A327A-58CF-4081-B41A-83D7B5FD009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3EC5C3F6-0622-434F-AA09-89D2B9C8448C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5F64C720-DF30-4447-8058-D8555B4BD04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3C16B53C-3A07-43A3-893D-7B2EC7604D8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625081E9-DA77-4B6D-85D5-B8774E46512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E3120D8-A82E-4138-B653-CCCE6F37F7C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103BD5C-B0B3-4AEC-88EA-14DB118E635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59FA46E3-4A06-4F43-9002-E64502F17A0F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3E1BF926-3769-4FCF-8096-1BCF8D107B3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7D2D6B48-33D8-49B2-B0B8-F458DFF773F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8C96BB21-DBD7-4314-990D-50A2A28D587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7E73DE4-842F-4C54-99DE-3429561A09C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50684F3-1D57-4370-954D-F5A66BE108B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A4823845-0CA4-4900-AB6C-8B5D97FC1BD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E3D04BE-4D86-4BB5-AD1C-BF39FC23810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6687F90-9BA8-4C44-857D-49C3FE6B75E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2A3CE3A-A11C-427B-B30A-B6BF82B667B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FF3EC075-18F5-43BE-A11D-6160B06620C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F3D9E64-4FA6-47D4-93F9-849208B01EE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53CF073-EE31-4332-8A06-96E1E9EE5B4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03564EC-AD59-42C2-95F7-E4A3C831A50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8FD8B06-C1B2-4AC2-AD55-2F07EEB8EA0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27d4c73223f4a5d" /><Relationship Type="http://schemas.openxmlformats.org/officeDocument/2006/relationships/slideLayout" Target="/ppt/slideLayouts/slideLayout1.xml" Id="R0bd2e2a8798b4626" /><Relationship Type="http://schemas.openxmlformats.org/officeDocument/2006/relationships/slideLayout" Target="/ppt/slideLayouts/slideLayout2.xml" Id="Rb8383a6823df4a9a" /><Relationship Type="http://schemas.openxmlformats.org/officeDocument/2006/relationships/slideLayout" Target="/ppt/slideLayouts/slideLayout3.xml" Id="Rca2a7a645fb745f6" /><Relationship Type="http://schemas.openxmlformats.org/officeDocument/2006/relationships/slideLayout" Target="/ppt/slideLayouts/slideLayout4.xml" Id="R41b0e0f8c0394d35" /><Relationship Type="http://schemas.openxmlformats.org/officeDocument/2006/relationships/slideLayout" Target="/ppt/slideLayouts/slideLayout5.xml" Id="Rddabc08044e8445d" /><Relationship Type="http://schemas.openxmlformats.org/officeDocument/2006/relationships/slideLayout" Target="/ppt/slideLayouts/slideLayout6.xml" Id="R4f99768d665641ea" /><Relationship Type="http://schemas.openxmlformats.org/officeDocument/2006/relationships/slideLayout" Target="/ppt/slideLayouts/slideLayout7.xml" Id="Rda16cfbc0740418a" /><Relationship Type="http://schemas.openxmlformats.org/officeDocument/2006/relationships/slideLayout" Target="/ppt/slideLayouts/slideLayout8.xml" Id="R2964d1ef63fc4f1b" /><Relationship Type="http://schemas.openxmlformats.org/officeDocument/2006/relationships/slideLayout" Target="/ppt/slideLayouts/slideLayout9.xml" Id="Rc283158694b84d8b" /><Relationship Type="http://schemas.openxmlformats.org/officeDocument/2006/relationships/slideLayout" Target="/ppt/slideLayouts/slideLayout10.xml" Id="Ra2325ef43c654b6e" /><Relationship Type="http://schemas.openxmlformats.org/officeDocument/2006/relationships/slideLayout" Target="/ppt/slideLayouts/slideLayout11.xml" Id="R1d88f9e596814b9f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3533A9B-26C2-494A-8DF0-CCCA471BCAC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48612B5B-6EAC-4D71-8B03-E3697FA6F33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2172275-7786-4918-98A6-5C9B346F6DE9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C5E0D39-72AA-41F1-A491-6877AFD37C0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A013D17-AD46-41AC-9D87-9BD27D0784D9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bd2e2a8798b4626"/>
    <p:sldLayoutId xmlns:r="http://schemas.openxmlformats.org/officeDocument/2006/relationships" id="2147483650" r:id="Rb8383a6823df4a9a"/>
    <p:sldLayoutId xmlns:r="http://schemas.openxmlformats.org/officeDocument/2006/relationships" id="2147483651" r:id="Rca2a7a645fb745f6"/>
    <p:sldLayoutId xmlns:r="http://schemas.openxmlformats.org/officeDocument/2006/relationships" id="2147483652" r:id="R41b0e0f8c0394d35"/>
    <p:sldLayoutId xmlns:r="http://schemas.openxmlformats.org/officeDocument/2006/relationships" id="2147483653" r:id="Rddabc08044e8445d"/>
    <p:sldLayoutId xmlns:r="http://schemas.openxmlformats.org/officeDocument/2006/relationships" id="2147483654" r:id="R4f99768d665641ea"/>
    <p:sldLayoutId xmlns:r="http://schemas.openxmlformats.org/officeDocument/2006/relationships" id="2147483655" r:id="Rda16cfbc0740418a"/>
    <p:sldLayoutId xmlns:r="http://schemas.openxmlformats.org/officeDocument/2006/relationships" id="2147483656" r:id="R2964d1ef63fc4f1b"/>
    <p:sldLayoutId xmlns:r="http://schemas.openxmlformats.org/officeDocument/2006/relationships" id="2147483657" r:id="Rc283158694b84d8b"/>
    <p:sldLayoutId xmlns:r="http://schemas.openxmlformats.org/officeDocument/2006/relationships" id="2147483658" r:id="Ra2325ef43c654b6e"/>
    <p:sldLayoutId xmlns:r="http://schemas.openxmlformats.org/officeDocument/2006/relationships" id="2147483659" r:id="R1d88f9e596814b9f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3a5638cdea4470e" /><Relationship Type="http://schemas.openxmlformats.org/officeDocument/2006/relationships/notesSlide" Target="/ppt/notesSlides/notesSlide1.xml" Id="Re6d338cfe6a3496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5b748df2358405c" /><Relationship Type="http://schemas.openxmlformats.org/officeDocument/2006/relationships/notesSlide" Target="/ppt/notesSlides/notesSlide2.xml" Id="R69e38db7509147e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277a8dd5be44fbe" /><Relationship Type="http://schemas.openxmlformats.org/officeDocument/2006/relationships/notesSlide" Target="/ppt/notesSlides/notesSlide3.xml" Id="R5f812d6072a24f5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6dfcf1053bb4b83" /><Relationship Type="http://schemas.openxmlformats.org/officeDocument/2006/relationships/notesSlide" Target="/ppt/notesSlides/notesSlide4.xml" Id="Rfda70ce9182b427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1ca7dbc214b4c44" /><Relationship Type="http://schemas.openxmlformats.org/officeDocument/2006/relationships/notesSlide" Target="/ppt/notesSlides/notesSlide5.xml" Id="Rb7adad77353f462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030d41815244fb8" /><Relationship Type="http://schemas.openxmlformats.org/officeDocument/2006/relationships/notesSlide" Target="/ppt/notesSlides/notesSlide6.xml" Id="Re1fa9f03d2d5450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BAE52167-0725-4713-8CAB-44D8AF01D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66928"/>
            <a:ext cx="109728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0025CBE-D0BE-4585-B6EB-6D4D2DFB5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914400"/>
            <a:ext cx="67665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PIXAN · JULKINEN EVIDENSSIPAKETTI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EC25C17B-6C00-419E-92A1-F00EDE9B2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389888"/>
            <a:ext cx="736092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Patentista pankkikelpoiseksi
todistelupaketiksi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7A2487F-32CC-4419-A556-FE6CBF4AB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703320"/>
            <a:ext cx="70408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C6D8E2"/>
                </a:solidFill>
                <a:latin typeface="Aptos"/>
                <a:ea typeface="Aptos"/>
                <a:cs typeface="Aptos"/>
              </a:rPr>
              <a:t>Suppea päätöksenteon tiivistelmä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AB8A72E3-B37F-4967-8203-60DCB639D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0"/>
            <a:ext cx="3913632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A78F829-A841-4D80-9E91-6C136AB74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143000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Aineiston tila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CA986928-AF2E-4E89-9421-32364569C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700784"/>
            <a:ext cx="2880360" cy="515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9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2026.08.03-43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A8DD8439-05E8-4148-BBDF-DDD2C9CA6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359152"/>
            <a:ext cx="27889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Päivitetty 2026-08-03</a:t>
            </a:r>
            <a:b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</a:b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6 diaa · suomeksi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7A539B7E-4A18-43D1-9535-09611BA24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3822191"/>
            <a:ext cx="2743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B8DFE2"/>
                </a:solidFill>
                <a:latin typeface="Aptos"/>
                <a:ea typeface="Aptos"/>
                <a:cs typeface="Aptos"/>
              </a:rPr>
              <a:t>Lähtökohta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1C1EE5CA-FEE5-4E7B-B7A8-7BDD5A894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4251960"/>
            <a:ext cx="278892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Vahvistettu näyttö erotetaan tuetusta tiedosta, oletuksista ja puuttuvasta näytöstä.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FDE9C108-F00A-49C2-BE09-9EB5B5716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54496"/>
            <a:ext cx="70408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Ei Pixan Oy:n virallinen kanta · ei arvo-, sijoitus-, laina- tai oikeudellinen lausunto</a:t>
            </a:r>
          </a:p>
        </p:txBody>
      </p:sp>
    </p:spTree>
    <p:extLst>
      <p:ext uri="{BB962C8B-B14F-4D97-AF65-F5344CB8AC3E}">
        <p14:creationId xmlns:p14="http://schemas.microsoft.com/office/powerpoint/2010/main" val="542874425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3ECFC75-F6B0-4C71-8D50-DFAF133AD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RAHOITUSTEESI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EAC39A4-4048-4DF8-9B6F-5E96C3621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Rahoitusteesi perustuu näyttöön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42F81B3-713C-4845-A4C0-187635E99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6462D34-AE40-4947-9834-140A8F22B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E30C0A4-0B32-4B24-95F0-FDADD7985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2026.08.03-43 · 2026-08-03 · Lähteet: EPO; Saksa — viralliset tuomiot;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67BD5498-5CD8-4E2B-89CA-D7660734E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78C3253F-D5E9-4794-BFCA-61CA98949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Patentilla on dokumentoitu tekninen ydin ja merkittävää virallista oikeusnäyttöä, mutta vakuusarvo ei ole vielä todistettu.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7AAE6062-EF18-4A8E-AAC0-E7BFAE6CA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EPO-rekisteri: patentti pysytetty muutettuna väitemenettelyn jälkeen; B2-patenttijulkaisu julkaistu. EP3032975B2 sisältää 9 vaatimusta.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Saksa: kaksi virallista ratkaisua; lopullisuus- ja aluerajat säilyvät.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Rahoituskelpoisuus syntyy, kun oikeudet, claim chartit, kassavirta ja riippumaton arvonmääritys sidotaan yhteen.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E2346D9F-C908-4AB3-BD00-180A39962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0267A85B-B02A-4772-B973-E3A7BC443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Pankin lukutapa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512FAC07-FDB3-4B0E-A9E6-56CEA2877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Nykyinen aineisto tukee jatkodiligenceä. Se ei vielä yksin tue tiettyä lainamäärää, osakearvoa tai patentin vakuusarvoa.</a:t>
            </a:r>
          </a:p>
        </p:txBody>
      </p:sp>
    </p:spTree>
    <p:extLst>
      <p:ext uri="{BB962C8B-B14F-4D97-AF65-F5344CB8AC3E}">
        <p14:creationId xmlns:p14="http://schemas.microsoft.com/office/powerpoint/2010/main" val="2070673728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55D5FF2-9075-4E7F-81C2-B54804C43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PATENTTI JA IP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7E81F21-3D59-4BA2-804D-D4F2E23C3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Patenttihistoria antaa vahvan mutta rajatun ankkurin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D684827-B936-4BBA-9A7F-FFD664450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F926EA5-6ED0-4C8B-A067-EF46FBE89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E08E06A0-AB1A-4120-BA87-81DB936C4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2026.08.03-43 · 2026-08-03 · Lähteet: EPO Register; EP3032975B2;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9871F0BD-28D0-4ABE-A6A2-7D89D01F7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27294AB7-5772-4D09-A69F-2073E7178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76D5082-DAD2-47B1-ADC2-B2597A3A2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298748B8-2A84-4A93-B783-13772D13D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vaatimusta EP3032975B2:ssa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8D5534B0-60FC-448D-AD8D-E6B738D7C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CF06DF1C-BE2D-4B15-BC52-A67AEBDE0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ED524C43-F40A-49FC-9D49-95816CCC2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perhejulkaisutietuetta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34C8905B-81DE-47FC-B195-FA1FC5907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E2D682FD-ED15-4ACD-B6E1-FE0345080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6399BA5B-1829-4C8A-9E2A-8B2905D2C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virallista ratkaisua: Saksa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6B0E71AA-903A-4CE4-8E65-A35FE55AE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Todistettu oikeusnäyttö on arvokasta vain maakohtaisen voimassaolo- ja tuotekytkennän kanssa.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3CAE5392-78E1-48BF-AD09-C5850AC91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D9DD1ED0-6A97-4B48-88A1-B9303750D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FD73FA5E-347F-4777-B30A-319064893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Kirjattu haltija, prioriteetti ja EPO:n keskitetty lopputulos ovat vahvistettavissa. Koko perheen nykyinen kansallinen tila, rasitteet ja täytäntöönpano vaativat lisänäyttöä.</a:t>
            </a:r>
          </a:p>
        </p:txBody>
      </p:sp>
    </p:spTree>
    <p:extLst>
      <p:ext uri="{BB962C8B-B14F-4D97-AF65-F5344CB8AC3E}">
        <p14:creationId xmlns:p14="http://schemas.microsoft.com/office/powerpoint/2010/main" val="1772925028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A6BBAEC-A653-46DC-B22D-6B80ED6CA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MARKKINA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097D5ED-BDFA-4A42-B7E8-A7B82C649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Globaali markkina-arvo ei ole vielä tuettu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1A2C8F7-7C90-4A97-81C8-D4C3D1124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F8CFB0EE-CFA1-45BD-B589-5F2A1F7F0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1CFEDBA-55BA-421E-9294-A8CBBE35F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2026.08.03-43 · 2026-08-03 · Lähteet: World Bank; Statistics Canada; Health Canada; NZ Ministry of Health; Sejm; FHM; FTC; ADM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30E17460-D008-4C71-89ED-1FF17E419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9A611903-1D6C-4D77-916E-14FCA6804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7B65DDC1-B853-4E1C-A5E9-3697F26D8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195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417FE203-69A3-4D40-8B74-990912B26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713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578 WB-havaintoa · 116 markkinamittaria + 36 Ruotsin FHM-lukua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CA796A61-7DAE-4835-861F-275AD36D0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F18C709E-B2BE-4AD3-AA9A-BEB67F5E6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274,180 milj. NZD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49F24AC0-5CBF-4DF3-BD2E-009C18BE8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tunnistettu AIS/AVP-summa · ≈153,3 milj. EUR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BB369147-1DDD-4AED-BE3A-0DDB35F83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634B9F65-279C-44C7-9FC2-DD19248F2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4,99 mrd EUR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FE661942-9965-4210-8636-B3FFF9039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 2023: komission julkaisema vertailuarvo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5E8D442C-C959-45F2-BE22-B64365523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8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Kanada 7/10; NZ:n rajaproxyt eivät ole retail-arvoja. Saksan yksityinen DE-BLIND-audit läpäisi vuosien 2023 ja 2024 vuosirajat sekä yhteisrajan; arvot salassa. Euromonitor 1/6, EI PISTEYTETTY; laajempi paketti HOLD.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5C499F5D-CDBF-41AF-94CB-D787F485D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66486416-4F89-4C82-8CBE-1862EB552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92FB8661-E0FD-4172-BEE5-7B97EE721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7589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Menetelmäkontrolli 28 / 0 / 15 / 152. Kanada retail 1,219160 mrd CAD (≈822,6 milj. EUR; ECB 2024) ja toimitukset 1,160754 mrd CAD (≈783,2 milj. EUR; ECB 2024). Uusi-Seelanti 274,180 milj. NZD (≈153,3 milj. EUR; ECB 2024), 7/10; tullisuhteet eivät ole katteita. Donor 0/3.</a:t>
            </a:r>
          </a:p>
        </p:txBody>
      </p:sp>
    </p:spTree>
    <p:extLst>
      <p:ext uri="{BB962C8B-B14F-4D97-AF65-F5344CB8AC3E}">
        <p14:creationId xmlns:p14="http://schemas.microsoft.com/office/powerpoint/2010/main" val="446780176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FE0391D-CCAA-4CB8-910F-1510F6DE4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RISKIT JA NÄYTTÖ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322613C-D838-4D28-B512-7E212CF8E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Puutteet ovat rajattavissa konkreettiseksi työohjelmaksi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F799ACF-D2D1-4186-9690-05B58FE37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FC87847-2E3B-49E6-A6D8-9BD338154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711B8E3-2F55-45E2-B1BE-8822FEAF6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2026.08.03-43 · 2026-08-03 · Lähteet: Evidence Register; WIPO IP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4FEE8DAF-408D-45EA-84D1-001FA4277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8293"/>
                <a:gridCol w="3670254"/>
                <a:gridCol w="4761411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Puutuva näyttö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Miksi ratkaiseva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Seuraava todiste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Koko perheen kansallinen tila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Määrittää toteuttamiskelpoiset oikeudet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Asiamiehen allekirjoittama maamatriisi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Tuote–vaatimusvertailut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Rajaa relevantin myynnin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Näytteet, teardown, claim chart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Kassavirta ja sopimukset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Määrittää takaisinmaksun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Sopimukset, laskut, maksut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Riippumaton arvonmääritys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Määrittää skenaariot ja downside-riskin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IVS-yhteensopiva arvio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0C64B02-E23C-46C1-A1A2-1D3D4F958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Pankkikelpoisuus paranee eniten, kun nämä neljä aukkoa suljetaan ennen arvokeskustelua.</a:t>
            </a:r>
          </a:p>
        </p:txBody>
      </p:sp>
    </p:spTree>
    <p:extLst>
      <p:ext uri="{BB962C8B-B14F-4D97-AF65-F5344CB8AC3E}">
        <p14:creationId xmlns:p14="http://schemas.microsoft.com/office/powerpoint/2010/main" val="170328913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9C300D3-FC27-4EE2-8032-AACA02CF1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02920"/>
            <a:ext cx="2743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PÄÄTÖSKEHYS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C4B85A2-E99A-4CF0-AD45-C3669ADB2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005840"/>
            <a:ext cx="1088136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Ehdollinen eteneminen: 90 päivän diligence ennen rahoituspäätöstä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D0EAEE9-B123-4BE2-933B-A5E27579D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2286000"/>
            <a:ext cx="10012680" cy="3246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0–30 päivää: omistus-, rasite-, maksu- ja oikeusmatriisi.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31–60 päivää: priorisoidut claim chartit, markkinamyynnin rajaus ja vastapuolidata.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61–90 päivää: riippumaton arvonmääritys, kassavirtaskenaariot ja rahoitusehdot.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Päätösportti: vain vahvistettuun oikeuteen ja takaisinmaksulähteeseen perustuva rakenne.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2764952F-059D-404B-A2EF-B8F980B40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272784"/>
            <a:ext cx="10241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Versio 2026.08.03-43 · 2026-08-03 · 6 / 6</a:t>
            </a:r>
          </a:p>
        </p:txBody>
      </p:sp>
    </p:spTree>
    <p:extLst>
      <p:ext uri="{BB962C8B-B14F-4D97-AF65-F5344CB8AC3E}">
        <p14:creationId xmlns:p14="http://schemas.microsoft.com/office/powerpoint/2010/main" val="523971775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2026-08-03T15:43:55.6740000Z</dcterms:created>
  <dcterms:modified xsi:type="dcterms:W3CDTF">2026-08-03T15:43:55.6740000Z</dcterms:modified>
</coreProperties>
</file>