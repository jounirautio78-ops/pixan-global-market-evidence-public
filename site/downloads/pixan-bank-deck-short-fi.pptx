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0352" y="566928"/>
            <a:ext cx="1097280" cy="64008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30352" y="914400"/>
            <a:ext cx="676656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00A4A6"/>
                </a:solidFill>
                <a:latin typeface="Aptos"/>
              </a:rPr>
              <a:t>PIXAN · JULKINEN EVIDENSSIPAKETTI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1389888"/>
            <a:ext cx="7360920" cy="2057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Aptos"/>
              </a:rPr>
              <a:t>Patentista pankkikelpoiseksi
todistelupaketiksi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3703320"/>
            <a:ext cx="7040880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C6D8E2"/>
                </a:solidFill>
                <a:latin typeface="Aptos"/>
              </a:rPr>
              <a:t>Suppea päätöksenteon tiivistelmä</a:t>
            </a:r>
          </a:p>
        </p:txBody>
      </p:sp>
      <p:sp>
        <p:nvSpPr>
          <p:cNvPr id="6" name="Rectangle 5"/>
          <p:cNvSpPr/>
          <p:nvPr/>
        </p:nvSpPr>
        <p:spPr>
          <a:xfrm>
            <a:off x="8275320" y="0"/>
            <a:ext cx="3913632" cy="6858000"/>
          </a:xfrm>
          <a:prstGeom prst="rect">
            <a:avLst/>
          </a:prstGeom>
          <a:solidFill>
            <a:srgbClr val="0D5F86"/>
          </a:solidFill>
          <a:ln>
            <a:solidFill>
              <a:srgbClr val="0D5F8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732520" y="1143000"/>
            <a:ext cx="2926080" cy="36576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ptos"/>
              </a:rPr>
              <a:t>Aineiston tila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32520" y="1700784"/>
            <a:ext cx="2880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900" b="1">
                <a:solidFill>
                  <a:srgbClr val="F4B942"/>
                </a:solidFill>
                <a:latin typeface="Aptos"/>
              </a:rPr>
              <a:t>2026.07.23-15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32520" y="2359152"/>
            <a:ext cx="2788920" cy="7315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Aptos"/>
              </a:rPr>
              <a:t>Päivitetty 2026-07-22
6 diaa · suomeksi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32520" y="3822191"/>
            <a:ext cx="2743200" cy="3200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300" b="1">
                <a:solidFill>
                  <a:srgbClr val="B8DFE2"/>
                </a:solidFill>
                <a:latin typeface="Aptos"/>
              </a:rPr>
              <a:t>Lähtökohta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732520" y="4251960"/>
            <a:ext cx="2788920" cy="109728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800" b="0">
                <a:solidFill>
                  <a:srgbClr val="FFFFFF"/>
                </a:solidFill>
                <a:latin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254496"/>
            <a:ext cx="7040880" cy="31089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Ei Pixan Oy:n virallinen kanta · ei arvo-, sijoitus-, laina- tai oikeudellinen lausunto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RAHOITUSTEESI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Rahoitusteesi perustuu näyttöön — ei markkinahypeen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EPO; Saksa — viralliset tuomiot; WIPO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54480"/>
            <a:ext cx="6766560" cy="129844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000" b="1">
                <a:solidFill>
                  <a:srgbClr val="0D5F86"/>
                </a:solidFill>
                <a:latin typeface="Aptos"/>
              </a:rPr>
              <a:t>Patentilla on dokumentoitu tekninen ydin ja merkittävää virallista oikeusnäyttöä, mutta vakuusarvo ei ole vielä todistettu.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090672"/>
            <a:ext cx="6629400" cy="2807208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EPO-rekisteri: patentti pysytetty muutettuna väitemenettelyn jälkeen; B2-patenttijulkaisu julkaistu. EP3032975B2 sisältää 9 vaatimusta.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Saksa: kaksi virallista ratkaisua; lopullisuus- ja aluerajat säilyvät.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650">
                <a:solidFill>
                  <a:srgbClr val="182935"/>
                </a:solidFill>
                <a:latin typeface="Aptos"/>
              </a:defRPr>
            </a:pPr>
            <a:r>
              <a:t>•  Rahoituskelpoisuus syntyy, kun oikeudet, claim chartit, kassavirta ja riippumaton arvonmääritys sidotaan yhteen.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726679" y="1554480"/>
            <a:ext cx="3886200" cy="4343400"/>
          </a:xfrm>
          <a:prstGeom prst="roundRect">
            <a:avLst>
              <a:gd name="adj" fmla="val 8000"/>
            </a:avLst>
          </a:prstGeom>
          <a:solidFill>
            <a:srgbClr val="E3F6F3"/>
          </a:solidFill>
          <a:ln>
            <a:solidFill>
              <a:srgbClr val="E3F6F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91271" y="1700784"/>
            <a:ext cx="355701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Pankin lukutapa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91271" y="2057400"/>
            <a:ext cx="3557016" cy="372160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Nykyinen aineisto tukee jatkodiligenceä. Se ei vielä yksin tue tiettyä lainamäärää, osakearvoa tai patentin vakuusarvoa.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PATENTTI JA 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Patenttihistoria antaa vahvan mutta rajatun ankkurin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EPO Register; EP3032975B2; 8 Ni 18/24 (EP); 7 O 3341/24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vaatimusta EP3032975B2:ssa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22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perhejulkaisutietuetta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virallista ratkaisua: Saksa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Todistettu oikeusnäyttö on arvokasta vain maakohtaisen voimassaolo- ja tuotekytkennän kanssa.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Kirjattu haltija, prioriteetti ja EPO:n keskitetty lopputulos ovat vahvistettavissa. Koko perheen nykyinen kansallinen tila, rasitteet ja täytäntöönpano vaativat lisänäyttöä.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MARKKINA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54864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400" b="1">
                <a:solidFill>
                  <a:srgbClr val="071A2B"/>
                </a:solidFill>
                <a:latin typeface="Aptos"/>
              </a:rPr>
              <a:t>Markkina-aineisto on läpinäkyvä mutta ei vielä valmis globaaliksi arvoksi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225296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Health Canada; Destatis; Vero; Sejm; Ruotsin hallitus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30352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94944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0A4A6"/>
                </a:solidFill>
                <a:latin typeface="Aptos"/>
              </a:rPr>
              <a:t>195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4944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maan tutkimusuniversumi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19016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83608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0D5F86"/>
                </a:solidFill>
                <a:latin typeface="Aptos"/>
              </a:rP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3608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maata virallisilla vuosihavainnoilla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07680" y="1719072"/>
            <a:ext cx="3532632" cy="1371600"/>
          </a:xfrm>
          <a:prstGeom prst="roundRect">
            <a:avLst>
              <a:gd name="adj" fmla="val 8000"/>
            </a:avLst>
          </a:prstGeom>
          <a:solidFill>
            <a:srgbClr val="F6F9FA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72272" y="1883664"/>
            <a:ext cx="3203448" cy="53035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700" b="1">
                <a:solidFill>
                  <a:srgbClr val="F4B942"/>
                </a:solidFill>
                <a:latin typeface="Aptos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2272" y="2468879"/>
            <a:ext cx="3203448" cy="43891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400" b="0">
                <a:solidFill>
                  <a:srgbClr val="5B6B75"/>
                </a:solidFill>
                <a:latin typeface="Aptos"/>
              </a:rPr>
              <a:t>hyväksyttyä retail-arvon luovuttajaa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529584"/>
            <a:ext cx="10927080" cy="786384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2500" b="1">
                <a:solidFill>
                  <a:srgbClr val="071A2B"/>
                </a:solidFill>
                <a:latin typeface="Aptos"/>
              </a:rPr>
              <a:t>Kaupallinen 26,0–46,32 mrd USD haarukka on sanity check — ei atlaksen oma maailmanestimaatti.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535424"/>
            <a:ext cx="10927080" cy="1143000"/>
          </a:xfrm>
          <a:prstGeom prst="roundRect">
            <a:avLst>
              <a:gd name="adj" fmla="val 8000"/>
            </a:avLst>
          </a:prstGeom>
          <a:solidFill>
            <a:srgbClr val="EAF3F6"/>
          </a:solidFill>
          <a:ln>
            <a:solidFill>
              <a:srgbClr val="EAF3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681728"/>
            <a:ext cx="10597896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71A2B"/>
                </a:solidFill>
                <a:latin typeface="Aptos"/>
              </a:rPr>
              <a:t>Tulkinta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038344"/>
            <a:ext cx="10597896" cy="521207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500" b="0">
                <a:solidFill>
                  <a:srgbClr val="182935"/>
                </a:solidFill>
                <a:latin typeface="Aptos"/>
              </a:rPr>
              <a:t>Kanada: 1,16 mrd CAD toimitusarvo. Saksa: 1,518 milj. l verotettua nestettä vuonna 2025 (alustava). Mittareita ei summata keskenään.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3474720" cy="25603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1">
                <a:solidFill>
                  <a:srgbClr val="00A4A6"/>
                </a:solidFill>
                <a:latin typeface="Aptos"/>
              </a:rPr>
              <a:t>RISKIT JA NÄYTTÖ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621792"/>
            <a:ext cx="11109960" cy="804672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000" b="1">
                <a:solidFill>
                  <a:srgbClr val="071A2B"/>
                </a:solidFill>
                <a:latin typeface="Aptos"/>
              </a:rPr>
              <a:t>Puutteet ovat rajattavissa konkreettiseksi työohjelmaksi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444752"/>
            <a:ext cx="960120" cy="50292"/>
          </a:xfrm>
          <a:prstGeom prst="rect">
            <a:avLst/>
          </a:prstGeom>
          <a:solidFill>
            <a:srgbClr val="00A4A6"/>
          </a:solidFill>
          <a:ln>
            <a:solidFill>
              <a:srgbClr val="00A4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6519672"/>
            <a:ext cx="11494008" cy="13716"/>
          </a:xfrm>
          <a:prstGeom prst="rect">
            <a:avLst/>
          </a:prstGeom>
          <a:solidFill>
            <a:srgbClr val="CBD8DE"/>
          </a:solidFill>
          <a:ln>
            <a:solidFill>
              <a:srgbClr val="CBD8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84048" y="6556248"/>
            <a:ext cx="10835640" cy="173736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850" b="0">
                <a:solidFill>
                  <a:srgbClr val="5B6B75"/>
                </a:solidFill>
                <a:latin typeface="Aptos"/>
              </a:rPr>
              <a:t>Julkinen riippumaton evidenssikooste · 2026.07.23-15 · 2026-07-22 · Lähteet: Evidence Register; WIPO IP valuation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384280" y="6537960"/>
            <a:ext cx="411480" cy="201168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r"/>
            <a:r>
              <a:rPr sz="900" b="0">
                <a:solidFill>
                  <a:srgbClr val="5B6B75"/>
                </a:solidFill>
                <a:latin typeface="Aptos"/>
              </a:rPr>
              <a:t>5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30352" y="1719072"/>
          <a:ext cx="11109958" cy="3794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8293"/>
                <a:gridCol w="3670254"/>
                <a:gridCol w="4761411"/>
              </a:tblGrid>
              <a:tr h="438912"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Puutuva näyttö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Miksi ratkaiseva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20" b="1">
                          <a:solidFill>
                            <a:srgbClr val="FFFFFF"/>
                          </a:solidFill>
                          <a:latin typeface="Aptos"/>
                        </a:defRPr>
                      </a:pPr>
                      <a:r>
                        <a:t>Seuraava todiste</a:t>
                      </a:r>
                    </a:p>
                  </a:txBody>
                  <a:tcPr marL="73152" marR="73152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Koko perheen kansallinen tila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toteuttamiskelpoiset oikeudet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Asiamiehen allekirjoittama maamatriisi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Tuote–vaatimusvertailut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Rajaa relevantin myynnin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Näytteet, teardown, claim chart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Kassavirta ja sopimukset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takaisinmaksun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Sopimukset, laskut, 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Määrittää skenaariot ja downside-riskin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defRPr sz="1320">
                          <a:solidFill>
                            <a:srgbClr val="182935"/>
                          </a:solidFill>
                          <a:latin typeface="Aptos"/>
                        </a:defRPr>
                      </a:pPr>
                      <a:r>
                        <a:t>IVS-yhteensopiva arvio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" y="5660136"/>
            <a:ext cx="10881360" cy="5029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700" b="1">
                <a:solidFill>
                  <a:srgbClr val="0D5F86"/>
                </a:solidFill>
                <a:latin typeface="Aptos"/>
              </a:rPr>
              <a:t>Pankkikelpoisuus paranee eniten, kun nämä neljä aukkoa suljetaan ennen arvokeskustelua.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A2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502920"/>
            <a:ext cx="2743200" cy="27432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200" b="1">
                <a:solidFill>
                  <a:srgbClr val="00A4A6"/>
                </a:solidFill>
                <a:latin typeface="Aptos"/>
              </a:rPr>
              <a:t>PÄÄTÖSKEHYS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05840"/>
            <a:ext cx="10881360" cy="9144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3900" b="1">
                <a:solidFill>
                  <a:srgbClr val="FFFFFF"/>
                </a:solidFill>
                <a:latin typeface="Aptos"/>
              </a:rPr>
              <a:t>Ehdollinen eteneminen: 90 päivän diligence ennen rahoituspäätöstä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1792" y="2286000"/>
            <a:ext cx="10012680" cy="3246120"/>
          </a:xfrm>
          <a:prstGeom prst="rect">
            <a:avLst/>
          </a:prstGeom>
          <a:noFill/>
        </p:spPr>
        <p:txBody>
          <a:bodyPr wrap="square" lIns="27432" rIns="27432" tIns="18288" bIns="18288">
            <a:spAutoFit/>
          </a:bodyPr>
          <a:lstStyle/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0–30 päivää: omistus-, rasite-, maksu- ja oikeusmatriisi.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31–60 päivää: priorisoidut claim chartit, markkinamyynnin rajaus ja vastapuolidata.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61–90 päivää: riippumaton arvonmääritys, kassavirtaskenaariot ja rahoitusehdot.</a:t>
            </a:r>
          </a:p>
          <a:p>
            <a:pPr>
              <a:lnSpc>
                <a:spcPct val="105000"/>
              </a:lnSpc>
              <a:spcAft>
                <a:spcPts val="1200"/>
              </a:spcAft>
              <a:defRPr sz="1900">
                <a:solidFill>
                  <a:srgbClr val="FFFFFF"/>
                </a:solidFill>
                <a:latin typeface="Aptos"/>
              </a:defRPr>
            </a:pPr>
            <a:r>
              <a:t>•  Päätösportti: vain vahvistettuun oikeuteen ja takaisinmaksulähteeseen perustuva rakenne.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6272784"/>
            <a:ext cx="10241280" cy="228600"/>
          </a:xfrm>
          <a:prstGeom prst="rect">
            <a:avLst/>
          </a:prstGeom>
          <a:noFill/>
        </p:spPr>
        <p:txBody>
          <a:bodyPr wrap="square" lIns="36576" rIns="36576" tIns="36576" bIns="36576" anchor="t">
            <a:spAutoFit/>
          </a:bodyPr>
          <a:lstStyle/>
          <a:p>
            <a:pPr algn="l"/>
            <a:r>
              <a:rPr sz="1000" b="0">
                <a:solidFill>
                  <a:srgbClr val="9DB3C0"/>
                </a:solidFill>
                <a:latin typeface="Aptos"/>
              </a:rPr>
              <a:t>Versio 2026.07.23-15 · 2026-07-22 · 6 /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Pixan · suppea julkinen pankkidekki</dc:title>
  <dc:subject>Julkinen pankki- ja rahoitusarvioinnin evidenssipaketti</dc:subject>
  <dc:creator>Pixan Global Market Evidence Atlas</dc:creator>
  <cp:keywords>Pixan, patentti, markkinaevidenssi, due diligence</cp:keywords>
  <dc:description>generated using python-pptx</dc:description>
  <cp:lastModifiedBy>Steve Canny</cp:lastModifiedBy>
  <cp:revision>1</cp:revision>
  <dcterms:created xsi:type="dcterms:W3CDTF">2026-07-22T00:00:00Z</dcterms:created>
  <dcterms:modified xsi:type="dcterms:W3CDTF">2026-07-22T00:00:00Z</dcterms:modified>
  <cp:category/>
</cp:coreProperties>
</file>