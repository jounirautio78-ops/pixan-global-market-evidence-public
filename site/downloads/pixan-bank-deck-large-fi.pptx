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e5ea17e1cd14612" /><Relationship Type="http://schemas.openxmlformats.org/officeDocument/2006/relationships/extended-properties" Target="/docProps/app.xml" Id="R35b371a568c04a46" /><Relationship Type="http://schemas.openxmlformats.org/officeDocument/2006/relationships/officeDocument" Target="/ppt/presentation.xml" Id="R865bab931fd14a8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bcbead296f34713"/>
  </p:sldMasterIdLst>
  <p:notesMasterIdLst>
    <p:notesMasterId xmlns:r="http://schemas.openxmlformats.org/officeDocument/2006/relationships" r:id="R7f9d34d583a34e9f"/>
  </p:notesMasterIdLst>
  <p:sldIdLst>
    <p:sldId xmlns:r="http://schemas.openxmlformats.org/officeDocument/2006/relationships" id="256" r:id="R853a5dcb4d2943e6"/>
    <p:sldId xmlns:r="http://schemas.openxmlformats.org/officeDocument/2006/relationships" id="257" r:id="Rf82cf3fe26ac43cf"/>
    <p:sldId xmlns:r="http://schemas.openxmlformats.org/officeDocument/2006/relationships" id="258" r:id="R3833e3f97a464e78"/>
    <p:sldId xmlns:r="http://schemas.openxmlformats.org/officeDocument/2006/relationships" id="259" r:id="R30ee0026398b449d"/>
    <p:sldId xmlns:r="http://schemas.openxmlformats.org/officeDocument/2006/relationships" id="260" r:id="R74d5c4dbe08342b1"/>
    <p:sldId xmlns:r="http://schemas.openxmlformats.org/officeDocument/2006/relationships" id="261" r:id="R5cc330af9bd44840"/>
    <p:sldId xmlns:r="http://schemas.openxmlformats.org/officeDocument/2006/relationships" id="262" r:id="Rb344dd4dd0544a24"/>
    <p:sldId xmlns:r="http://schemas.openxmlformats.org/officeDocument/2006/relationships" id="263" r:id="Rb5fc856529fd434d"/>
    <p:sldId xmlns:r="http://schemas.openxmlformats.org/officeDocument/2006/relationships" id="264" r:id="R9c78016e9f6f4b02"/>
    <p:sldId xmlns:r="http://schemas.openxmlformats.org/officeDocument/2006/relationships" id="265" r:id="R98e1aa9105db4f1d"/>
    <p:sldId xmlns:r="http://schemas.openxmlformats.org/officeDocument/2006/relationships" id="266" r:id="Redc309d91a4948b6"/>
    <p:sldId xmlns:r="http://schemas.openxmlformats.org/officeDocument/2006/relationships" id="267" r:id="Rd945a878798e416b"/>
    <p:sldId xmlns:r="http://schemas.openxmlformats.org/officeDocument/2006/relationships" id="268" r:id="R08607a4bc65e48a8"/>
    <p:sldId xmlns:r="http://schemas.openxmlformats.org/officeDocument/2006/relationships" id="269" r:id="R33530a998488486d"/>
    <p:sldId xmlns:r="http://schemas.openxmlformats.org/officeDocument/2006/relationships" id="270" r:id="R67fec809b9714292"/>
    <p:sldId xmlns:r="http://schemas.openxmlformats.org/officeDocument/2006/relationships" id="271" r:id="R65c7cb4143124201"/>
    <p:sldId xmlns:r="http://schemas.openxmlformats.org/officeDocument/2006/relationships" id="272" r:id="R16c9f8e993524231"/>
    <p:sldId xmlns:r="http://schemas.openxmlformats.org/officeDocument/2006/relationships" id="273" r:id="R97e5e94e1fe8453f"/>
    <p:sldId xmlns:r="http://schemas.openxmlformats.org/officeDocument/2006/relationships" id="274" r:id="R23584ac446e24696"/>
    <p:sldId xmlns:r="http://schemas.openxmlformats.org/officeDocument/2006/relationships" id="275" r:id="Rf6b8ea5c71d24769"/>
    <p:sldId xmlns:r="http://schemas.openxmlformats.org/officeDocument/2006/relationships" id="276" r:id="Rb1e7e9c2b04a4320"/>
    <p:sldId xmlns:r="http://schemas.openxmlformats.org/officeDocument/2006/relationships" id="277" r:id="Rdb34d4eeaaa2401e"/>
    <p:sldId xmlns:r="http://schemas.openxmlformats.org/officeDocument/2006/relationships" id="278" r:id="Refa9713a09aa44b1"/>
    <p:sldId xmlns:r="http://schemas.openxmlformats.org/officeDocument/2006/relationships" id="279" r:id="R86415e8164874f3d"/>
    <p:sldId xmlns:r="http://schemas.openxmlformats.org/officeDocument/2006/relationships" id="280" r:id="Rb72230bce47b4afa"/>
    <p:sldId xmlns:r="http://schemas.openxmlformats.org/officeDocument/2006/relationships" id="281" r:id="R17ae240b8d1d4e01"/>
    <p:sldId xmlns:r="http://schemas.openxmlformats.org/officeDocument/2006/relationships" id="282" r:id="R1abafa1902eb4169"/>
    <p:sldId xmlns:r="http://schemas.openxmlformats.org/officeDocument/2006/relationships" id="283" r:id="R4fd21da4a0bc4213"/>
    <p:sldId xmlns:r="http://schemas.openxmlformats.org/officeDocument/2006/relationships" id="284" r:id="Rdbbd6fe6291a4f44"/>
    <p:sldId xmlns:r="http://schemas.openxmlformats.org/officeDocument/2006/relationships" id="285" r:id="R72082b43efcd4c2c"/>
  </p:sldIdLst>
  <p:sldSz cx="12191999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1f331ace5b748b3" /><Relationship Type="http://schemas.openxmlformats.org/officeDocument/2006/relationships/slideMaster" Target="/ppt/slideMasters/slideMaster1.xml" Id="Rfbcbead296f34713" /><Relationship Type="http://schemas.openxmlformats.org/officeDocument/2006/relationships/notesMaster" Target="/ppt/notesMasters/notesMaster1.xml" Id="R7f9d34d583a34e9f" /><Relationship Type="http://schemas.openxmlformats.org/officeDocument/2006/relationships/presProps" Target="/ppt/presProps.xml" Id="R5cee51c3be3444f5" /><Relationship Type="http://schemas.openxmlformats.org/officeDocument/2006/relationships/viewProps" Target="/ppt/viewProps.xml" Id="Rfa13d15faaed43a7" /><Relationship Type="http://schemas.openxmlformats.org/officeDocument/2006/relationships/tableStyles" Target="/ppt/tableStyles.xml" Id="Rcf4617a1e5d94817" /><Relationship Type="http://schemas.openxmlformats.org/officeDocument/2006/relationships/slide" Target="/ppt/slides/slide1.xml" Id="R853a5dcb4d2943e6" /><Relationship Type="http://schemas.openxmlformats.org/officeDocument/2006/relationships/slide" Target="/ppt/slides/slide2.xml" Id="Rf82cf3fe26ac43cf" /><Relationship Type="http://schemas.openxmlformats.org/officeDocument/2006/relationships/slide" Target="/ppt/slides/slide3.xml" Id="R3833e3f97a464e78" /><Relationship Type="http://schemas.openxmlformats.org/officeDocument/2006/relationships/slide" Target="/ppt/slides/slide4.xml" Id="R30ee0026398b449d" /><Relationship Type="http://schemas.openxmlformats.org/officeDocument/2006/relationships/slide" Target="/ppt/slides/slide5.xml" Id="R74d5c4dbe08342b1" /><Relationship Type="http://schemas.openxmlformats.org/officeDocument/2006/relationships/slide" Target="/ppt/slides/slide6.xml" Id="R5cc330af9bd44840" /><Relationship Type="http://schemas.openxmlformats.org/officeDocument/2006/relationships/slide" Target="/ppt/slides/slide7.xml" Id="Rb344dd4dd0544a24" /><Relationship Type="http://schemas.openxmlformats.org/officeDocument/2006/relationships/slide" Target="/ppt/slides/slide8.xml" Id="Rb5fc856529fd434d" /><Relationship Type="http://schemas.openxmlformats.org/officeDocument/2006/relationships/slide" Target="/ppt/slides/slide9.xml" Id="R9c78016e9f6f4b02" /><Relationship Type="http://schemas.openxmlformats.org/officeDocument/2006/relationships/slide" Target="/ppt/slides/slide10.xml" Id="R98e1aa9105db4f1d" /><Relationship Type="http://schemas.openxmlformats.org/officeDocument/2006/relationships/slide" Target="/ppt/slides/slide11.xml" Id="Redc309d91a4948b6" /><Relationship Type="http://schemas.openxmlformats.org/officeDocument/2006/relationships/slide" Target="/ppt/slides/slide12.xml" Id="Rd945a878798e416b" /><Relationship Type="http://schemas.openxmlformats.org/officeDocument/2006/relationships/slide" Target="/ppt/slides/slide13.xml" Id="R08607a4bc65e48a8" /><Relationship Type="http://schemas.openxmlformats.org/officeDocument/2006/relationships/slide" Target="/ppt/slides/slide14.xml" Id="R33530a998488486d" /><Relationship Type="http://schemas.openxmlformats.org/officeDocument/2006/relationships/slide" Target="/ppt/slides/slide15.xml" Id="R67fec809b9714292" /><Relationship Type="http://schemas.openxmlformats.org/officeDocument/2006/relationships/slide" Target="/ppt/slides/slide16.xml" Id="R65c7cb4143124201" /><Relationship Type="http://schemas.openxmlformats.org/officeDocument/2006/relationships/slide" Target="/ppt/slides/slide17.xml" Id="R16c9f8e993524231" /><Relationship Type="http://schemas.openxmlformats.org/officeDocument/2006/relationships/slide" Target="/ppt/slides/slide18.xml" Id="R97e5e94e1fe8453f" /><Relationship Type="http://schemas.openxmlformats.org/officeDocument/2006/relationships/slide" Target="/ppt/slides/slide19.xml" Id="R23584ac446e24696" /><Relationship Type="http://schemas.openxmlformats.org/officeDocument/2006/relationships/slide" Target="/ppt/slides/slide20.xml" Id="Rf6b8ea5c71d24769" /><Relationship Type="http://schemas.openxmlformats.org/officeDocument/2006/relationships/slide" Target="/ppt/slides/slide21.xml" Id="Rb1e7e9c2b04a4320" /><Relationship Type="http://schemas.openxmlformats.org/officeDocument/2006/relationships/slide" Target="/ppt/slides/slide22.xml" Id="Rdb34d4eeaaa2401e" /><Relationship Type="http://schemas.openxmlformats.org/officeDocument/2006/relationships/slide" Target="/ppt/slides/slide23.xml" Id="Refa9713a09aa44b1" /><Relationship Type="http://schemas.openxmlformats.org/officeDocument/2006/relationships/slide" Target="/ppt/slides/slide24.xml" Id="R86415e8164874f3d" /><Relationship Type="http://schemas.openxmlformats.org/officeDocument/2006/relationships/slide" Target="/ppt/slides/slide25.xml" Id="Rb72230bce47b4afa" /><Relationship Type="http://schemas.openxmlformats.org/officeDocument/2006/relationships/slide" Target="/ppt/slides/slide26.xml" Id="R17ae240b8d1d4e01" /><Relationship Type="http://schemas.openxmlformats.org/officeDocument/2006/relationships/slide" Target="/ppt/slides/slide27.xml" Id="R1abafa1902eb4169" /><Relationship Type="http://schemas.openxmlformats.org/officeDocument/2006/relationships/slide" Target="/ppt/slides/slide28.xml" Id="R4fd21da4a0bc4213" /><Relationship Type="http://schemas.openxmlformats.org/officeDocument/2006/relationships/slide" Target="/ppt/slides/slide29.xml" Id="Rdbbd6fe6291a4f44" /><Relationship Type="http://schemas.openxmlformats.org/officeDocument/2006/relationships/slide" Target="/ppt/slides/slide30.xml" Id="R72082b43efcd4c2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e01cc575c904d2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375b380d95c420a" /><Relationship Type="http://schemas.openxmlformats.org/officeDocument/2006/relationships/notesMaster" Target="/ppt/notesMasters/notesMaster1.xml" Id="R648ef75b975f459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de6daef62fd4adc" /><Relationship Type="http://schemas.openxmlformats.org/officeDocument/2006/relationships/notesMaster" Target="/ppt/notesMasters/notesMaster1.xml" Id="R160ec00e9a7549c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f347e6ff9a34e33" /><Relationship Type="http://schemas.openxmlformats.org/officeDocument/2006/relationships/notesMaster" Target="/ppt/notesMasters/notesMaster1.xml" Id="Re061b7ba1b1e43d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56b5db8928e44e4" /><Relationship Type="http://schemas.openxmlformats.org/officeDocument/2006/relationships/notesMaster" Target="/ppt/notesMasters/notesMaster1.xml" Id="R0c952aea4b194e2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d2c98de08dd4ec7" /><Relationship Type="http://schemas.openxmlformats.org/officeDocument/2006/relationships/notesMaster" Target="/ppt/notesMasters/notesMaster1.xml" Id="Rb4cbcd010c5448e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948cd1fd00d4ccd" /><Relationship Type="http://schemas.openxmlformats.org/officeDocument/2006/relationships/notesMaster" Target="/ppt/notesMasters/notesMaster1.xml" Id="Rc8cfdd46805e407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edb5793643941e1" /><Relationship Type="http://schemas.openxmlformats.org/officeDocument/2006/relationships/notesMaster" Target="/ppt/notesMasters/notesMaster1.xml" Id="R90b5ba7a66134fd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da3d281942f46f5" /><Relationship Type="http://schemas.openxmlformats.org/officeDocument/2006/relationships/notesMaster" Target="/ppt/notesMasters/notesMaster1.xml" Id="Rfbd5f913acb34a0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52da6f7d689427b" /><Relationship Type="http://schemas.openxmlformats.org/officeDocument/2006/relationships/notesMaster" Target="/ppt/notesMasters/notesMaster1.xml" Id="R4a3891f71c1545c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c95a931a5d248ce" /><Relationship Type="http://schemas.openxmlformats.org/officeDocument/2006/relationships/notesMaster" Target="/ppt/notesMasters/notesMaster1.xml" Id="R5c6a30ececcc40a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a22f095ccdd485b" /><Relationship Type="http://schemas.openxmlformats.org/officeDocument/2006/relationships/notesMaster" Target="/ppt/notesMasters/notesMaster1.xml" Id="Rc32dfd9cbcd2434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dbb08fb91d4400e" /><Relationship Type="http://schemas.openxmlformats.org/officeDocument/2006/relationships/notesMaster" Target="/ppt/notesMasters/notesMaster1.xml" Id="R12ffdbb9e071424f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21c2a971b7e14f21" /><Relationship Type="http://schemas.openxmlformats.org/officeDocument/2006/relationships/notesMaster" Target="/ppt/notesMasters/notesMaster1.xml" Id="R5092975d6ca54cb2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9564e08af27749cc" /><Relationship Type="http://schemas.openxmlformats.org/officeDocument/2006/relationships/notesMaster" Target="/ppt/notesMasters/notesMaster1.xml" Id="Rc677b14d118f490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9aca6e6ce0bb485c" /><Relationship Type="http://schemas.openxmlformats.org/officeDocument/2006/relationships/notesMaster" Target="/ppt/notesMasters/notesMaster1.xml" Id="R0a6269cb64cd4675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9739c841fe954e3a" /><Relationship Type="http://schemas.openxmlformats.org/officeDocument/2006/relationships/notesMaster" Target="/ppt/notesMasters/notesMaster1.xml" Id="R6d4fc1953ea64f51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b5ad341d4e524f42" /><Relationship Type="http://schemas.openxmlformats.org/officeDocument/2006/relationships/notesMaster" Target="/ppt/notesMasters/notesMaster1.xml" Id="Rc63cb094c53c4dfa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1bac16cf03ae4b92" /><Relationship Type="http://schemas.openxmlformats.org/officeDocument/2006/relationships/notesMaster" Target="/ppt/notesMasters/notesMaster1.xml" Id="Rb22bb3bd04a1422a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cdaaecee42ba455e" /><Relationship Type="http://schemas.openxmlformats.org/officeDocument/2006/relationships/notesMaster" Target="/ppt/notesMasters/notesMaster1.xml" Id="R803fb09d65e94c79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12b02c58f76546b3" /><Relationship Type="http://schemas.openxmlformats.org/officeDocument/2006/relationships/notesMaster" Target="/ppt/notesMasters/notesMaster1.xml" Id="R48fbda1b4f8a4a1e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7cf4b05b000a4bac" /><Relationship Type="http://schemas.openxmlformats.org/officeDocument/2006/relationships/notesMaster" Target="/ppt/notesMasters/notesMaster1.xml" Id="Ra6a74315307f45b4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c4044a17e03448b5" /><Relationship Type="http://schemas.openxmlformats.org/officeDocument/2006/relationships/notesMaster" Target="/ppt/notesMasters/notesMaster1.xml" Id="R4975a03f7eb343ff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3d306d44c0084b74" /><Relationship Type="http://schemas.openxmlformats.org/officeDocument/2006/relationships/notesMaster" Target="/ppt/notesMasters/notesMaster1.xml" Id="R9b40e31dc31c43b4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dfeadc3d67bc4cb1" /><Relationship Type="http://schemas.openxmlformats.org/officeDocument/2006/relationships/notesMaster" Target="/ppt/notesMasters/notesMaster1.xml" Id="R69c0cbf106c7496b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8f06733ad8704d5e" /><Relationship Type="http://schemas.openxmlformats.org/officeDocument/2006/relationships/notesMaster" Target="/ppt/notesMasters/notesMaster1.xml" Id="R8116fcd25c3a4449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e3005f1af693473e" /><Relationship Type="http://schemas.openxmlformats.org/officeDocument/2006/relationships/notesMaster" Target="/ppt/notesMasters/notesMaster1.xml" Id="Re619d1a6dfd84368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458df3864d0e4432" /><Relationship Type="http://schemas.openxmlformats.org/officeDocument/2006/relationships/notesMaster" Target="/ppt/notesMasters/notesMaster1.xml" Id="Rc98e8a61e6d04b9b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b22e99217b684a85" /><Relationship Type="http://schemas.openxmlformats.org/officeDocument/2006/relationships/notesMaster" Target="/ppt/notesMasters/notesMaster1.xml" Id="R3bf66b4422484f7b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ac1531ec52b74155" /><Relationship Type="http://schemas.openxmlformats.org/officeDocument/2006/relationships/notesMaster" Target="/ppt/notesMasters/notesMaster1.xml" Id="Rc587eed147c84465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ee1ed5eb34154e73" /><Relationship Type="http://schemas.openxmlformats.org/officeDocument/2006/relationships/notesMaster" Target="/ppt/notesMasters/notesMaster1.xml" Id="R2ed1f56ffa9e462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e58b287345c49a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87db1ecaf2441d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802bd6e005f413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4f8b8f2096f430f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ac26afcdf404695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8980d6cbfee4cfb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b51b368c7724e13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7f9bcb9f066456b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e91fac323704b79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1cb1e8f33b64eb0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38db48a0f274a3c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DF2D9F3-0EA0-4D18-87A4-273077F9B3CD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36FD930C-94A3-4B0C-B7FE-63A2F53DBBB6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A94D750-3D8B-4269-B80F-74CFFB70DF4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537BFC-1B3F-4D81-BB78-025C08F2DEC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47423BE-57ED-4895-A4CB-52FD4C9C81B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6F0C7D6-E70A-462D-968C-3428B474917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559F899-5152-4BCA-9C3A-5E10B66CDFAC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AD7ABAD-3D0B-4AE6-B47F-6A8EEF204EE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2AA49B5-CFDD-45BF-94BB-061458C7392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6A3FB3-8349-4A0B-9412-ADCACABB975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BA1856A-B497-4AE5-BA76-2EB7C3F3C07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B3B6B11-841F-4FC1-AB12-BA2382A5827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6AFB6C7-7058-4AEF-93B1-32DC1A3FD30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CABDB87-4A11-4AFA-819E-6575D78495C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4BD0E92-7E6E-48C7-9917-6E63BF28073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02D0DCF-2740-41F1-908D-8FF1F2936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6559AF4-9432-4D8F-9D8F-087F9F08C47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6A0EDC06-1B50-4447-917A-8A192B2FDA58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B0D51B8A-8085-4767-96D1-B0B62B6EF48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98290C23-362A-4477-8765-03B9CA90699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9117F96-B078-4CCC-834A-2A3F9A87896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380127B-1BF8-4E82-9326-C2529F6D443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35B9FFD-540F-4499-8414-E69533C7A70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CA189067-27B0-40A6-90A1-A9C851D2B480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4400C098-A139-4EF1-9F40-2BCA87AAD19E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712DC838-5939-4919-8C2E-D52FD5F98E0B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8710B9C1-6E27-4702-A296-021F99C4D57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90556675-3DCD-4F37-8719-98F78269A61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3294BDFA-AB0F-406E-96AA-70AF736222A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EF52B85-020B-4E2B-B38C-D6BD10F21F4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B67C13D2-849C-4B36-9DB8-7ED9E88EE92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D77BB6A6-0C74-43B2-AF8C-DFEB904F659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5A57661C-E50B-47E0-B60A-F4524E164A8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C1B296C0-55DF-47B4-9E51-8EFED5A1FA6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1891A710-32FA-41D7-A7F6-D40E6CF5AE6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4306BE23-3478-4A79-A2CE-BD797CF3EE4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8B40F70-1370-4E4D-8E8A-D9FF20BE32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6B4BA6C-D1CC-4455-BAA5-8B3841587D9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612CDEEB-31BA-4A20-BA88-20036CBB8AB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413714A-47BB-49A3-8D7A-D17BB0EF1AD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616AFFF3-6EC5-4D1C-8285-71F4BA6F48A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1FCBE67D-A3D2-4914-85F9-7BD91E7B855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F4D8A13-0DF5-47E8-88B5-66254BDF526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E86D3CEC-4CE5-4C4F-A1F8-85DBC85799DA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BAB5306E-F969-4B0E-8AA6-9836110C467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4B336356-75BA-4A05-B83A-CAC2DE9489E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B6E037B-1640-4703-83F3-BCEB649E58C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B0E3D97-7031-4D58-A952-A452A3BFC86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F85137C-23CE-40D0-A025-5B46CE63370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A98B34-0528-4E9D-8530-9B6E73A069C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331FAD5-9ECE-4380-BF3A-C60D78B1BE6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00A23AE-156A-4AB4-BEFE-64A6D272685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1F8CEAA-3B67-48B0-ABCF-3C53B1DE00B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EA27E98E-19C8-4B0C-9039-F24FFE729A5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795D927A-DBA2-49E9-9F21-777A108C06B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40327E6-1E18-441A-87BD-48FF6D015A1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A52EF65-E59D-495C-BF32-23C7456FE61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E60B34-6625-497D-ABE2-E1554019F79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41b050040444bbe" /><Relationship Type="http://schemas.openxmlformats.org/officeDocument/2006/relationships/slideLayout" Target="/ppt/slideLayouts/slideLayout1.xml" Id="R7adde88893c140ba" /><Relationship Type="http://schemas.openxmlformats.org/officeDocument/2006/relationships/slideLayout" Target="/ppt/slideLayouts/slideLayout2.xml" Id="R1f2622d6510d4798" /><Relationship Type="http://schemas.openxmlformats.org/officeDocument/2006/relationships/slideLayout" Target="/ppt/slideLayouts/slideLayout3.xml" Id="Ra353c41d2f194fa7" /><Relationship Type="http://schemas.openxmlformats.org/officeDocument/2006/relationships/slideLayout" Target="/ppt/slideLayouts/slideLayout4.xml" Id="Rf673acfdf8a0486c" /><Relationship Type="http://schemas.openxmlformats.org/officeDocument/2006/relationships/slideLayout" Target="/ppt/slideLayouts/slideLayout5.xml" Id="R000c3aba95c14310" /><Relationship Type="http://schemas.openxmlformats.org/officeDocument/2006/relationships/slideLayout" Target="/ppt/slideLayouts/slideLayout6.xml" Id="Rfdb99c7b998e438c" /><Relationship Type="http://schemas.openxmlformats.org/officeDocument/2006/relationships/slideLayout" Target="/ppt/slideLayouts/slideLayout7.xml" Id="Rbc00bb94b90640ab" /><Relationship Type="http://schemas.openxmlformats.org/officeDocument/2006/relationships/slideLayout" Target="/ppt/slideLayouts/slideLayout8.xml" Id="R4ee3b1e2ac4c4fdb" /><Relationship Type="http://schemas.openxmlformats.org/officeDocument/2006/relationships/slideLayout" Target="/ppt/slideLayouts/slideLayout9.xml" Id="R690c51d6f5114fb5" /><Relationship Type="http://schemas.openxmlformats.org/officeDocument/2006/relationships/slideLayout" Target="/ppt/slideLayouts/slideLayout10.xml" Id="R8ab748f3d5b145ae" /><Relationship Type="http://schemas.openxmlformats.org/officeDocument/2006/relationships/slideLayout" Target="/ppt/slideLayouts/slideLayout11.xml" Id="R62d9d6c2764445aa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E20F37F1-4A59-41D7-97E7-A3247514C28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349BF36A-4E2A-4BCE-8AE6-EA3460EC7FD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7CB1D53-931E-4BA3-B1E2-CA672AEB1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9174CAD-8DF0-4C34-8E26-F8BDDEAC5C1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710BC91-08AD-4240-B905-D7CF170F9C4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adde88893c140ba"/>
    <p:sldLayoutId xmlns:r="http://schemas.openxmlformats.org/officeDocument/2006/relationships" id="2147483650" r:id="R1f2622d6510d4798"/>
    <p:sldLayoutId xmlns:r="http://schemas.openxmlformats.org/officeDocument/2006/relationships" id="2147483651" r:id="Ra353c41d2f194fa7"/>
    <p:sldLayoutId xmlns:r="http://schemas.openxmlformats.org/officeDocument/2006/relationships" id="2147483652" r:id="Rf673acfdf8a0486c"/>
    <p:sldLayoutId xmlns:r="http://schemas.openxmlformats.org/officeDocument/2006/relationships" id="2147483653" r:id="R000c3aba95c14310"/>
    <p:sldLayoutId xmlns:r="http://schemas.openxmlformats.org/officeDocument/2006/relationships" id="2147483654" r:id="Rfdb99c7b998e438c"/>
    <p:sldLayoutId xmlns:r="http://schemas.openxmlformats.org/officeDocument/2006/relationships" id="2147483655" r:id="Rbc00bb94b90640ab"/>
    <p:sldLayoutId xmlns:r="http://schemas.openxmlformats.org/officeDocument/2006/relationships" id="2147483656" r:id="R4ee3b1e2ac4c4fdb"/>
    <p:sldLayoutId xmlns:r="http://schemas.openxmlformats.org/officeDocument/2006/relationships" id="2147483657" r:id="R690c51d6f5114fb5"/>
    <p:sldLayoutId xmlns:r="http://schemas.openxmlformats.org/officeDocument/2006/relationships" id="2147483658" r:id="R8ab748f3d5b145ae"/>
    <p:sldLayoutId xmlns:r="http://schemas.openxmlformats.org/officeDocument/2006/relationships" id="2147483659" r:id="R62d9d6c2764445aa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019417ef73f4a0e" /><Relationship Type="http://schemas.openxmlformats.org/officeDocument/2006/relationships/notesSlide" Target="/ppt/notesSlides/notesSlide1.xml" Id="R034f60ea6dae405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ab0c03f04714121" /><Relationship Type="http://schemas.openxmlformats.org/officeDocument/2006/relationships/notesSlide" Target="/ppt/notesSlides/notesSlide2.xml" Id="R19dd8d20410e49d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cd5ff7b894e4c60" /><Relationship Type="http://schemas.openxmlformats.org/officeDocument/2006/relationships/notesSlide" Target="/ppt/notesSlides/notesSlide3.xml" Id="R363cb0d665e3453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c059d1ee1dd4a0d" /><Relationship Type="http://schemas.openxmlformats.org/officeDocument/2006/relationships/notesSlide" Target="/ppt/notesSlides/notesSlide4.xml" Id="R1a0889cd571a4bb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3e0febfa605401c" /><Relationship Type="http://schemas.openxmlformats.org/officeDocument/2006/relationships/notesSlide" Target="/ppt/notesSlides/notesSlide5.xml" Id="R10bc4bcc15d24da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97e34e711b343e1" /><Relationship Type="http://schemas.openxmlformats.org/officeDocument/2006/relationships/notesSlide" Target="/ppt/notesSlides/notesSlide6.xml" Id="R89f5d48bd8254a8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1792b848a904720" /><Relationship Type="http://schemas.openxmlformats.org/officeDocument/2006/relationships/notesSlide" Target="/ppt/notesSlides/notesSlide7.xml" Id="Rc4849d0164a34c9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080d5622e394afe" /><Relationship Type="http://schemas.openxmlformats.org/officeDocument/2006/relationships/notesSlide" Target="/ppt/notesSlides/notesSlide8.xml" Id="R0b093da71629435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91e2687900e4d52" /><Relationship Type="http://schemas.openxmlformats.org/officeDocument/2006/relationships/notesSlide" Target="/ppt/notesSlides/notesSlide9.xml" Id="Rb5c13a9b963b465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520a4a75c4a4e18" /><Relationship Type="http://schemas.openxmlformats.org/officeDocument/2006/relationships/notesSlide" Target="/ppt/notesSlides/notesSlide10.xml" Id="R8b72d9bbe897498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054cf81ed094891" /><Relationship Type="http://schemas.openxmlformats.org/officeDocument/2006/relationships/notesSlide" Target="/ppt/notesSlides/notesSlide11.xml" Id="R8ff115497e77469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e7d5d9973444438" /><Relationship Type="http://schemas.openxmlformats.org/officeDocument/2006/relationships/notesSlide" Target="/ppt/notesSlides/notesSlide12.xml" Id="R8f01a327c5d7474c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983a1e763e94de5" /><Relationship Type="http://schemas.openxmlformats.org/officeDocument/2006/relationships/notesSlide" Target="/ppt/notesSlides/notesSlide13.xml" Id="R17aa571f6cef443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d8345de183c467a" /><Relationship Type="http://schemas.openxmlformats.org/officeDocument/2006/relationships/notesSlide" Target="/ppt/notesSlides/notesSlide14.xml" Id="R8d707ab49e7b42b2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c8e2c97d9564688" /><Relationship Type="http://schemas.openxmlformats.org/officeDocument/2006/relationships/notesSlide" Target="/ppt/notesSlides/notesSlide15.xml" Id="R5e11fb132f0b4a73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6ff7ca66cba441f" /><Relationship Type="http://schemas.openxmlformats.org/officeDocument/2006/relationships/notesSlide" Target="/ppt/notesSlides/notesSlide16.xml" Id="R3373886534c64a14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e8241eda9d6425b" /><Relationship Type="http://schemas.openxmlformats.org/officeDocument/2006/relationships/notesSlide" Target="/ppt/notesSlides/notesSlide17.xml" Id="R0271cbeb6d4649b6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e681717d04649b0" /><Relationship Type="http://schemas.openxmlformats.org/officeDocument/2006/relationships/notesSlide" Target="/ppt/notesSlides/notesSlide18.xml" Id="R27fb7148a74345dc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cf55622b34c4887" /><Relationship Type="http://schemas.openxmlformats.org/officeDocument/2006/relationships/notesSlide" Target="/ppt/notesSlides/notesSlide19.xml" Id="R56a34e4fd64641f9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0104b894ddc4070" /><Relationship Type="http://schemas.openxmlformats.org/officeDocument/2006/relationships/notesSlide" Target="/ppt/notesSlides/notesSlide20.xml" Id="Rab6fdcaf3a9c46c4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3a8d68b2bd14c14" /><Relationship Type="http://schemas.openxmlformats.org/officeDocument/2006/relationships/notesSlide" Target="/ppt/notesSlides/notesSlide21.xml" Id="R65cbe5ef68a44640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2f8c4e01eac4784" /><Relationship Type="http://schemas.openxmlformats.org/officeDocument/2006/relationships/notesSlide" Target="/ppt/notesSlides/notesSlide22.xml" Id="Rffb7a4328c2b4176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2041673f5ab4819" /><Relationship Type="http://schemas.openxmlformats.org/officeDocument/2006/relationships/notesSlide" Target="/ppt/notesSlides/notesSlide23.xml" Id="R88c33676a6974960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c6519fc1eb0429b" /><Relationship Type="http://schemas.openxmlformats.org/officeDocument/2006/relationships/notesSlide" Target="/ppt/notesSlides/notesSlide24.xml" Id="R1a56bb09da8d4ea5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34e365939ae4ef9" /><Relationship Type="http://schemas.openxmlformats.org/officeDocument/2006/relationships/notesSlide" Target="/ppt/notesSlides/notesSlide25.xml" Id="Re927a039fd8d49c5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71e2092b77b4d10" /><Relationship Type="http://schemas.openxmlformats.org/officeDocument/2006/relationships/notesSlide" Target="/ppt/notesSlides/notesSlide26.xml" Id="R4b61b4da28f24dbb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e2b4b604a574300" /><Relationship Type="http://schemas.openxmlformats.org/officeDocument/2006/relationships/notesSlide" Target="/ppt/notesSlides/notesSlide27.xml" Id="R25f48f75245d4786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120f7d5a1534304" /><Relationship Type="http://schemas.openxmlformats.org/officeDocument/2006/relationships/notesSlide" Target="/ppt/notesSlides/notesSlide28.xml" Id="Rba7219608cbe4ffd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dfb90ca627a4d05" /><Relationship Type="http://schemas.openxmlformats.org/officeDocument/2006/relationships/notesSlide" Target="/ppt/notesSlides/notesSlide29.xml" Id="Rdd3c01e916484473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d0041b08dba4265" /><Relationship Type="http://schemas.openxmlformats.org/officeDocument/2006/relationships/notesSlide" Target="/ppt/notesSlides/notesSlide30.xml" Id="R4e1b7100ce234a0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310FDC1-83F6-4DF2-B6E0-2BF548FEE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66928"/>
            <a:ext cx="10972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99CA740-E2EF-4E1C-B045-3C9567A04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144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PIXAN · JULKINEN EVIDENSSIPAKETTI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B3EF6704-DB31-4AD5-A9E5-EE102D5DD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389888"/>
            <a:ext cx="736092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Patentista pankkikelpoiseksi
todistelupaketiksi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55429B4F-D364-4038-A8D9-31A687A86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703320"/>
            <a:ext cx="70408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C6D8E2"/>
                </a:solidFill>
                <a:latin typeface="Aptos"/>
                <a:ea typeface="Aptos"/>
                <a:cs typeface="Aptos"/>
              </a:rPr>
              <a:t>Laaja 30 dian tutkija- ja rahoituspäätöspaketti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32B1B3D5-468E-4EF1-B9CB-BC5D8D6B0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0"/>
            <a:ext cx="391363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F31B0A9-4BD2-464D-8E7F-5E031C279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1430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Aineiston tila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541064B-CA92-49FF-83C8-D6F8C1E34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700784"/>
            <a:ext cx="2880360" cy="515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9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2026.07.26-25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C4410A8-3E20-4417-B4AC-0CE932AE2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359152"/>
            <a:ext cx="2788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Päivitetty 2026-07-26</a:t>
            </a:r>
            <a:b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</a:b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30 diaa · suomeksi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C100B9B-1483-4840-86C6-E0AC9F39E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22191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B8DFE2"/>
                </a:solidFill>
                <a:latin typeface="Aptos"/>
                <a:ea typeface="Aptos"/>
                <a:cs typeface="Aptos"/>
              </a:rPr>
              <a:t>Lähtökohta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2B1BBC79-1932-4684-8721-8AE8152D9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4251960"/>
            <a:ext cx="278892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Vahvistettu näyttö erotetaan tuetusta tiedosta, oletuksista ja puuttuvasta näytöstä.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CCAE7E0-AD3D-462F-9394-6AA0A3380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54496"/>
            <a:ext cx="7040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Ei Pixan Oy:n virallinen kanta · ei arvo-, sijoitus-, laina- tai oikeudellinen lausunto</a:t>
            </a:r>
          </a:p>
        </p:txBody>
      </p:sp>
    </p:spTree>
    <p:extLst>
      <p:ext uri="{BB962C8B-B14F-4D97-AF65-F5344CB8AC3E}">
        <p14:creationId xmlns:p14="http://schemas.microsoft.com/office/powerpoint/2010/main" val="1797505075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79B1A0F-6198-4977-8A05-797B7CD2D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RAHOITUSTEESI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2655687-1C8A-43E2-9434-2F52422B9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Rahoitettavuus on mahdollisuus, ei johtopäätös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538118B-346D-4D44-91C0-8512B143E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DB0B711-857C-4F0F-BAD0-533DEE37B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A11A234-91CB-48CA-BB38-60E98DCE3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2026.07.26-25 · 2026-07-26 · Lähteet: EPO; Saksa — viralliset tuomiot;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F78F5C65-239B-4AB6-BC09-5CEAD121C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D95C16D-3D09-4A7D-BA73-7776F67BF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Viralliset patentti- ja oikeuslähteet oikeuttavat jatkodiligencen; ne eivät vielä osoita vakuusarvoa tai takaisinmaksua.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9919C76-99C3-4683-B89A-C96CD6927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EPO:n muutettu EP3032975B2 ja Saksan kaksi virallista ratkaisua muodostavat oikeusnäytön ankkurin.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Uuden-Seelannin toistettava AIS/AVP-summa on 274 180 410,21 NZD; maa läpäisee 7/10, mutta D5 hylätään sekä D8 ja D10 ovat avoimia. Donor-portti pysyy 0/3:ssa.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Rahoitusrakenne tarvitsee kansalliset oikeudet, claim-mapped sales -sillan, kassavirran ja riippumattoman arvonmäärityksen.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6F6C9663-8C7D-4C4B-B113-4DB2D31DC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0EB0E402-8517-4E35-A5D1-29EB977BF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Suositus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A8ACA9D2-A73F-4F31-9308-282ADAE79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Avaa 90 päivän ehdollinen diligence, ei lopullista luottopäätöstä.</a:t>
            </a:r>
          </a:p>
        </p:txBody>
      </p:sp>
    </p:spTree>
    <p:extLst>
      <p:ext uri="{BB962C8B-B14F-4D97-AF65-F5344CB8AC3E}">
        <p14:creationId xmlns:p14="http://schemas.microsoft.com/office/powerpoint/2010/main" val="607807165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EBEDD4B-AE29-4B28-85A8-71F4A3C69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RAHOITUSTEESI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B205396-6500-4411-B634-23A8EC986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Kolme perustetta jatkaa — ja kolme rajaa olla kiirehtimättä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7ADE0CA0-8789-4052-A0D0-195915971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0A84900-78C6-4201-9454-5EBD2C26A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C82E7DE-2380-4582-9BAA-D1F2B515B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2026.07.26-25 · 2026-07-26 · Lähteet: EPO;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35693D32-ADE2-404F-89A7-F763FCDA7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0071"/>
                <a:gridCol w="4154944"/>
                <a:gridCol w="4154944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Vahva signaali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Mitä se tukee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Mitä se ei todista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EPO:n keskitetty riitautus päättyi patentin pysyttämiseen muutettuna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Dokumentoitu patenttiydin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Kansallinen voimassaolo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Mitätöintikanne hylättiin; valitus vireillä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Pätevyyden kansallinen signaali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Lainvoima tai globaali pätevyys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Tarkasteltujen tuotteiden todettiin loukkaavan patenttia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Tuote- ja claim-kohtainen signaali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Muu tuote, maa tai maksettu korvaus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6535CBA-207B-48BC-A638-3D998B377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Pankin tulee hinnoitella vain se osa näytöstä, jonka omistus, toteutettavuus ja kassavirta on vahvistettu.</a:t>
            </a:r>
          </a:p>
        </p:txBody>
      </p:sp>
    </p:spTree>
    <p:extLst>
      <p:ext uri="{BB962C8B-B14F-4D97-AF65-F5344CB8AC3E}">
        <p14:creationId xmlns:p14="http://schemas.microsoft.com/office/powerpoint/2010/main" val="15523470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065B70D-FA7D-4509-9163-21DF0894B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ONGELMA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B496351-6E93-4E14-9114-F613702A4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Todennusketju katkeaa ennen kassavirtaa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758F2662-8662-4816-94EF-77B1488DC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3716A9E-CB85-464E-A86E-BD1A2A017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8D76A4C-B3A2-4EAF-AF0A-1ED5C1959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2026.07.26-25 · 2026-07-26 · Lähteet: Evidence Register;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731FC0B3-198A-44B2-95EC-9833C7D2A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218A7409-F0DC-4258-A6E0-16AE73516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Patentti → voimassa oleva maaoikeus → relevantti tuote → relevantti myynti → sopimus tai tuomio → maksu → velanhoito.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D99AEBB-E31D-4C98-8E5B-87D022BEE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Ketjun alku on osin vahvistettu virallisilla lähteillä.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Tuote- ja myyntikytkentä on vahvistettu vain rajatusti: Saksa, 7 O 3341/24.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Sopimus-, maksu-, yhtiötalous- ja vakuusarvonäyttö puuttuu julkisesta paketista.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AC2FCE06-8286-42A5-BB29-62C88E06F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BDA3ACCF-9FC7-45E3-84EA-D9C46D40C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Luottoriski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5B81565B-E5F3-497D-AE77-3AD7B57FC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Yksi vahvistamaton lenkki voi muuttaa nimellisen markkina-arvon nollaksi realisoitavassa downside-skenaariossa.</a:t>
            </a:r>
          </a:p>
        </p:txBody>
      </p:sp>
    </p:spTree>
    <p:extLst>
      <p:ext uri="{BB962C8B-B14F-4D97-AF65-F5344CB8AC3E}">
        <p14:creationId xmlns:p14="http://schemas.microsoft.com/office/powerpoint/2010/main" val="803437316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0B1E7BE-AF83-423E-B786-7A0D45CA5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RATKAISU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20849E1-C040-4017-951D-7C85A3A66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Patentoitu ratkaisu ohjaa tehoa resistanssitiedolla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635C310-13A8-43B6-AE64-C9EA3FF14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318027B-2423-4D95-A639-2D047788B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B691696-71DA-4A04-AD3A-50A13E38E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2026.07.26-25 · 2026-07-26 · Lähteet: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23F623E-6E16-424F-B57F-7ACFC53AD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953E0990-AAE3-4603-8E0D-5EB81968C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6276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Julkaistu patenttiselitys koskee sähkökäyttöisen höyrystimen ohjausta mittaamalla lämmityselementin resistanssi, valitsemalla sitä vastaava teho tallennetusta tiedosta ja ohjaamalla lämmittimelle syötettävää tehoa määritellyissä käyttäjäsäädön rajoissa.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BCF75D2-9E94-4597-9FD7-46031614B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419856"/>
            <a:ext cx="6629400" cy="2478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Mittaus: lämmityselementin resistanssi.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Tieto: tallennetut resistanssi–tehoarvot.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Ohjaus: lämmittimelle syötetty teho ja käyttäjäsäädön rajat.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AE0313DE-B375-4701-AC0F-74AA6998C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11C57C03-C76A-4045-9DB0-08055AD7A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Tulkintaraja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5186A594-ADC8-47E2-824B-F1A28DB1C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Yleiskielinen kuvaus ei korvaa maakohtaista claim constructionia tai tuotekohtaista vaatimusanalyysiä.</a:t>
            </a:r>
          </a:p>
        </p:txBody>
      </p:sp>
    </p:spTree>
    <p:extLst>
      <p:ext uri="{BB962C8B-B14F-4D97-AF65-F5344CB8AC3E}">
        <p14:creationId xmlns:p14="http://schemas.microsoft.com/office/powerpoint/2010/main" val="141715549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12ED31D-A614-4359-B3CE-3AD0061F1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PATENTTI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6E50B83-CD25-43F5-9D09-1D50BFF65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B2-tekstin yhdeksän vaatimusta ovat arvioinnin lähtöpiste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C8C8C7C-8A2F-4C0F-BA23-14A96A860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3E4E690-9F3E-47FD-9AE1-57C2117C1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0E203AD-736A-4D3B-BAC6-360DC81E1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2026.07.26-25 · 2026-07-26 · Lähteet: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1AFAAB5-FACD-4E89-9D24-7B0C7E781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2313"/>
                <a:gridCol w="5852568"/>
                <a:gridCol w="3075078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Elementti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Julkinen kuvaus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Diligence-testi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Ohjain / menetelmä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Sähköisen höyrystimen hallinta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Mikä tuoteversio ja maa?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Resistanssin mittaus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Lämmityselementin resistanssi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Miten ja milloin mitataan?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Tallennetut arvot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Resistanssi–teho-kytkentä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Missä data sijaitsee?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Ei-proportionaalisuus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Tehosuhteen määritelty luonne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Täyttyykö vaatimuspiirre?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Säätörajat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Minimi ja tallennettu maksimi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Miten käyttöliittymä toteuttaa rajat?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507C649-CFA8-4CB7-89A9-DA45965AB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Jokainen vaatimuspiirre on osoitettava todisteella; ominaisuusluettelo ei yksin riitä.</a:t>
            </a:r>
          </a:p>
        </p:txBody>
      </p:sp>
    </p:spTree>
    <p:extLst>
      <p:ext uri="{BB962C8B-B14F-4D97-AF65-F5344CB8AC3E}">
        <p14:creationId xmlns:p14="http://schemas.microsoft.com/office/powerpoint/2010/main" val="675217951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F905C42-6918-46BC-AA5B-329BE8510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PATENTTI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E251FE8-0282-49B4-8CB5-B9A6E55E8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IP-historian ydintapahtumat ovat jäljitettävissä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AF98725-8E48-4DD1-A5B2-59EB47634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FD1E0D7-A8BA-4FFA-B1DE-F486B9D9F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66F37BB-2F0E-489C-A05C-398BE35DE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2026.07.26-25 · 2026-07-26 · Lähteet: EPO Register; 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38B7711-C777-4C35-99BE-3F905A0B9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8A6A7851-4BBE-4286-8064-CCE5AD59F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A1792419-9EF5-4D65-8A16-BD620722B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14.8.2013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D4B86C61-1B29-4F5B-8CCE-D3B64ACB9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varhaisin prioriteetti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42164269-836B-49FF-8D8E-7C7F02069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ED3FA3BB-8980-424F-90B0-DDFE3D2E7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24.4.2024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CD0C8866-B217-4058-AE72-D8C581D57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B2-julkaisu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C9C5D293-65AB-4148-9F6B-7CC6794F4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7B5A28A3-DAC0-4184-8C97-1C4F1C427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879C4515-0EF0-446D-A85A-F5B2957B9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muutettua vaatimusta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BBC96263-E88B-413F-9114-BFA5A0C30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EPO:n keskitetty väite- ja valitusmenettely päättynyt; kansallinen myöntämisen jälkeinen tila on erillinen.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99BAD7D2-B1CB-4954-A0E3-189051AEE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BDB72582-A850-4708-97DA-4BC8CCFF0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C43CC119-4F0B-4D76-8309-437703695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Kansalliset post-grant-oikeudet elävät erillään EPO:n keskusmenettelystä.</a:t>
            </a:r>
          </a:p>
        </p:txBody>
      </p:sp>
    </p:spTree>
    <p:extLst>
      <p:ext uri="{BB962C8B-B14F-4D97-AF65-F5344CB8AC3E}">
        <p14:creationId xmlns:p14="http://schemas.microsoft.com/office/powerpoint/2010/main" val="2124354236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E686CC2-4B88-4FF8-806E-1278CBB63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MAANTIETEELLINEN KATTAVUUS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FDEB54E-A1EC-4788-AC17-C50A7DEA6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Patenttiperhe: 22 julkaisua, maapeitto avoin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D5BEF54-8B06-4CB3-9844-C81C9B1BB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F49008C-8233-4884-BC01-32A928DB6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048BB2C-A364-4AC7-BA0D-46455F411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2026.07.26-25 · 2026-07-26 · Lähteet: EPO family; kansalliset rekisterit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1A49AE3-40F4-43F1-90B3-256C529AB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2C2F427F-9D30-4917-9430-305438200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9FD1BEB-DB12-40BD-A898-AD6E976F3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B6768DD6-3891-4010-9E2D-126B29968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perhejulkaisutietuetta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403E2E90-F1EA-4113-AE2A-768AF2719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C9A5CA51-08F9-4608-BE88-CC935DC05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E9B4AC1F-C252-4026-8A27-5FA2CC51F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tunnistettua menettelyä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FC0219BA-8F06-40E5-BF5D-67D5BBB3F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9E2431F1-88CF-446E-920A-459084053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58B12E90-F5B0-41F7-AB5C-86351CF96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virallista kansallista rekisteritarkistusta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4FF620EE-7F06-44CB-B358-B6BB5E9BE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B7973965-D926-43C6-9403-34A8C9AC8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?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AE358674-39A1-46A3-AB05-1AC5BE901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täytäntöönpanokelpoista maata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510A3F59-CE9A-44B8-985B-52F6A7B87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Julkaisureitti on kartta, ei omistus- tai voimassaolotodistus.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74D91860-F3C9-4C74-866B-AAEA42797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16312A96-C5D1-4568-A009-0B964DA77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E1FED147-4534-47B7-8559-218890288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Asiamiehen maamatriisin tulee sisältää haltija, operative claims, vuosimaksu, kuitti, rasitteet, UPC-asema ja seuraava määräpäivä.</a:t>
            </a:r>
          </a:p>
        </p:txBody>
      </p:sp>
    </p:spTree>
    <p:extLst>
      <p:ext uri="{BB962C8B-B14F-4D97-AF65-F5344CB8AC3E}">
        <p14:creationId xmlns:p14="http://schemas.microsoft.com/office/powerpoint/2010/main" val="215681204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6903CAB-4F2B-4320-B744-C7021BFE7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OIKEUDELLINEN NÄYTTÖ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6EFF595-1EE7-4D41-B096-7FF4A46CD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Saksan ratkaisut ovat vahvaa näyttöä tarkasti rajatussa kehyksessä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DCF9D87-C781-4DDC-A7A9-C2133916A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5C3B636-0D83-4E73-81B1-6B9A25DC8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F921ADF-2751-4EE9-8D77-C68E0D727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2026.07.26-25 · 2026-07-26 · Lähteet: Viralliset tuomiot: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1BB1275-EF01-4D9F-9791-3517F5899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6604"/>
                <a:gridCol w="3589371"/>
                <a:gridCol w="4443984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Viite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Virallinen tapahtuma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Rajaus ja lopullisuus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67792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8 Ni 18/24 (EP)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Mitätöintikanne hylättiin; valitus vireillä (14.1.2026)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Virallinen tuomio hylkäsi EP3032975B2:n Saksan osaa koskevan mitättömyyskanteen. Virallinen rekisteri mainitsee valituksen liittovaltion ylimpään tuomioistuimeen asianumerolla X ZR 21/26. Ei lainvoimainen BGH-valituksen ollessa vireillä.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67792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7 O 3341/24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Tarkasteltujen tuotteiden todettiin loukkaavan patenttia (2.4.2026)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Virallinen tuomio katsoi tarkasteltujen tuotteiden loukkaavan vaatimuksia 1 ja 6 välittömästi ja täydentävien osien osalta välillisesti sekä määräsi tuomiossa luetellut oikeusseuraamukset. Virallinen tuomio on saatavilla; valitustilaa, lainvoimaisuutta ja täytäntöönpanoa ei ole tässä julkaisussa riippumattomasti vahvistettu.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51C1444-D855-4FF9-854C-9934CB1D8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Saksan näyttö ei automaattisesti siirry toiseen tuotteeseen, vastapuoleen tai valtioon.</a:t>
            </a:r>
          </a:p>
        </p:txBody>
      </p:sp>
    </p:spTree>
    <p:extLst>
      <p:ext uri="{BB962C8B-B14F-4D97-AF65-F5344CB8AC3E}">
        <p14:creationId xmlns:p14="http://schemas.microsoft.com/office/powerpoint/2010/main" val="648246185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A7D6FE2-5682-4966-ACFD-6F1F11BD3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OIKEUDELLINEN NÄYTTÖ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7AF3E9B-8735-47FE-A071-72C9C2B43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Kiinan asia ei ole loukkausvoitto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80B9B8A-2052-497D-8DFC-C9B5D6AA8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E85AC53-4B53-43AC-A13E-C844909DE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E2A1C55-4CAA-441E-8040-16B9BE2DC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2026.07.26-25 · 2026-07-26 · Lähteet: RPX; CNIPA guidance; EPO family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0CA871A-66B5-4C19-8F04-962986C20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7BC4671B-1E23-4E69-8346-26606F093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0241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Julkinen sekundäärinen docket-tieto viittaa hylätyn hakemuksen hakijapuolen uudelleentarkastukseen.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A29283A-E569-4295-8FD9-E5BC2FC29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Menettely luokitellaan review request -asiaksi.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Virallista päätöstä ja tarkkoja perusteluja ei saatu julkiseen pakettiin.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CN105764365B julkaistiin myöhemmin myönnettynä 4.5.2021.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AAC440DF-0AEF-4C34-9B76-5A4CC98AF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24AD12DB-6C6F-401C-850C-00D89A57F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Käyttöraja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EB620416-46BF-44CD-AF01-AABB17D39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Asiaa ei saa kuvata Kiinan loukkausoikeudenkäynniksi, vastapuolen mitätöintiasiaksi tai kassavirtanäytöksi.</a:t>
            </a:r>
          </a:p>
        </p:txBody>
      </p:sp>
    </p:spTree>
    <p:extLst>
      <p:ext uri="{BB962C8B-B14F-4D97-AF65-F5344CB8AC3E}">
        <p14:creationId xmlns:p14="http://schemas.microsoft.com/office/powerpoint/2010/main" val="10210789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35E5D0E-1775-4DB8-A00D-68EE361BE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RISKIT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8043527-6496-47C4-8AD4-26A71C882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Neljä ajankohtaista IP-hälytystä vaatii dokumentoidun omistajan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4F5CB64-41DA-49C0-A70B-4050862DB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5794D39-015D-4C14-8ECD-7AAFA566C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4C75BDA-3447-46E8-8A57-25219E795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2026.07.26-25 · 2026-07-26 · Lähteet: IP Australia; PRH; EPO; EPO / UPC; USPTO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0ADE59A-5F02-4F01-B6B9-ACE611BAF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8600"/>
                <a:gridCol w="1932166"/>
                <a:gridCol w="6859192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Maa / alue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Päivä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Toimi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Australia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14.8.2026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Vahvista Australian seuraava uusiminen heti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Suomi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31.8.2026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Suomen 14. vuosimaksu erääntyy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Eurooppa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7.8.2026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Täsmäytä jokainen eurooppalainen kansallinen oikeus ennen maksukierrosta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Yhdysvallat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4.12.2026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Vahvista ja hoida Yhdysvaltain 7,5 vuoden ylläpitomaksu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7B5E7B7-FB43-4306-B732-48666202E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Määräpäivävalvonta on vakuusarvon operatiivinen kontrolli, ei hallinnollinen sivuseikka.</a:t>
            </a:r>
          </a:p>
        </p:txBody>
      </p:sp>
    </p:spTree>
    <p:extLst>
      <p:ext uri="{BB962C8B-B14F-4D97-AF65-F5344CB8AC3E}">
        <p14:creationId xmlns:p14="http://schemas.microsoft.com/office/powerpoint/2010/main" val="125939086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0EE6D36-A4BE-456F-BAF8-D937F277E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MARKKINA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D6D80AE-B8B7-4D8B-A2EE-ED694817B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Atlas kattaa 195 maata; ei markkina-arvoa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B8AFA3B-0781-4C2C-84D6-0999EF0BA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DF5C8E8-F299-4446-9125-FDF398E5A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EC675D5-765F-4827-9929-9467988DD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2026.07.26-25 · 2026-07-26 · Lähteet: UN; Atlas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021DA3F-5B72-4824-B026-EEDD5BCE1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8E820834-8F05-487B-B375-94C964C6F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2458E08-74DF-4D36-934D-6D3C43995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EEA47CCD-CCFD-40FE-AFF9-798CD957B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A-luokan maata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BC475451-2768-4985-8B4B-C9031927B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51F148B-74BF-4B88-A2F9-50BC8A41E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33860CC5-DACE-4083-9B50-491AFA736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B-luokan maata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F059F55C-A83C-47E0-80CD-8FB5AC463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8CDC340-958D-4C8E-9A4D-AB2477D16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8063D71C-B267-4D20-8A5C-B4C1456C0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C-luokan maata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E74A8F87-8D04-4C1F-BABA-156BBA629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FA43A3BC-23FE-43AE-B629-465112CA1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158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6490EEF6-7DA5-4D92-8535-1831EFB59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D-luokan maata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5A3510E1-4672-4F12-9C3C-0F7CE4674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37 evidenssimerkintää; universumin YK-osuus on 193 jäsenvaltiota.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2960DAF5-7BD6-4E54-A12D-5B0700404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FE75279D-9265-4146-B923-3AB07A940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FF7D3369-C517-47BE-B30A-46E5B4002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Luokat A–D kuvaavat evidenssikypsyyttä, eivät markkinan kokoa tai kaupallista houkuttelevuutta.</a:t>
            </a:r>
          </a:p>
        </p:txBody>
      </p:sp>
    </p:spTree>
    <p:extLst>
      <p:ext uri="{BB962C8B-B14F-4D97-AF65-F5344CB8AC3E}">
        <p14:creationId xmlns:p14="http://schemas.microsoft.com/office/powerpoint/2010/main" val="1820330293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5227FBB-FC93-4596-B61F-EBCD962C1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MARKKINA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16F9C71-75BE-4AAA-9B3C-2315D9075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9875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34 markkinamittaria + 36 Ruotsin FHM-rekisterilukua (ei myyntiä)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E708DC1-B22A-47DC-832E-D13F59332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65E1904-8D2A-41D6-9029-BCA36D555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82C554A-8A49-4266-A30D-048B7ECED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2026.07.26-25 · 2026-07-26 · Lähteet: Statistics Canada; Health Canada; New Zealand Ministry of Health; Destatis; Vero; Sejm; FHM; FTC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F6C7EF5A-BBC3-4AED-88B6-E00E20321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60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1328"/>
                <a:gridCol w="1944243"/>
                <a:gridCol w="768438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Maa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Vuosi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Virallinen havainto / tuettu malli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Kanada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2019–2025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StatsCan retail 2024: 1,219160 mrd CAD (≈822,6 milj. EUR; ECB 2024) / 822,58 milj. EUR; kuukausireitti +1 000 CAD. Kanada 7/10; D5, D7 ja D10 avoimia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Saksa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2023–2025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1,241 milj. l → 1,518 milj. l verotettua nestettä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Suomi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11 801,062 l; 3,54 milj. EUR valmisteveroa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Uusi-Seelanti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2022–2024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tunnistettu AIS/AVP-vaping-summa 274,180 milj. NZD (≈153,3 milj. EUR; ECB 2024); kulutustarvikkeet 189,402 + laitteet/hardware 84,709 + sekajärjestelmät 0,069 milj. NZD. NZ 7/10; D5 hylätty, D8/D10 avoinna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Puola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 / 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805 441 l; 993,1 milj. PLN valmisteveroa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Yhdysvallat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2015–2021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FTC: suljettujen järjestelmien ja kertakäyttötuotteiden raportoitu myynti 2,763 mrd USD (≈2,336 mrd EUR; ECB 2021) vuonna 2021; valmistajaraportointia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DF4F106-EA4B-458B-B446-DDB048C7A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Litroja, toimitusarvoja ja valmisteveroja ei summata yhdeksi markkinaksi.</a:t>
            </a:r>
          </a:p>
        </p:txBody>
      </p:sp>
    </p:spTree>
    <p:extLst>
      <p:ext uri="{BB962C8B-B14F-4D97-AF65-F5344CB8AC3E}">
        <p14:creationId xmlns:p14="http://schemas.microsoft.com/office/powerpoint/2010/main" val="1594477296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3063186-0F60-4A7B-80A1-B36B43884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KANADA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3B54F8B-7E1C-425C-B31B-F2864726A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Kanada 2024: vahva piste-estimaatti, 7/10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6424C91-5175-445B-B165-E2D8CA07E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33D052C-7384-455D-BDFA-B855DA3EB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81FD478-9724-4E22-947A-F865E675C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2026.07.26-25 · 2026-07-26 · Lähteet: Statistics Canada; Health Canada 2024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845117B-4368-4846-96E4-51AC391B8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2A73D13D-D25F-408D-A5A1-BFFF12515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86B19E0-910F-4489-81EB-FBA0F2E5C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1,219160 mrd CAD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975C1385-2BDE-469E-8AB1-E6DDA3A57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kuluttajavähittäismyynti · ≈822,6 milj. EUR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E33C3EDA-80E1-4798-8379-75E8A0A8C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7896992-2EB1-40CE-A747-39B3BAA7F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1,160754 mrd CAD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BF0D3A7F-68D2-424C-BACD-AA0857AE3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toimitukset · ≈783,2 milj. EUR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030614F7-1B4F-4C5A-B76B-78C3ADDC9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68EC49-015D-4D72-B06A-66A4BCB94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1 000 CAD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390DBE64-267E-43B9-87D3-B248829A9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kuukausi–kvartaali-ero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311F9100-8FAD-4BC3-9659-88CE616B7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Retail ylittää toimitukset 58,406 milj. CAD (+5,03 %), mutta jäännös ei ole kate tai markkinahaarukka. D8 on suljettu virallisella veroperustalla.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99D30240-3FC3-4B76-99D2-12DC4ED0F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1A9F35E5-F36F-4B94-A204-9454245B7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E7E04E6F-E809-4F18-84A3-0F0EDE6C1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Kanada läpäisee 7/10. D5: NAICS 459993/459999 -peitto. D7: tarkka vuositason virheraja puuttuu. D10: eri tapahtumatasojen silta on täsmäyttämättä.</a:t>
            </a:r>
          </a:p>
        </p:txBody>
      </p:sp>
    </p:spTree>
    <p:extLst>
      <p:ext uri="{BB962C8B-B14F-4D97-AF65-F5344CB8AC3E}">
        <p14:creationId xmlns:p14="http://schemas.microsoft.com/office/powerpoint/2010/main" val="699025715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0688A44-045B-484C-9C40-276DD0328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SAKSA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7B895F6-66E2-4BE5-B312-3BBD00222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Saksan virallinen nestemäärä kasvoi, mutta arvo vaatii hintaoletuksen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9807A64-E501-4DFA-960B-494673ECD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4384ADF-79B9-4303-845B-6BA322324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ACC3696-8DD6-49DC-9327-62D488C6A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2026.07.26-25 · 2026-07-26 · Lähteet: Destatis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3E98479-3D7A-43EE-8D6D-26D4FD772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571"/>
                <a:gridCol w="3362224"/>
                <a:gridCol w="3069857"/>
                <a:gridCol w="2631306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Vuosi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Verotettu neste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Valmistevero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Lopullisuus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1,241 milj. 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201 milj. EUR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Lopullinen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1,284 milj. 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266 milj. EUR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Lopullinen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1,518 milj. 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404 milj. EUR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Alustava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43526D8-1661-45B9-B8E9-4349599B5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Verotettu nestemäärä ei sisällä laitteita, verotonta tai laitonta kauppaa eikä ole retail-arvo.</a:t>
            </a:r>
          </a:p>
        </p:txBody>
      </p:sp>
    </p:spTree>
    <p:extLst>
      <p:ext uri="{BB962C8B-B14F-4D97-AF65-F5344CB8AC3E}">
        <p14:creationId xmlns:p14="http://schemas.microsoft.com/office/powerpoint/2010/main" val="782471855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CB47731-C9F7-4487-9A8D-F2907CC27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MALLINNUS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D9BD281-F884-4B4D-B8C5-FA2F5CE40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Saksan malli näyttää herkkyyden, ei myyntiä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51C9098-0D80-4E64-8D39-722A9ED37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19FB9099-EBCD-4D2D-8B77-1685C81A7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4651B89-2F5C-40D8-A745-7BF39F47B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2026.07.26-25 · 2026-07-26 · Lähteet: Destatis; inTaste.de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471A107-C390-4FAA-8730-4850DF023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7D495667-C193-4D37-9F15-567190330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25859CE-4D01-47F0-9157-C1087C9F6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667,92 milj. EUR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731732D0-2DC4-4BA0-A8D6-BE237C82F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0,44 EUR/ml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A09358A9-97A1-4CCE-9BE2-D823C2E55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91E2C687-87EE-4443-8629-E92F52388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1 199,22 milj. EUR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A716C0F2-0FD4-429F-BE59-4B2209454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0,79 EUR/ml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C68CCCE0-CF88-4C4A-91EF-A8F04D53C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F73D9F42-1454-4AC6-9957-B4055B881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1 654,62 milj. EUR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BBB30F4E-FD34-4ABA-98B2-F8605D378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1,09 EUR/ml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4FC3F3AA-9F53-4626-A3C0-29484380A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Kaava: volume_litres * 1000 * retail_price_eur_per_ml.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16B7396D-BA82-4A42-9FEE-F03158AEF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58E05131-9B36-4442-A978-DBA030838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A4CD7ED3-9A58-49C7-80F8-F0AF30401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Ei havaittua myyntiä. Laskelma käyttää vuoden 2025 alustavaa verotettua nestemäärää ja kolmea verkkokaupan vuoden 2026 hintaa. Rajattu tuotejakauma ja poikkeava ajankohta pitävät luottamustason matalana.</a:t>
            </a:r>
          </a:p>
        </p:txBody>
      </p:sp>
    </p:spTree>
    <p:extLst>
      <p:ext uri="{BB962C8B-B14F-4D97-AF65-F5344CB8AC3E}">
        <p14:creationId xmlns:p14="http://schemas.microsoft.com/office/powerpoint/2010/main" val="1325011347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AAF108F-4B2F-4C5D-9F2B-79D5B9157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GLOBAALI MARKKINA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A5D8A3F-191F-41F7-A8E8-DCA34EC0E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Globaalit arviot ovat ristiintarkistus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6D31E3F-0926-4CA0-8F1D-145BB6914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4CF7262-97A6-404C-B9A3-6459C01CF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DCF9B07-4B54-4679-87A5-B017ECFFE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2026.07.26-25 · 2026-07-26 · Lähteet: IMARC; GVR; Fortune; European Commission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C30D9AC-0BA0-45C2-85B8-47C6EB40E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9A8CD598-F87A-4A55-956E-60DF99F78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F691543-5F62-4CA7-B4BB-91DB65841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26,0 mrd USD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4FD39A8-BE26-4F31-B7F5-79D6C5E3A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IMARC 2025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DB1CFD57-98DC-40FB-AE97-511C4D1F7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AAE039A-D9A0-4DBA-9BD5-D8F2FEE22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45,7 mrd USD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F7D84292-F99F-4336-AFAA-7E9A517CF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GVR 2025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F842D220-18BE-4AE7-BC4C-D1C05DA9B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2C40A668-8BAB-45C0-A10D-31661E195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46,32 mrd USD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861075EB-467F-4087-AC29-C437049A3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Fortune 2025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A9D678FE-2BED-4D2F-A69E-8665E7056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DD5F705A-9F5F-4F54-98F1-84CDC207A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4,99 mrd EUR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5ADC1442-7D32-4F16-93E7-7C6BD2239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EU-komission vertailuarvo 2023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BA152733-9D46-4342-87C3-4B434B1F6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EU:n vertailuarvo tukee mittaluokan ristiintarkistusta; kaupallinen haarukka on leveä, koska tuoterajaukset ja metodit voivat poiketa.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6A720F62-85BF-4D19-A2D8-31748AD43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47D8B76B-EC91-4C9D-B684-1B34DD79B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055FF6E1-EDBD-4833-9882-9221DDF7A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EU-luku perustuu kaupalliseen Euromonitor 2025 -aineistoon; Kypros, Luxemburg ja Malta puuttuvat. Se ei ole kansallinen luovuttajamarkkina. Arvioita verrataan, ei summata tai käytetä automaattisesti rojaltipohjana.</a:t>
            </a:r>
          </a:p>
        </p:txBody>
      </p:sp>
    </p:spTree>
    <p:extLst>
      <p:ext uri="{BB962C8B-B14F-4D97-AF65-F5344CB8AC3E}">
        <p14:creationId xmlns:p14="http://schemas.microsoft.com/office/powerpoint/2010/main" val="1009636792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0D26DF5-1ADA-4FFB-86E8-E2402F0D0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METODI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2828E24-C1DB-4953-9A2F-62C4302E1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Maailmanestimaatti vaatii vähintään 3 donoria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A6A9DD9-C665-40A1-A53C-9B3140BC1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B85B53B-C5B1-4B6B-8B0C-C263C1B68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C113AA4-FAEA-4303-94DD-BE2767A49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2026.07.26-25 · 2026-07-26 · Lähteet: Market-values modelReadiness, donorProtocol ja donorCandidates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31694BFE-F24B-4006-ACA8-836411EB1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551ACF4E-ED52-4290-8F01-6F26A9CB7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1247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Uusi-Seelanti 7/10: D5 hylätty, D8 ja D10 avoinna. Kaikki 5 ehdokasta ovat ulkona; donor-portti 0/3.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DD7A20A-82D0-4FE0-B774-B5A12EF51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Uuden-Seelannin tunnistettu AIS/AVP-summa 274,180 milj. NZD (≈153,3 milj. EUR; ECB 2024) jakautuu kulutustarvikkeisiin 189 402 451,96, laitteisiin/hardwareen 84 709 409,85 ja sekajärjestelmiin 68 548,40 NZD.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Viereiset 2 137 085,24 ja ratkaisemattomat 4 367 017,37 NZD rajataan pois. Maa läpäisee 7/10; D5 hylätään sekä D8 ja D10 ovat avoimia.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Erillinen 533,7–731,2 milj. NZD (≈298,5–408,9 milj. EUR; ECB 2024) RPS-herkkyys on tuettu malli, ei havaittu kansallinen arvo. Donor-portti pysyy 0/3:ssa.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2CBF4C07-2EEC-401B-903A-F81462209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47021D7E-B65E-4C62-AA02-3FE9CB89F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Vasta sitten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EBDC1C9-B275-4F74-8B48-71334B503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Trianguloi kysyntä-, vero-, tulli-, yritys- ja hintamenetelmät. Vertaa tuloksia; älä lisää vaihtoehtoisia arvioita yhteen.</a:t>
            </a:r>
          </a:p>
        </p:txBody>
      </p:sp>
    </p:spTree>
    <p:extLst>
      <p:ext uri="{BB962C8B-B14F-4D97-AF65-F5344CB8AC3E}">
        <p14:creationId xmlns:p14="http://schemas.microsoft.com/office/powerpoint/2010/main" val="1874049849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E698450-72D0-49D3-9C5D-37AB62B95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ARVOSILTA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D712179-0324-4A83-8E52-D2549B084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Markkinan ja patentin väliin tarvitaan viisi läpinäkyvää suodatinta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EF68938-445F-44D1-92F6-33403EE91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1C17290C-8FC5-404B-9DCA-2FCC2B717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E1A8289-60DA-454F-9968-2A5ADC758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2026.07.26-25 · 2026-07-26 · Lähteet: WIPO valuation;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9FDC43A-237D-4838-B862-E8C0136FB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60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0270"/>
                <a:gridCol w="4217670"/>
                <a:gridCol w="4732020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Taso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Suodatin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Näyttö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 Kokonaismarkkina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Tuote- ja mittarirajaus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Osittainen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2. Oikeusalue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Voimassa oleva operative claim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 globaalisti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3. Relevantit tuotteet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chart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Rajattu näyttö: Saksa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4. Relevantti myynti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Tuote × maa × aika × net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5. Kassavirta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Rojalti/sovinto − kulut − verot − viive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8CE29EA-C5EA-487F-9D63-81B67DD25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Vain alimman tason kassavirta voi palvella velkaa; ylempi markkina ei sellaisenaan voi.</a:t>
            </a:r>
          </a:p>
        </p:txBody>
      </p:sp>
    </p:spTree>
    <p:extLst>
      <p:ext uri="{BB962C8B-B14F-4D97-AF65-F5344CB8AC3E}">
        <p14:creationId xmlns:p14="http://schemas.microsoft.com/office/powerpoint/2010/main" val="2114504026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861D29E-1FDC-467F-A332-283F58354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ASIAKKAAT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933513B-CB82-42E6-8BAC-7F657080C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Asiakassegmentit ovat vielä hypoteeseja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3FDD0F7-A335-42F4-A216-50EF095FF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870FCDC-BDD2-4A09-84FA-731C9E90D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E46496E-E158-4676-8B5C-F0720E1BB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2026.07.26-25 · 2026-07-26 · Lähteet: WIPO licensing; IP Finance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33CF353-AE6D-4C83-8513-88B80505F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96FC54F7-3D1E-4806-9391-AA98CE683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0241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Segmentointi johdetaan kaupallistamisreiteistä: valmistajat, teknologiatoimittajat sekä IP-rahoittajat ja ostajat.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22CBFAC-2400-4BB9-8EB3-789575DD9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Valmistajalle arvo voi olla lisenssi, toimintarauha tai sovinto.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Teknologiatoimittajalle arvo voi olla integroitava toiminto tai oikeusasema.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Rahoittajalle arvo on kontrolloitava, realisoitava kassavirta ja downside-suoja.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5A1C7C41-C47C-4BAD-BA03-DB10384A1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85019815-EB72-49B6-9F72-52C2D8229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Validointi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5066E6F6-736D-41DB-90B7-EDD69579A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Dokumentoi 10–15 haastattelua, päätöskriteerit, vastalauseet, budjetti ja seuraava askel. Julkinen aineisto ei vielä sisällä näitä.</a:t>
            </a:r>
          </a:p>
        </p:txBody>
      </p:sp>
    </p:spTree>
    <p:extLst>
      <p:ext uri="{BB962C8B-B14F-4D97-AF65-F5344CB8AC3E}">
        <p14:creationId xmlns:p14="http://schemas.microsoft.com/office/powerpoint/2010/main" val="1375912582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830E86D-9427-475C-A303-89B7F4A31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KILPAILU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ED682DA-A9CC-4363-A486-1CCFA67D0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Kilpailukartta on rakennettava neljälle rinnakkaiselle tasolle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7564C75-E3E1-45DC-BAD7-98CBC4BEE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9BF99CA-9B57-4CE0-ACAB-553B92DE1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81DE7B9-A5F2-496B-BBAE-39D1864A4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2026.07.26-25 · 2026-07-26 · Lähteet: Evidence Register; EPO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98F5A7A-FFE2-4B24-85F5-213BA189D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5452109"/>
                <a:gridCol w="360044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Taso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Analyysi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Tuotos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Tuotteet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Toiminto, arkkitehtuuri, hinta, markkina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Vertailumatriisi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Patentit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Claims, prior art, status, FTO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Patenttilandscape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Kiertoratkaisut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Voiko suorituskyvyn toteuttaa eri tavalla?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Design-around-arvio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Kaupallinen vaihtoehto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Lisenssi, hankinta, oma kehitys, riitely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Buy/build/license/litigate-malli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00731C3-6578-4C84-AEAE-D4B637F4E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Tekninen etu ei ole uskottava ennen kuin vaihtoehdot on kuvattu ja lähteistetty.</a:t>
            </a:r>
          </a:p>
        </p:txBody>
      </p:sp>
    </p:spTree>
    <p:extLst>
      <p:ext uri="{BB962C8B-B14F-4D97-AF65-F5344CB8AC3E}">
        <p14:creationId xmlns:p14="http://schemas.microsoft.com/office/powerpoint/2010/main" val="1290251457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5978085-C344-481B-B9D9-904988C79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TEKNINEN VALIDOINTI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5B3CA6F-38C4-4BF8-A90D-4B77A0F7E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Tuotevalidointi tarvitsee katkeamattoman ketjun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84614EE-8737-4C32-AD99-FC06CD67E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1F5938F7-8C7D-41AA-B520-16A7F85B8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DADAFB7-E6FD-458B-A563-1CBDAF251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2026.07.26-25 · 2026-07-26 · Lähteet: EP3032975B2;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C085A3C-ABBB-4348-B2B5-09BBB95C6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78786DF2-C248-45C8-91A2-C7B7D3317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100090E-35F7-4746-91CF-A9C0B6403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CE730F48-9200-437A-9A3E-E6A1055BF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Näyte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4AD7DFE5-A3B7-495F-B215-5D92673EC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Osta oikeasta maasta ja ajankohdasta; dokumentoi myyjä, tuoteversio ja sarjatiedot.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D1E566B3-893D-4D74-A2DA-D1C77500F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A29CFB09-4E32-4263-9598-B496EB131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0ABE371B-6E57-4A84-94CC-AF7D93718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Hallussapitoketju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6B775A5C-BAC7-4494-A1E6-9590D8F35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Tallenna vastaanotto, säilytys, avaaminen, kuvaus ja tiedostojen hashit.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F2CEE9E9-2879-41C2-BE4D-77D03860B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8658283D-1D8E-4DA2-90CE-2C2F13798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7018C5CF-CE2B-4195-8A31-167CB63F5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Teardown ja testi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159E9D51-D205-4547-B76B-57AB418C1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Tee riippumaton mittausprotokolla, raakadata ja toistettavuustesti.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D92B4665-E19E-4CEE-97F0-E4A7F7BAE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4294D9DD-177C-4692-A075-EC7A14BFF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F82A32EB-919E-4185-9515-C4CCA13D8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Claim chart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8AA28C6D-E0D1-4A5E-9110-CE65567E0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Mapita jokainen vaatimuspiirre todisteeseen ja asiamiehen johtopäätökseen.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3F23E1B5-B23D-4F08-8BE8-CFA734142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Markkinamyynti voidaan kohdistaa vasta, kun tuoteidentiteetti ja claim-kytkentä ovat hallittuja.</a:t>
            </a:r>
          </a:p>
        </p:txBody>
      </p:sp>
    </p:spTree>
    <p:extLst>
      <p:ext uri="{BB962C8B-B14F-4D97-AF65-F5344CB8AC3E}">
        <p14:creationId xmlns:p14="http://schemas.microsoft.com/office/powerpoint/2010/main" val="823415903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C97CBB6-A0AB-4CE0-94F7-E56B5ED7E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KAUPALLISTAMINEN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AE13775-C327-45FA-BC3B-20A996934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Kaupallistaminen aloitetaan kovista porteista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6FE72AF-2171-4D8A-A270-F1977942B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6534943-C5C8-4BD4-9E7F-13F02B242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68ABBCD-FD83-4142-8C33-8AAB96AF8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2026.07.26-25 · 2026-07-26 · Lähteet: WIPO dispute resolution; EPO IPscore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6E0CB1B-B633-4323-9EB7-CD8F785EA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27474DEE-E560-45DF-944F-CFE053E43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AD3703C3-D43F-4C0E-87E1-52CB0D901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D9FEEB7-195C-4367-BB68-88678B2D8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Vahvista oikeus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A130485C-8E6D-451E-AFDA-B74F07B28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Ei yhteydenottoa ilman maakohtaista omistusta, voimassaoloa, rasite- ja määräpäivätietoa.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8CDD8F88-F8E7-4432-999E-A289598D5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5166A13E-6BA1-4525-B2A1-DBCAEB0E7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58212BE6-A054-485C-BB51-66240654E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Vahvista tuote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9425D8B7-2F43-4301-8E96-6F19C5D9F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Ei väitettä ilman tuotenäytettä, claim chartia ja paikallisen teon dokumentointia.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18B609DC-F775-435B-8D0E-875F118B2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58A19620-BD7C-4668-9BF5-2164C9080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BAF43BA5-74F3-4333-BB01-9694A67C9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Pisteytä kohde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0153437A-C04C-446C-8835-521AE02BD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Arvioi myynti, näyttö, vastapuoli, toimivalta, kustannus ja perittävyys.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4911F847-1377-4A02-BF06-4F75D8E52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1663CA9A-1DA1-4EAD-AD79-92C48C3A8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EDC57A92-D80C-4C7E-8B70-5E944B814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Testaa pilotti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700F5C9A-6D1D-447D-96ED-596895EF6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Neuvottele lisenssi-, sovinto-, luovutus- tai rahoitusvaihtoehdot kontrolloidusti.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85700C84-6211-4422-BC8C-B720EB45C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Yhteydenottokirje ei automaattisesti katkaise vanhentumista tai todista tiedoksiantoa.</a:t>
            </a:r>
          </a:p>
        </p:txBody>
      </p:sp>
    </p:spTree>
    <p:extLst>
      <p:ext uri="{BB962C8B-B14F-4D97-AF65-F5344CB8AC3E}">
        <p14:creationId xmlns:p14="http://schemas.microsoft.com/office/powerpoint/2010/main" val="1145265778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5DEFEBD-8CBA-4A52-AD8C-6234AC514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KAUPALLISTAMINEN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2E69DE0-B327-46AF-96F8-B7AAFD690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Kaupallistamisreitit eroavat kassavirran, kontrollin ja riskin suhteen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01EEC19-016F-4A4C-A6C7-C1482E4C4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2F3E141-DF78-4FEC-8BE3-906C3149C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68BF85F-2211-43D1-B91E-BD1931536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2026.07.26-25 · 2026-07-26 · Lähteet: WIPO licensing; IP Finance; TPLF mapping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E6A1488-0837-460E-A9C2-043D4F81D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571"/>
                <a:gridCol w="3995687"/>
                <a:gridCol w="5067701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Reitti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Kassavirta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Keskeinen riski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Lisenssi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Upfront + jatkuva rojalti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Rojaltipohjan auditointi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Sovinto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Kertamaksu / vaiheistus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Ei automaattista ennakkotapausta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Luovutus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Kauppahinta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Luovutetaan tuleva upside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IP-rahoitus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Velka tai revenue share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Vakuusarvo ja kontrollit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Prosessirahoitus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Kuluihin sidottu pääoma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Korkea kustannus ja lopputulosriski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8944C5F-A040-4BAD-B2B2-991C3C3E1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Valitse reitti vasta, kun oikeus, vastapuoli, kassavirta ja downside on todennettu.</a:t>
            </a:r>
          </a:p>
        </p:txBody>
      </p:sp>
    </p:spTree>
    <p:extLst>
      <p:ext uri="{BB962C8B-B14F-4D97-AF65-F5344CB8AC3E}">
        <p14:creationId xmlns:p14="http://schemas.microsoft.com/office/powerpoint/2010/main" val="67125753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54E68F4-869F-4514-AA95-3CE3793B4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TALOUDELLINEN MALLI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7220551-43BD-4BC8-B956-3A91726C2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Taloudellinen malli alkaa todennettavista syötteistä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0B6BD11-6C04-49C6-BB5D-56D6E2D01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6E28103-3DAE-4801-A830-8ED315E46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E523A33-0C63-40AD-B710-D94BAE1AD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2026.07.26-25 · 2026-07-26 · Lähteet: Evidence Register; WIPO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C396A13-1F88-4C76-806B-81C63AB2A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9" cy="3977634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8761"/>
                <a:gridCol w="5869412"/>
                <a:gridCol w="1781786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Syöte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Lähde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Status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Maakohtainen relevantti myynti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Viranomainen / vastapuolen disclosure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Claim-mapped osuus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Asiamiehen tuotedossier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Rojalti tai vahinko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Sopimus / oikeudellinen analyysi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Ajoitus ja perittävyys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Prosessi- ja vastapuolianalyysi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Kulut ja verot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Budjetti / veroasiantuntija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Diskontto ja downside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Riippumaton arvonmääritys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C94409B-A815-4557-975A-F5A591A95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Nykyisestä julkisesta paketista ei voi johtaa pankkikelpoista NPV:tä.</a:t>
            </a:r>
          </a:p>
        </p:txBody>
      </p:sp>
    </p:spTree>
    <p:extLst>
      <p:ext uri="{BB962C8B-B14F-4D97-AF65-F5344CB8AC3E}">
        <p14:creationId xmlns:p14="http://schemas.microsoft.com/office/powerpoint/2010/main" val="1522264685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7CDCD5D-E704-4CE4-8421-ACAD5DC6F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HERKKYYDET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EF93B90-BFCB-4828-BAE8-921320E06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Herkkyydet on sidottava todellisiin riskeihin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05EEC04-CE31-4A31-8D96-654E8648A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FA44119-DF1A-4718-AF98-5D77820C6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28DAB91-16AC-4410-AA3F-EA19A2A02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2026.07.26-25 · 2026-07-26 · Lähteet: WIPO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E5A3E25-B26B-4AAA-832E-6031A6DD2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8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0907"/>
                <a:gridCol w="3514375"/>
                <a:gridCol w="2267338"/>
                <a:gridCol w="2267338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Ajuri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Downside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Base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Upside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Oikeusalueet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Vain vahvistettu maa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Priorisoidut maat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Laajempi varmennettu peitto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Claim-osuvuus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Yksi tuote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Validoitu portfolio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Laaja mutta dokumentoitu osuus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Rojalti / korvaus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Asiantuntijan alaraja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Vertailuehdot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Vain todennettu yläraja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Ajoitus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Valitus ja pitkä perintä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Sopimuspolku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Upfront-rakenne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Kulut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Täysi riitelybudjetti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Rajattu pilotti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Vastapuolen kattamat kulut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AA7A41E-8ECC-4166-AA9C-F3458E894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Taulukkoon ei syötetä prosentteja ennen lähdetodisteita; tämä dia määrittää skenaarioiden rakenteen.</a:t>
            </a:r>
          </a:p>
        </p:txBody>
      </p:sp>
    </p:spTree>
    <p:extLst>
      <p:ext uri="{BB962C8B-B14F-4D97-AF65-F5344CB8AC3E}">
        <p14:creationId xmlns:p14="http://schemas.microsoft.com/office/powerpoint/2010/main" val="164030263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1BE2DB8-75B5-4A5C-80CB-6DDF7F743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TUTKIJAN KYSYMYKSET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4A6ECCA-EE92-4F65-A138-7FC6E0C32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Viisi kysymystä määrittää pankin seuraavan päätöksen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91BD0E2-6573-4577-BAE6-6E868243D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0271CC5-017C-4F47-B598-1BFD3F8A2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D590C3E-68F2-4366-8326-96E7493F8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2026.07.26-25 · 2026-07-26 · Lähteet: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7EA68CD8-3270-4225-A577-5D844A943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7175"/>
                <a:gridCol w="4659015"/>
                <a:gridCol w="582376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#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Kysymys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Vaadittu vastaus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Mitä tarkalleen omistetaan ja missä se on voimassa?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Allekirjoitettu oikeusmatriisi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Mikä tuote täyttää mitkä vaatimuspiirteet?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chart + riippumaton testi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Mikä on todennettu relevantti myynti?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Tuote–maa–aika-net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Mistä ja milloin velanhoitokassa syntyy?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Sopimukset, maksut, ennuste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Mitä vakuus realisoi downside-tilanteessa?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Riippumaton arvo + toteutuspolku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9EC88D3-5F04-4E52-A7B8-86899CB76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Jos yksikin vastaus jää olennaisesti auki, rahoitus on rakennettava ehdolliseksi ja vaiheistetuksi.</a:t>
            </a:r>
          </a:p>
        </p:txBody>
      </p:sp>
    </p:spTree>
    <p:extLst>
      <p:ext uri="{BB962C8B-B14F-4D97-AF65-F5344CB8AC3E}">
        <p14:creationId xmlns:p14="http://schemas.microsoft.com/office/powerpoint/2010/main" val="144111126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0A00736-5068-4081-91A0-0C4B7D70F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AINEISTOPYYNNÖT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3FE4FE7-6984-42B9-B039-93E5DF455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Puuttuva aineisto priorisoituu vaikutuksen, ei helppouden mukaan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7571E97-ACDA-4D33-8885-13327C571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345B806-A07B-4B86-A271-538F1AE00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D3710A0-8281-4D2E-A662-DF19B6866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2026.07.26-25 · 2026-07-26 · Lähteet: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5BECC7A-21FD-4590-BB2B-6DAF57AB5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9306"/>
                <a:gridCol w="4788775"/>
                <a:gridCol w="5171877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Prioriteetti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Aineisto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Päätösvaikutus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Omistus, siirrot, rasitteet, vuosimaksut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Olemassa oleva ja kontrolloitava oikeus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Tuotenäytteet, testit ja claim chartit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Tekninen osuvuus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Relevantti myynti ja vastapuolidata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Rojaltipohja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Sopimukset, saatavat ja maksut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Velanhoitokyky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Tilinpäätös, velat, budjetti ja rahoitustarve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Yhtiö- ja luottoriski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Riippumaton IP-/yritysarvonmääritys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Vakuus ja hinta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6BCAEBA-0184-43C7-AFEF-831CA800E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Julkinen paketti näyttää aukot; luottamuksellinen näyttö kuuluu pääsyrajattuun datahuoneeseen.</a:t>
            </a:r>
          </a:p>
        </p:txBody>
      </p:sp>
    </p:spTree>
    <p:extLst>
      <p:ext uri="{BB962C8B-B14F-4D97-AF65-F5344CB8AC3E}">
        <p14:creationId xmlns:p14="http://schemas.microsoft.com/office/powerpoint/2010/main" val="499968339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82E23A2-F947-4076-9D86-D7BB881B6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SEURAAVAT VAIHEET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549807F-DE16-4E3B-B1C2-07C4BBEF6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90 päivää muuttaa aukot kontrolleiksi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18FB4C7-4695-4FF9-BBCF-76B2FE92D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8F307E1-2669-4C24-8D67-AE1040DE9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4ED11FC-481A-4200-815A-080C08D96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2026.07.26-25 · 2026-07-26 · Lähteet: Evidence Register; changelog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75CFB6C-D6A3-436F-8B0F-7B4510463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29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29FDE144-5F4A-4EDF-B870-194387EAB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E66803D-DE07-474B-ADDC-4C25AC4A6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4544FE60-74CB-41D5-81EA-FE37514D8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0–30 päivää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51A2ADF2-4E9A-4CCB-B0A8-A235A372D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Oikeusmatriisi, määräpäivät, omistus- ja rasiteselvitys sekä yhtiöaineiston indeksi.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333BE177-9A3D-41F5-8E68-3F9FD36F0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3EB73676-9648-42C8-B7B9-5F9D30544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57C9E97F-3A96-4005-8BE9-4B371F7C0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31–60 päivää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4A76628-46D7-48FF-AE54-28E341A89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Tuotedossierit, claim chartit, priorisoitu markkinamyynti ja asiakasvalidointi.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BA787F11-2E53-4982-9473-7139E69F5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62F7E95E-F8FA-4E6F-A055-CFB8EE998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67B869BA-2C00-404B-8A1B-5A9E11966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61–90 päivää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193A3190-65E2-43B5-9042-FA243A89C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Kassavirtamalli, riippumaton arvonmääritys, downside ja term sheet -vaihtoehdot.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7715F3F8-655A-4D11-AF66-8F5D3C40C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9F76043D-1089-4246-AF5F-02B404FE2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EC27EDC7-C8AA-45CB-97A1-6C9C1103F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Päätösportti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B8AAA024-0A7F-43B6-B5B2-C779D1E72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Hyväksy, rajaa, vaiheista tai hylkää rahoitus näkyvillä ehdoilla ja stop-kriteereillä.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4C1BBEFD-03A5-4F99-A01B-A818D81B3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Paketti päivitetään samasta julkisesta lähdedatasta jokaisessa sivustojulkaisussa.</a:t>
            </a:r>
          </a:p>
        </p:txBody>
      </p:sp>
    </p:spTree>
    <p:extLst>
      <p:ext uri="{BB962C8B-B14F-4D97-AF65-F5344CB8AC3E}">
        <p14:creationId xmlns:p14="http://schemas.microsoft.com/office/powerpoint/2010/main" val="2067771237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1282380-CDA0-4A3C-A25C-7573C34BC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292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PÄÄTÖSKEHYS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B0008B5-BF7F-42A2-8D7F-F7D6045CF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05840"/>
            <a:ext cx="108813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Pankkikelpoinen tarina on todennusketju — ei suurin mahdollinen markkinaluku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8317DE76-52F7-45BF-8805-3F8372598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286000"/>
            <a:ext cx="10012680" cy="3246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Vahva lähtökohta: dokumentoitu patenttiydin ja Saksan virallista oikeusnäyttöä.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Ratkaiseva avoin työ: kansalliset oikeudet, claim-mapped sales, kassavirta ja downside-arvo.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Suositus: ehdollinen 90 päivän diligence, selkeät päätösportit ja pääsyrajattu datahuone.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Tämä julkinen paketti on tarkistettava evidenssikartta, ei Pixan Oy:n virallinen kanta tai rahoitussuositus.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BB63951C-CA81-427C-92E1-357C2CE36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72784"/>
            <a:ext cx="10241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Versio 2026.07.26-25 · 2026-07-26 · 30 / 30</a:t>
            </a:r>
          </a:p>
        </p:txBody>
      </p:sp>
    </p:spTree>
    <p:extLst>
      <p:ext uri="{BB962C8B-B14F-4D97-AF65-F5344CB8AC3E}">
        <p14:creationId xmlns:p14="http://schemas.microsoft.com/office/powerpoint/2010/main" val="1120390471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2026-07-26T08:57:18.9350000Z</dcterms:created>
  <dcterms:modified xsi:type="dcterms:W3CDTF">2026-07-26T08:57:18.9350000Z</dcterms:modified>
</coreProperties>
</file>