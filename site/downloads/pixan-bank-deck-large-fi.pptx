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bed0ec6a5bf40bc" /><Relationship Type="http://schemas.openxmlformats.org/officeDocument/2006/relationships/extended-properties" Target="/docProps/app.xml" Id="Ra448103da2144808" /><Relationship Type="http://schemas.openxmlformats.org/officeDocument/2006/relationships/officeDocument" Target="/ppt/presentation.xml" Id="Rfa1d0b3ea5684c0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4a0a18f9ac04eed"/>
  </p:sldMasterIdLst>
  <p:notesMasterIdLst>
    <p:notesMasterId xmlns:r="http://schemas.openxmlformats.org/officeDocument/2006/relationships" r:id="Rf8fbc4ee7fa9452f"/>
  </p:notesMasterIdLst>
  <p:sldIdLst>
    <p:sldId xmlns:r="http://schemas.openxmlformats.org/officeDocument/2006/relationships" id="256" r:id="R0149f37839b7475e"/>
    <p:sldId xmlns:r="http://schemas.openxmlformats.org/officeDocument/2006/relationships" id="257" r:id="R635063ce4b6846a7"/>
    <p:sldId xmlns:r="http://schemas.openxmlformats.org/officeDocument/2006/relationships" id="258" r:id="R45673b0c6d684adf"/>
    <p:sldId xmlns:r="http://schemas.openxmlformats.org/officeDocument/2006/relationships" id="259" r:id="Rbb00a9aeb80f47e0"/>
    <p:sldId xmlns:r="http://schemas.openxmlformats.org/officeDocument/2006/relationships" id="260" r:id="R2d6c96d1592a4c94"/>
    <p:sldId xmlns:r="http://schemas.openxmlformats.org/officeDocument/2006/relationships" id="261" r:id="Rd6e79a743a9a4629"/>
    <p:sldId xmlns:r="http://schemas.openxmlformats.org/officeDocument/2006/relationships" id="262" r:id="Rf78a79ad2b9d4c37"/>
    <p:sldId xmlns:r="http://schemas.openxmlformats.org/officeDocument/2006/relationships" id="263" r:id="Rf24cae111c614161"/>
    <p:sldId xmlns:r="http://schemas.openxmlformats.org/officeDocument/2006/relationships" id="264" r:id="R6b10d60a66d449bf"/>
    <p:sldId xmlns:r="http://schemas.openxmlformats.org/officeDocument/2006/relationships" id="265" r:id="R70560d8d28fc407d"/>
    <p:sldId xmlns:r="http://schemas.openxmlformats.org/officeDocument/2006/relationships" id="266" r:id="Rc647a2f4d8cf4cf9"/>
    <p:sldId xmlns:r="http://schemas.openxmlformats.org/officeDocument/2006/relationships" id="267" r:id="R4327463829914599"/>
    <p:sldId xmlns:r="http://schemas.openxmlformats.org/officeDocument/2006/relationships" id="268" r:id="R214e0b8b895c44f7"/>
    <p:sldId xmlns:r="http://schemas.openxmlformats.org/officeDocument/2006/relationships" id="269" r:id="R313eb01342c34332"/>
    <p:sldId xmlns:r="http://schemas.openxmlformats.org/officeDocument/2006/relationships" id="270" r:id="R20ce66327a5d4653"/>
    <p:sldId xmlns:r="http://schemas.openxmlformats.org/officeDocument/2006/relationships" id="271" r:id="Rae85db73407f49d5"/>
    <p:sldId xmlns:r="http://schemas.openxmlformats.org/officeDocument/2006/relationships" id="272" r:id="Rb081e8a286234e39"/>
    <p:sldId xmlns:r="http://schemas.openxmlformats.org/officeDocument/2006/relationships" id="273" r:id="R667dbff910784800"/>
    <p:sldId xmlns:r="http://schemas.openxmlformats.org/officeDocument/2006/relationships" id="274" r:id="Rbd83ecc0bae2464e"/>
    <p:sldId xmlns:r="http://schemas.openxmlformats.org/officeDocument/2006/relationships" id="275" r:id="R1bb2ae50dc75409e"/>
    <p:sldId xmlns:r="http://schemas.openxmlformats.org/officeDocument/2006/relationships" id="276" r:id="Rdc371719279f47ab"/>
    <p:sldId xmlns:r="http://schemas.openxmlformats.org/officeDocument/2006/relationships" id="277" r:id="R6eb6b850f2a942e0"/>
    <p:sldId xmlns:r="http://schemas.openxmlformats.org/officeDocument/2006/relationships" id="278" r:id="R60db027d991e45ff"/>
    <p:sldId xmlns:r="http://schemas.openxmlformats.org/officeDocument/2006/relationships" id="279" r:id="Rd0d5bb71b3b54caf"/>
    <p:sldId xmlns:r="http://schemas.openxmlformats.org/officeDocument/2006/relationships" id="280" r:id="Rb83ba60e4a824208"/>
    <p:sldId xmlns:r="http://schemas.openxmlformats.org/officeDocument/2006/relationships" id="281" r:id="R6f3abad1d2fb4ea1"/>
    <p:sldId xmlns:r="http://schemas.openxmlformats.org/officeDocument/2006/relationships" id="282" r:id="Rbe8495a00eae460a"/>
    <p:sldId xmlns:r="http://schemas.openxmlformats.org/officeDocument/2006/relationships" id="283" r:id="R341cd1b6a13d4335"/>
    <p:sldId xmlns:r="http://schemas.openxmlformats.org/officeDocument/2006/relationships" id="284" r:id="Rb4db6c942e05473d"/>
    <p:sldId xmlns:r="http://schemas.openxmlformats.org/officeDocument/2006/relationships" id="285" r:id="Rcf9ef0c97fd3400e"/>
  </p:sldIdLst>
  <p:sldSz cx="12191999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19eeff2342e48d0" /><Relationship Type="http://schemas.openxmlformats.org/officeDocument/2006/relationships/slideMaster" Target="/ppt/slideMasters/slideMaster1.xml" Id="Ra4a0a18f9ac04eed" /><Relationship Type="http://schemas.openxmlformats.org/officeDocument/2006/relationships/notesMaster" Target="/ppt/notesMasters/notesMaster1.xml" Id="Rf8fbc4ee7fa9452f" /><Relationship Type="http://schemas.openxmlformats.org/officeDocument/2006/relationships/presProps" Target="/ppt/presProps.xml" Id="R836580923e8f434c" /><Relationship Type="http://schemas.openxmlformats.org/officeDocument/2006/relationships/viewProps" Target="/ppt/viewProps.xml" Id="Re1f9bdae77f7468c" /><Relationship Type="http://schemas.openxmlformats.org/officeDocument/2006/relationships/tableStyles" Target="/ppt/tableStyles.xml" Id="R57639c7705ba4437" /><Relationship Type="http://schemas.openxmlformats.org/officeDocument/2006/relationships/slide" Target="/ppt/slides/slide1.xml" Id="R0149f37839b7475e" /><Relationship Type="http://schemas.openxmlformats.org/officeDocument/2006/relationships/slide" Target="/ppt/slides/slide2.xml" Id="R635063ce4b6846a7" /><Relationship Type="http://schemas.openxmlformats.org/officeDocument/2006/relationships/slide" Target="/ppt/slides/slide3.xml" Id="R45673b0c6d684adf" /><Relationship Type="http://schemas.openxmlformats.org/officeDocument/2006/relationships/slide" Target="/ppt/slides/slide4.xml" Id="Rbb00a9aeb80f47e0" /><Relationship Type="http://schemas.openxmlformats.org/officeDocument/2006/relationships/slide" Target="/ppt/slides/slide5.xml" Id="R2d6c96d1592a4c94" /><Relationship Type="http://schemas.openxmlformats.org/officeDocument/2006/relationships/slide" Target="/ppt/slides/slide6.xml" Id="Rd6e79a743a9a4629" /><Relationship Type="http://schemas.openxmlformats.org/officeDocument/2006/relationships/slide" Target="/ppt/slides/slide7.xml" Id="Rf78a79ad2b9d4c37" /><Relationship Type="http://schemas.openxmlformats.org/officeDocument/2006/relationships/slide" Target="/ppt/slides/slide8.xml" Id="Rf24cae111c614161" /><Relationship Type="http://schemas.openxmlformats.org/officeDocument/2006/relationships/slide" Target="/ppt/slides/slide9.xml" Id="R6b10d60a66d449bf" /><Relationship Type="http://schemas.openxmlformats.org/officeDocument/2006/relationships/slide" Target="/ppt/slides/slide10.xml" Id="R70560d8d28fc407d" /><Relationship Type="http://schemas.openxmlformats.org/officeDocument/2006/relationships/slide" Target="/ppt/slides/slide11.xml" Id="Rc647a2f4d8cf4cf9" /><Relationship Type="http://schemas.openxmlformats.org/officeDocument/2006/relationships/slide" Target="/ppt/slides/slide12.xml" Id="R4327463829914599" /><Relationship Type="http://schemas.openxmlformats.org/officeDocument/2006/relationships/slide" Target="/ppt/slides/slide13.xml" Id="R214e0b8b895c44f7" /><Relationship Type="http://schemas.openxmlformats.org/officeDocument/2006/relationships/slide" Target="/ppt/slides/slide14.xml" Id="R313eb01342c34332" /><Relationship Type="http://schemas.openxmlformats.org/officeDocument/2006/relationships/slide" Target="/ppt/slides/slide15.xml" Id="R20ce66327a5d4653" /><Relationship Type="http://schemas.openxmlformats.org/officeDocument/2006/relationships/slide" Target="/ppt/slides/slide16.xml" Id="Rae85db73407f49d5" /><Relationship Type="http://schemas.openxmlformats.org/officeDocument/2006/relationships/slide" Target="/ppt/slides/slide17.xml" Id="Rb081e8a286234e39" /><Relationship Type="http://schemas.openxmlformats.org/officeDocument/2006/relationships/slide" Target="/ppt/slides/slide18.xml" Id="R667dbff910784800" /><Relationship Type="http://schemas.openxmlformats.org/officeDocument/2006/relationships/slide" Target="/ppt/slides/slide19.xml" Id="Rbd83ecc0bae2464e" /><Relationship Type="http://schemas.openxmlformats.org/officeDocument/2006/relationships/slide" Target="/ppt/slides/slide20.xml" Id="R1bb2ae50dc75409e" /><Relationship Type="http://schemas.openxmlformats.org/officeDocument/2006/relationships/slide" Target="/ppt/slides/slide21.xml" Id="Rdc371719279f47ab" /><Relationship Type="http://schemas.openxmlformats.org/officeDocument/2006/relationships/slide" Target="/ppt/slides/slide22.xml" Id="R6eb6b850f2a942e0" /><Relationship Type="http://schemas.openxmlformats.org/officeDocument/2006/relationships/slide" Target="/ppt/slides/slide23.xml" Id="R60db027d991e45ff" /><Relationship Type="http://schemas.openxmlformats.org/officeDocument/2006/relationships/slide" Target="/ppt/slides/slide24.xml" Id="Rd0d5bb71b3b54caf" /><Relationship Type="http://schemas.openxmlformats.org/officeDocument/2006/relationships/slide" Target="/ppt/slides/slide25.xml" Id="Rb83ba60e4a824208" /><Relationship Type="http://schemas.openxmlformats.org/officeDocument/2006/relationships/slide" Target="/ppt/slides/slide26.xml" Id="R6f3abad1d2fb4ea1" /><Relationship Type="http://schemas.openxmlformats.org/officeDocument/2006/relationships/slide" Target="/ppt/slides/slide27.xml" Id="Rbe8495a00eae460a" /><Relationship Type="http://schemas.openxmlformats.org/officeDocument/2006/relationships/slide" Target="/ppt/slides/slide28.xml" Id="R341cd1b6a13d4335" /><Relationship Type="http://schemas.openxmlformats.org/officeDocument/2006/relationships/slide" Target="/ppt/slides/slide29.xml" Id="Rb4db6c942e05473d" /><Relationship Type="http://schemas.openxmlformats.org/officeDocument/2006/relationships/slide" Target="/ppt/slides/slide30.xml" Id="Rcf9ef0c97fd3400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37c437edec74bc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f64579b70574d97" /><Relationship Type="http://schemas.openxmlformats.org/officeDocument/2006/relationships/notesMaster" Target="/ppt/notesMasters/notesMaster1.xml" Id="Rcb8e1ff338ce4a3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d6023b79ba04c72" /><Relationship Type="http://schemas.openxmlformats.org/officeDocument/2006/relationships/notesMaster" Target="/ppt/notesMasters/notesMaster1.xml" Id="Rbbb9a8865ab5438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0dbc0581ff84d81" /><Relationship Type="http://schemas.openxmlformats.org/officeDocument/2006/relationships/notesMaster" Target="/ppt/notesMasters/notesMaster1.xml" Id="Rb44645501b8043a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a77154c1921412d" /><Relationship Type="http://schemas.openxmlformats.org/officeDocument/2006/relationships/notesMaster" Target="/ppt/notesMasters/notesMaster1.xml" Id="R25063822e09249e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bf7184fb1bc4512" /><Relationship Type="http://schemas.openxmlformats.org/officeDocument/2006/relationships/notesMaster" Target="/ppt/notesMasters/notesMaster1.xml" Id="R20f242dfbfe747b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a410c16db254d51" /><Relationship Type="http://schemas.openxmlformats.org/officeDocument/2006/relationships/notesMaster" Target="/ppt/notesMasters/notesMaster1.xml" Id="Rd505218bca604f4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a76aa30ed3c4121" /><Relationship Type="http://schemas.openxmlformats.org/officeDocument/2006/relationships/notesMaster" Target="/ppt/notesMasters/notesMaster1.xml" Id="R9d6a006da01949e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9f79b915bc04751" /><Relationship Type="http://schemas.openxmlformats.org/officeDocument/2006/relationships/notesMaster" Target="/ppt/notesMasters/notesMaster1.xml" Id="Rf6a6cb8b03664a8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baacb4c94d1407f" /><Relationship Type="http://schemas.openxmlformats.org/officeDocument/2006/relationships/notesMaster" Target="/ppt/notesMasters/notesMaster1.xml" Id="R8bd92001e9674a5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d2ca173edb84a6e" /><Relationship Type="http://schemas.openxmlformats.org/officeDocument/2006/relationships/notesMaster" Target="/ppt/notesMasters/notesMaster1.xml" Id="R27573d91d1f4458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f7ad7ff85cb4447" /><Relationship Type="http://schemas.openxmlformats.org/officeDocument/2006/relationships/notesMaster" Target="/ppt/notesMasters/notesMaster1.xml" Id="Rad29e5be19f947a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951baea7a5744e8" /><Relationship Type="http://schemas.openxmlformats.org/officeDocument/2006/relationships/notesMaster" Target="/ppt/notesMasters/notesMaster1.xml" Id="R00346a88d3b940b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303ba7e273544c4" /><Relationship Type="http://schemas.openxmlformats.org/officeDocument/2006/relationships/notesMaster" Target="/ppt/notesMasters/notesMaster1.xml" Id="R3706f3ca46544a9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5dc51500a0f44be" /><Relationship Type="http://schemas.openxmlformats.org/officeDocument/2006/relationships/notesMaster" Target="/ppt/notesMasters/notesMaster1.xml" Id="Rb1edb3a10ee04f1d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c58ef012febd4db2" /><Relationship Type="http://schemas.openxmlformats.org/officeDocument/2006/relationships/notesMaster" Target="/ppt/notesMasters/notesMaster1.xml" Id="R6221429bca0d4c4b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0098d31faaed4bbd" /><Relationship Type="http://schemas.openxmlformats.org/officeDocument/2006/relationships/notesMaster" Target="/ppt/notesMasters/notesMaster1.xml" Id="Rffbbde44b3924e55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8182654f06bf4248" /><Relationship Type="http://schemas.openxmlformats.org/officeDocument/2006/relationships/notesMaster" Target="/ppt/notesMasters/notesMaster1.xml" Id="R62835829f6b34990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ba0b60abd9164deb" /><Relationship Type="http://schemas.openxmlformats.org/officeDocument/2006/relationships/notesMaster" Target="/ppt/notesMasters/notesMaster1.xml" Id="R3124585bb0f4433c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89f435f1191f486f" /><Relationship Type="http://schemas.openxmlformats.org/officeDocument/2006/relationships/notesMaster" Target="/ppt/notesMasters/notesMaster1.xml" Id="Rfb343cc35ce84338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aa312dccc54d44fa" /><Relationship Type="http://schemas.openxmlformats.org/officeDocument/2006/relationships/notesMaster" Target="/ppt/notesMasters/notesMaster1.xml" Id="R96c244ecf1d0414a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06c8e1b252f54288" /><Relationship Type="http://schemas.openxmlformats.org/officeDocument/2006/relationships/notesMaster" Target="/ppt/notesMasters/notesMaster1.xml" Id="Ra96b49ebc0ce49b6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4d0b56c8dda34363" /><Relationship Type="http://schemas.openxmlformats.org/officeDocument/2006/relationships/notesMaster" Target="/ppt/notesMasters/notesMaster1.xml" Id="R10c9c62ac7e84f1c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c0b0f180923544f0" /><Relationship Type="http://schemas.openxmlformats.org/officeDocument/2006/relationships/notesMaster" Target="/ppt/notesMasters/notesMaster1.xml" Id="Rcd9aebb56d484563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82b2c8c339404c78" /><Relationship Type="http://schemas.openxmlformats.org/officeDocument/2006/relationships/notesMaster" Target="/ppt/notesMasters/notesMaster1.xml" Id="Rcd65ad7bac184424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c644194185bc446a" /><Relationship Type="http://schemas.openxmlformats.org/officeDocument/2006/relationships/notesMaster" Target="/ppt/notesMasters/notesMaster1.xml" Id="R636f1f24e96742dc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d62feb422abc471e" /><Relationship Type="http://schemas.openxmlformats.org/officeDocument/2006/relationships/notesMaster" Target="/ppt/notesMasters/notesMaster1.xml" Id="R1a9cb64e6f1c4c92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6ebf6a1874194e04" /><Relationship Type="http://schemas.openxmlformats.org/officeDocument/2006/relationships/notesMaster" Target="/ppt/notesMasters/notesMaster1.xml" Id="R3355c09bf6b741c3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07da1592de1b4d79" /><Relationship Type="http://schemas.openxmlformats.org/officeDocument/2006/relationships/notesMaster" Target="/ppt/notesMasters/notesMaster1.xml" Id="R9788e0b155104e2c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2564cf3140c04e0d" /><Relationship Type="http://schemas.openxmlformats.org/officeDocument/2006/relationships/notesMaster" Target="/ppt/notesMasters/notesMaster1.xml" Id="R85d1e1a0ed914324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64ac45fd8cf744af" /><Relationship Type="http://schemas.openxmlformats.org/officeDocument/2006/relationships/notesMaster" Target="/ppt/notesMasters/notesMaster1.xml" Id="R3d81326441dd42c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09241c550744d4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0a4986cb0244c8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8f8f0da39664f23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472c1b66e4e49e1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69d4705edbc4a23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9770e70467d4d8a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db688f62c0e4d83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9f3d03c99a24cc3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2db96d797304446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ca26a48fea64fea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9b83debad9b464d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717457F-1651-4056-9944-8A63AE38EDED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D03F8C69-329C-4747-9508-080DE6E75D1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49B7457-6C5A-4844-8AF7-287EB079D11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F6DB5CE-93A8-4BD0-B491-B6860B36DA7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6B11DD9-90F3-4B5F-BAC0-576B43D222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95E5DFA-8862-4398-B7CB-0411A13B90C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3AD4C1F8-53FD-4C05-8F25-25A9A9C3FA3C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0AAA165-4D43-4C50-B61E-B194D063267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A62A11B-02E5-41A0-91ED-5E610BE5E9D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4537D03-2B46-488F-A935-F22B4ABCF1B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0CDD3FA-FEDD-4679-AAC2-F105FFC9C83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B5E319A-1A88-4031-8F40-8CC03933EE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4E4F646-55D4-427B-B724-445ED1B0AEB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4207404-0230-431F-B162-1EE40B59BBF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3AD6AEA-1112-44BD-AE63-71B0A74AC8B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1AAA61F-9F47-46FA-B6E2-ED7BE959C6E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9502C020-9D10-4129-BE8D-6EC5D1AD019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7B0EA22E-E3DF-448A-B591-DCDC44AA781F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936A0463-A5B7-48EE-96DD-3F681654C59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9F0CF6A3-0CD3-4DA6-8183-9D80C2E332A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3E9A28B8-666E-43EE-92FA-E2745FFB4FB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299B918-69FC-4682-A23A-6AB531D5F1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71AA9010-9C66-4F2E-89E7-4387BDEA755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C0BC6255-D46E-434A-AF16-98C361755E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9CEA9FFC-6E76-48B2-9608-E242E0E75374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444B5893-978B-481E-84D6-7107EA02FC40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ABB74781-B8C7-4BE1-9BA7-A73F5EF63CC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E44CD0CB-6912-4CDF-AEA2-E042AC57E04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341A75BD-80D3-4F51-9490-8DF047A3117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0133F25-C35B-4BD0-BEC6-56C13EDF307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F988EF38-61EF-4F60-B591-D7CA3FBC404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15B5001C-CCEC-4105-9174-5DECFEB560C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3A3DFFBF-661F-4D27-89CB-93158E3CF51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488449A5-276E-47FE-BF83-52484D4279A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9F58BF11-73F8-47DF-AB01-604CDC0616E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DE526CE6-B3EB-4162-A5E8-AD028164974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928B6CF-EF27-44B4-9A36-4383368EF8F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22CF8E4D-F695-4FD2-89E0-E8A1B4002C4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8E0535C-C87F-4113-98AE-21A52041E91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85CD944D-2779-4186-98D8-81E7315B73C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1586A280-C666-4DE8-BF4D-568FA157E9B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2ED63A31-2C7D-4923-99EB-777B17CE075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0ED7A1C-666D-4428-A88B-38359FDB13D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D49CD6AA-E0E9-4AD7-BA0E-553BAA8BBA1E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D5E61F5-93E0-484A-8910-CC0D5E62605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2E6073D-8F6E-48D9-83F7-189EF75FCDC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680E58BE-E7C1-45A7-AAAB-E00EA1FE6E7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6A453BC-1C63-4983-B801-B86B2032B65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A2C3EF2-9861-46E3-9151-7CF6D71FCC5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065191DA-378D-49CF-BD46-312E7CF8FEE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0F20A52-8F9B-47F2-9BB7-17B3AED2240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B418BC3-E2B8-448D-90BC-726E10E4447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3051FC5-A974-4A31-B151-059A6BDDAE5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CB997B5A-C492-4106-A691-CAF6524BE04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4EB53646-7A1D-42CF-A656-1772408247F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47CDEB8-E5A5-4E7A-BA6E-48C358BD20F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564A7D5-FF0D-4F76-B335-2CBD93B9C12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6033551-1586-48B8-A80F-EC44B3F24F3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a9ef1f8f8184ada" /><Relationship Type="http://schemas.openxmlformats.org/officeDocument/2006/relationships/slideLayout" Target="/ppt/slideLayouts/slideLayout1.xml" Id="Rb2f6c262dbaf47cc" /><Relationship Type="http://schemas.openxmlformats.org/officeDocument/2006/relationships/slideLayout" Target="/ppt/slideLayouts/slideLayout2.xml" Id="Rbf6980ac3fd34a32" /><Relationship Type="http://schemas.openxmlformats.org/officeDocument/2006/relationships/slideLayout" Target="/ppt/slideLayouts/slideLayout3.xml" Id="R8c907581b0d84701" /><Relationship Type="http://schemas.openxmlformats.org/officeDocument/2006/relationships/slideLayout" Target="/ppt/slideLayouts/slideLayout4.xml" Id="Rf8b84844950346b5" /><Relationship Type="http://schemas.openxmlformats.org/officeDocument/2006/relationships/slideLayout" Target="/ppt/slideLayouts/slideLayout5.xml" Id="Rc92ead22c13f45b2" /><Relationship Type="http://schemas.openxmlformats.org/officeDocument/2006/relationships/slideLayout" Target="/ppt/slideLayouts/slideLayout6.xml" Id="Rd8bda5cd98644c04" /><Relationship Type="http://schemas.openxmlformats.org/officeDocument/2006/relationships/slideLayout" Target="/ppt/slideLayouts/slideLayout7.xml" Id="R975336be3ad943a2" /><Relationship Type="http://schemas.openxmlformats.org/officeDocument/2006/relationships/slideLayout" Target="/ppt/slideLayouts/slideLayout8.xml" Id="R097fb9b9a3264d02" /><Relationship Type="http://schemas.openxmlformats.org/officeDocument/2006/relationships/slideLayout" Target="/ppt/slideLayouts/slideLayout9.xml" Id="Rbd6b908c11bb4753" /><Relationship Type="http://schemas.openxmlformats.org/officeDocument/2006/relationships/slideLayout" Target="/ppt/slideLayouts/slideLayout10.xml" Id="R29f38a37db2543c8" /><Relationship Type="http://schemas.openxmlformats.org/officeDocument/2006/relationships/slideLayout" Target="/ppt/slideLayouts/slideLayout11.xml" Id="R8fb6e712367a4d22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33994402-62EC-4DEC-88AD-B8D2C0CB660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92E1A916-6455-4BFC-AEC3-F92667C6940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5E30549-A970-4F02-B2C0-32F7617D2448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37F5B3E-E180-475B-AF7F-69E6D736D5EB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13CB8F3-E48C-47C4-B3A5-EF74848BCBB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2f6c262dbaf47cc"/>
    <p:sldLayoutId xmlns:r="http://schemas.openxmlformats.org/officeDocument/2006/relationships" id="2147483650" r:id="Rbf6980ac3fd34a32"/>
    <p:sldLayoutId xmlns:r="http://schemas.openxmlformats.org/officeDocument/2006/relationships" id="2147483651" r:id="R8c907581b0d84701"/>
    <p:sldLayoutId xmlns:r="http://schemas.openxmlformats.org/officeDocument/2006/relationships" id="2147483652" r:id="Rf8b84844950346b5"/>
    <p:sldLayoutId xmlns:r="http://schemas.openxmlformats.org/officeDocument/2006/relationships" id="2147483653" r:id="Rc92ead22c13f45b2"/>
    <p:sldLayoutId xmlns:r="http://schemas.openxmlformats.org/officeDocument/2006/relationships" id="2147483654" r:id="Rd8bda5cd98644c04"/>
    <p:sldLayoutId xmlns:r="http://schemas.openxmlformats.org/officeDocument/2006/relationships" id="2147483655" r:id="R975336be3ad943a2"/>
    <p:sldLayoutId xmlns:r="http://schemas.openxmlformats.org/officeDocument/2006/relationships" id="2147483656" r:id="R097fb9b9a3264d02"/>
    <p:sldLayoutId xmlns:r="http://schemas.openxmlformats.org/officeDocument/2006/relationships" id="2147483657" r:id="Rbd6b908c11bb4753"/>
    <p:sldLayoutId xmlns:r="http://schemas.openxmlformats.org/officeDocument/2006/relationships" id="2147483658" r:id="R29f38a37db2543c8"/>
    <p:sldLayoutId xmlns:r="http://schemas.openxmlformats.org/officeDocument/2006/relationships" id="2147483659" r:id="R8fb6e712367a4d22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2c7ece1fef44e8f" /><Relationship Type="http://schemas.openxmlformats.org/officeDocument/2006/relationships/notesSlide" Target="/ppt/notesSlides/notesSlide1.xml" Id="R4f7336beb65441b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bfd50ea1fe54b68" /><Relationship Type="http://schemas.openxmlformats.org/officeDocument/2006/relationships/notesSlide" Target="/ppt/notesSlides/notesSlide2.xml" Id="R2710c3070dd84f3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9ab56b714634534" /><Relationship Type="http://schemas.openxmlformats.org/officeDocument/2006/relationships/notesSlide" Target="/ppt/notesSlides/notesSlide3.xml" Id="R01013abe1d54495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2a2e300acca4026" /><Relationship Type="http://schemas.openxmlformats.org/officeDocument/2006/relationships/notesSlide" Target="/ppt/notesSlides/notesSlide4.xml" Id="Rcd6b80046d43447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f4fc6e427844680" /><Relationship Type="http://schemas.openxmlformats.org/officeDocument/2006/relationships/notesSlide" Target="/ppt/notesSlides/notesSlide5.xml" Id="R4667ffca514841a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6f0508c94b84bf6" /><Relationship Type="http://schemas.openxmlformats.org/officeDocument/2006/relationships/notesSlide" Target="/ppt/notesSlides/notesSlide6.xml" Id="Ra71128d70ff4446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6d122f29a7d48b6" /><Relationship Type="http://schemas.openxmlformats.org/officeDocument/2006/relationships/notesSlide" Target="/ppt/notesSlides/notesSlide7.xml" Id="R0b529186ca254d3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83f18ea7dbc4648" /><Relationship Type="http://schemas.openxmlformats.org/officeDocument/2006/relationships/notesSlide" Target="/ppt/notesSlides/notesSlide8.xml" Id="Rcb965fd328534dc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304c92ef2674c00" /><Relationship Type="http://schemas.openxmlformats.org/officeDocument/2006/relationships/notesSlide" Target="/ppt/notesSlides/notesSlide9.xml" Id="Rf5e5f5f44e40414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b095f24806148b5" /><Relationship Type="http://schemas.openxmlformats.org/officeDocument/2006/relationships/notesSlide" Target="/ppt/notesSlides/notesSlide10.xml" Id="Rb488d24377334bc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52b761bc7f84e90" /><Relationship Type="http://schemas.openxmlformats.org/officeDocument/2006/relationships/notesSlide" Target="/ppt/notesSlides/notesSlide11.xml" Id="Rb28e2dec896b4a7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04b106f58254a04" /><Relationship Type="http://schemas.openxmlformats.org/officeDocument/2006/relationships/notesSlide" Target="/ppt/notesSlides/notesSlide12.xml" Id="R4075bc902b1a4df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133a18d894b4427" /><Relationship Type="http://schemas.openxmlformats.org/officeDocument/2006/relationships/notesSlide" Target="/ppt/notesSlides/notesSlide13.xml" Id="R4fdbf5b1adb4453d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77d8ee47a3f4528" /><Relationship Type="http://schemas.openxmlformats.org/officeDocument/2006/relationships/notesSlide" Target="/ppt/notesSlides/notesSlide14.xml" Id="R23fa5892fbb54b8b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7c32fd2a9ae4eea" /><Relationship Type="http://schemas.openxmlformats.org/officeDocument/2006/relationships/notesSlide" Target="/ppt/notesSlides/notesSlide15.xml" Id="Rf7daa4ab157047bd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053d54f2fc54c8a" /><Relationship Type="http://schemas.openxmlformats.org/officeDocument/2006/relationships/notesSlide" Target="/ppt/notesSlides/notesSlide16.xml" Id="R49aa6b95e6eb4ce0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118ad7d38c942bf" /><Relationship Type="http://schemas.openxmlformats.org/officeDocument/2006/relationships/notesSlide" Target="/ppt/notesSlides/notesSlide17.xml" Id="R5f71eb1604e545ef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be7c35fab4345b5" /><Relationship Type="http://schemas.openxmlformats.org/officeDocument/2006/relationships/notesSlide" Target="/ppt/notesSlides/notesSlide18.xml" Id="R4ecaa11c2097410b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0376566505c4c32" /><Relationship Type="http://schemas.openxmlformats.org/officeDocument/2006/relationships/notesSlide" Target="/ppt/notesSlides/notesSlide19.xml" Id="R47172500cf474a71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50b53651d1142c2" /><Relationship Type="http://schemas.openxmlformats.org/officeDocument/2006/relationships/notesSlide" Target="/ppt/notesSlides/notesSlide20.xml" Id="Ra1684e0e05e7453f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68d0da801784d3b" /><Relationship Type="http://schemas.openxmlformats.org/officeDocument/2006/relationships/notesSlide" Target="/ppt/notesSlides/notesSlide21.xml" Id="R1f889ae2d55f477b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bbac8be7fe34e21" /><Relationship Type="http://schemas.openxmlformats.org/officeDocument/2006/relationships/notesSlide" Target="/ppt/notesSlides/notesSlide22.xml" Id="R45f5148fdb10406e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532a0f67e364974" /><Relationship Type="http://schemas.openxmlformats.org/officeDocument/2006/relationships/notesSlide" Target="/ppt/notesSlides/notesSlide23.xml" Id="R61d5364781554b8b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8960f08aeeb4164" /><Relationship Type="http://schemas.openxmlformats.org/officeDocument/2006/relationships/notesSlide" Target="/ppt/notesSlides/notesSlide24.xml" Id="R871ec0c50a2947d7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728f60f50954eb3" /><Relationship Type="http://schemas.openxmlformats.org/officeDocument/2006/relationships/notesSlide" Target="/ppt/notesSlides/notesSlide25.xml" Id="R2c642415303645de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efacff0999c4402" /><Relationship Type="http://schemas.openxmlformats.org/officeDocument/2006/relationships/notesSlide" Target="/ppt/notesSlides/notesSlide26.xml" Id="R9a7a63bb5829402f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85c37a4815548d1" /><Relationship Type="http://schemas.openxmlformats.org/officeDocument/2006/relationships/notesSlide" Target="/ppt/notesSlides/notesSlide27.xml" Id="R2f9c3c2c53224672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8c15a1aa26c4efc" /><Relationship Type="http://schemas.openxmlformats.org/officeDocument/2006/relationships/notesSlide" Target="/ppt/notesSlides/notesSlide28.xml" Id="R5b0bac8732b443dd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d57c5ff3eb4487f" /><Relationship Type="http://schemas.openxmlformats.org/officeDocument/2006/relationships/notesSlide" Target="/ppt/notesSlides/notesSlide29.xml" Id="R910e82522a8845f5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c3be0f011054988" /><Relationship Type="http://schemas.openxmlformats.org/officeDocument/2006/relationships/notesSlide" Target="/ppt/notesSlides/notesSlide30.xml" Id="R8ae1c09988934b0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1372013-E81A-44CA-97EB-CD14A401C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66928"/>
            <a:ext cx="10972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BD8A001-51BE-4BE7-BF94-557216F68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144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PIXAN · JULKINEN EVIDENSSIPAKETTI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66E487C5-9606-4BD0-8117-2258F0566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389888"/>
            <a:ext cx="736092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Puolustettavissa oleva patentin arvo</a:t>
            </a:r>
            <a:b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</a:b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näyttöporttien kautta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C82E3B3-C75F-416B-8EBB-E532AFD84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703320"/>
            <a:ext cx="70408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C6D8E2"/>
                </a:solidFill>
                <a:latin typeface="Aptos"/>
                <a:ea typeface="Aptos"/>
                <a:cs typeface="Aptos"/>
              </a:rPr>
              <a:t>Riippumaton 30 dian tutkija- ja rahoituspäätöspaketti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A8B82EAD-70CA-4438-8C5C-B693C222E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0"/>
            <a:ext cx="39136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ED6650D-C865-4C6C-A669-0DCA0619D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1430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Aineiston tila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F6D88E84-81F9-4F64-B8BB-265AB6DE0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700784"/>
            <a:ext cx="2880360" cy="515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9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2026.08.03-44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1E940BF-1E95-430C-950A-D785DC839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359152"/>
            <a:ext cx="2788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Päivitetty 2026-08-03</a:t>
            </a:r>
            <a:b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</a:b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30 diaa · suomeksi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F409EF08-EC24-4367-9717-B088C8AA6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22191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B8DFE2"/>
                </a:solidFill>
                <a:latin typeface="Aptos"/>
                <a:ea typeface="Aptos"/>
                <a:cs typeface="Aptos"/>
              </a:rPr>
              <a:t>Lähtökohta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B581042D-81D7-43CF-9AE5-498B20AD5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251960"/>
            <a:ext cx="278892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Vahvistettu näyttö erotetaan tuetusta tiedosta, oletuksista ja puuttuvasta näytöstä.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587DFB3E-B7B7-44C7-BE8A-14C3C36F5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54496"/>
            <a:ext cx="7040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Ei Pixan Oy:n virallinen kanta · ei arvo-, sijoitus-, laina- tai oikeudellinen lausunto</a:t>
            </a:r>
          </a:p>
        </p:txBody>
      </p:sp>
    </p:spTree>
    <p:extLst>
      <p:ext uri="{BB962C8B-B14F-4D97-AF65-F5344CB8AC3E}">
        <p14:creationId xmlns:p14="http://schemas.microsoft.com/office/powerpoint/2010/main" val="1730573900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F0EFBF7-8DB0-4409-B40D-210D486A5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RAHOITUSTEESI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25B0250-42EB-4F10-BA99-C52E31C4E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Rahoitusteesi: patentin arvo on NOT_COMPUTED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E228A38-5C8D-4F86-9A21-E11F78E4D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1E49E97-2038-47FD-995E-6F0619659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0F32846-2F2D-4853-8198-C4AED8B99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2026.08.03-44 · 2026-08-03 · Lähteet: EPO; Saksa — viralliset tuomiot;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CF5227A-09E9-47BC-992C-F40FE53B6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EE42883-F850-46E5-A7E3-1BE36FAA9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Tavoite on arvioida puolustettavissa oleva patentin arvon vaihteluväli läpinäkyvällä, portitetulla evidenssiketjulla.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B64DD3C-55C6-4C4B-8F41-EB4452B84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22 julkaisua tarkoittaa 20 kansallista + EP + WO; 28 muodollista maariviä eivät ole 28 vahvistettua voimassa olevaa oikeutta.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Tavalliset PCT-kansallisen vaiheen ja EP-validoinnin ikkunat ovat umpeutuneet; mahdollinen poikkeus on maa- ja asiakirjakohtainen.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Seitsemän erillistä arvotulosta ovat null/NOT_COMPUTED; seitsemän tuloskohtaista porttia estävät perusteiden, riskien ja vakuusarvon sekoittamisen.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D220CE66-0818-4C68-82F4-F746B1ABC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598ED738-746D-4A98-8F48-766FDF78A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Suositus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AE86CF2-9E76-47D5-915D-C133ECE0E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Jatka tarkastusta; älä tee lopullista arvo- tai luottopäätöstä ennen seitsemän tuloskohtaisen portin sulkemista.</a:t>
            </a:r>
          </a:p>
        </p:txBody>
      </p:sp>
    </p:spTree>
    <p:extLst>
      <p:ext uri="{BB962C8B-B14F-4D97-AF65-F5344CB8AC3E}">
        <p14:creationId xmlns:p14="http://schemas.microsoft.com/office/powerpoint/2010/main" val="65292890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C05868B-DCEA-4B46-B592-6B55073B5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RAHOITUSTEESI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C11D0BF-17F8-468E-9206-93737EDFB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Kolme perustetta jatkaa — ja kolme rajaa olla kiirehtimättä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F9317C1-50B1-41C9-9330-78B775245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6D37D28-35C8-47A9-A35F-506149DDF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5DA5DAE-0857-4591-AB09-09E1FF86A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2026.08.03-44 · 2026-08-03 · Lähteet: EPO;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1CB5260-974D-49D6-BF24-E70728C00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0071"/>
                <a:gridCol w="4154944"/>
                <a:gridCol w="4154944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Vahva signaali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Mitä se tukee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Mitä se ei todista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EPO:n keskitetty riitautus päättyi patentin pysyttämiseen muutettuna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Dokumentoitu patenttiydin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Kansallinen voimassaolo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Mitätöintikanne hylättiin; valitus vireillä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Pätevyyden kansallinen signaali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Lainvoima tai globaali pätevyys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Tarkasteltujen tuotteiden todettiin loukkaavan patenttia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Tuote- ja claim-kohtainen signaali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Muu tuote, maa tai maksettu korvaus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DA2BA4D-7E90-4D7E-A11D-AC15E0BAF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Pankin tulee hinnoitella vain se osa näytöstä, jonka omistus, toteutettavuus ja kassavirta on vahvistettu.</a:t>
            </a:r>
          </a:p>
        </p:txBody>
      </p:sp>
    </p:spTree>
    <p:extLst>
      <p:ext uri="{BB962C8B-B14F-4D97-AF65-F5344CB8AC3E}">
        <p14:creationId xmlns:p14="http://schemas.microsoft.com/office/powerpoint/2010/main" val="113030323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FC280D3-6E7D-4C64-9DFF-3632706A0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ONGELMA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5E2FAB1-BD9D-4823-8D08-75EB658B0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Seitsemän askeleen ketju johtaa erillisiin arvotuloksiin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AF7D8B1-2E79-4F79-B9B1-072BDD5EB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415EBE7-A3B7-4C02-A2B6-4FF120117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B9938038-BD1D-437A-94A1-C151158DA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2026.08.03-44 · 2026-08-03 · Lähteet: Evidence Register;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6CB5A13-1877-4646-9C61-D3E516FAD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3C39C4C-FD56-4CBE-9342-76AB87918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Markkinaevidenssi → rajausavainten täsmäytys → katettu myynti → neljä taloudellista reittiä → painotetut päivätyt kassavirrat → nykyarvo ja kertaluonteiset oikaisut → erilliset ei-yhteenlaskettavat tulokset.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185A513-BF1D-4B8D-A952-B478ED4E3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Kaikki seitsemän perustekohtaista arvotulosta ja välivaiheet ovat null/NOT_COMPUTED.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Kaikki seitsemän tuloskohtaista pakollista porttia ovat OPEN.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Puuttuva ei ole nolla, markkina ei ole patenttiarvo eikä aikaa tai riskiä saa laskea kahdesti.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0C3E3938-F1DB-472E-9C96-F15B0CE45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24A9BAFD-0FD0-4960-8796-104E7490E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Luottoriski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E69B0638-7234-48E8-B7A8-A7F334C6F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Yksi avoin pakollinen portti estää lopullisen ala-, keski- ja yläarvon laskemisen.</a:t>
            </a:r>
          </a:p>
        </p:txBody>
      </p:sp>
    </p:spTree>
    <p:extLst>
      <p:ext uri="{BB962C8B-B14F-4D97-AF65-F5344CB8AC3E}">
        <p14:creationId xmlns:p14="http://schemas.microsoft.com/office/powerpoint/2010/main" val="1844786191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DE12882-1419-4627-8518-66048E34F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RATKAISU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9C6CD7E-00B0-4250-AA3D-74C6AECCC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Patentoitu ratkaisu ohjaa tehoa resistanssitiedolla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7996063A-1EA9-41EF-BA5D-D15ADF8FB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DF7EC02-FDDD-4057-8408-FD9476E89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B48AA03-17F9-472E-A4A3-ACF5CD00C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2026.08.03-44 · 2026-08-03 · Lähteet: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99B2929-3C67-49D8-B28D-A13C55AB0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4501AAA6-E8A8-43A0-914D-E7615E768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6276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Julkaistu patenttiselitys koskee sähkökäyttöisen höyrystimen ohjausta mittaamalla lämmityselementin resistanssi, valitsemalla sitä vastaava teho tallennetusta tiedosta ja ohjaamalla lämmittimelle syötettävää tehoa määritellyissä käyttäjäsäädön rajoissa.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D0D4B0C-C506-4BD9-AFCE-36D276BBF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419856"/>
            <a:ext cx="6629400" cy="2478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Mittaus: lämmityselementin resistanssi.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Tieto: tallennetut resistanssi–tehoarvot.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Ohjaus: lämmittimelle syötetty teho ja käyttäjäsäädön rajat.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10E1D432-6DBD-40ED-811C-C820BA740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97F99389-857B-4387-A2B1-9AB2C87C7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Tulkintaraja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2AB95F2-9E0D-40DD-9953-B556F0543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Yleiskielinen kuvaus ei korvaa maakohtaista patenttivaatimusten tulkintaa tai tuotekohtaista vaatimusanalyysiä.</a:t>
            </a:r>
          </a:p>
        </p:txBody>
      </p:sp>
    </p:spTree>
    <p:extLst>
      <p:ext uri="{BB962C8B-B14F-4D97-AF65-F5344CB8AC3E}">
        <p14:creationId xmlns:p14="http://schemas.microsoft.com/office/powerpoint/2010/main" val="130952274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4F0B5F0-E600-42B5-9044-606658F66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PATENTTI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4D862C7-1F6F-457B-B66F-BAB37BC51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B2-tekstin yhdeksän vaatimusta ovat arvioinnin lähtöpiste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CDCD199-152A-4176-AD45-9BD3010D1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C738704-0991-48BB-8539-D67F73A6F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F527AC6-B458-4FBA-B0B9-30D39D8B2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2026.08.03-44 · 2026-08-03 · Lähteet: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ADE6823-57E2-468B-B2D5-73A52CDF5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2313"/>
                <a:gridCol w="5852568"/>
                <a:gridCol w="3075078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Elementti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Julkinen kuvaus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Tarkastuskysymys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Ohjain / menetelmä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Sähköisen höyrystimen hallinta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Mikä tuoteversio ja maa?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Resistanssin mittaus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Lämmityselementin resistanssi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Miten ja milloin mitataan?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Tallennetut arvot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Resistanssi–teho-kytkentä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Missä data sijaitsee?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Ei-proportionaalisuus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Tehosuhteen määritelty luonne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Täyttyykö vaatimuspiirre?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Säätörajat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Minimi ja tallennettu maksimi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Miten käyttöliittymä toteuttaa rajat?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2A8431B-3612-4C87-9022-FD31C2D78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Jokainen vaatimuspiirre on osoitettava todisteella; ominaisuusluettelo ei yksin riitä.</a:t>
            </a:r>
          </a:p>
        </p:txBody>
      </p:sp>
    </p:spTree>
    <p:extLst>
      <p:ext uri="{BB962C8B-B14F-4D97-AF65-F5344CB8AC3E}">
        <p14:creationId xmlns:p14="http://schemas.microsoft.com/office/powerpoint/2010/main" val="1820995852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02C37BC-3CF1-47AA-BAA1-4B090F105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PATENTTI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7043635-403D-41D1-B113-B92E9EED2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IP-historian ydintapahtumat ovat jäljitettävissä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CDDB6F7-B88E-457C-85B3-79F76E5A7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0D52515-C75D-4FF5-87D5-8BF1CDCC5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8EB68D1-4ED2-4DFF-96BA-4519DD8E9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2026.08.03-44 · 2026-08-03 · Lähteet: EPO Register; 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6B409416-B6F4-4E5B-94F2-0DBF81A33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B2E443AD-8F11-4B9E-928E-1A710C0DE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1C1B41D-B611-474A-82F0-6136F50FD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14.8.2013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72A4447F-69EF-4FAF-BEFC-6C42C8F51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varhaisin prioriteetti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F36398A7-1AD9-4DEE-9646-55F74383D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7554C9F3-F93B-4BF2-9E0B-F437715C5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24.4.2024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3AF6D75C-9C0C-4A6D-8F85-0F4E284BC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B2-julkaisu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D95E6A6D-7E49-444B-93AD-845EB6C1A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15A6724D-93E3-4A27-AEAE-808E49D32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F53749CE-92B1-436C-A5DB-980FCB4F8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muutettua vaatimusta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9FFE5A2B-2DC7-4DDD-951A-C4C44B1B2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EPO:n keskitetty väite- ja valitusmenettely päättynyt; kansallinen myöntämisen jälkeinen tila on erillinen.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60BE4B71-D56D-4E8E-A6BD-9E45A2D77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E1D46047-04BD-4E6B-9C9B-14A02E428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FE969613-620C-4080-8C6A-AC024B461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Kansalliset post-grant-oikeudet elävät erillään EPO:n keskusmenettelystä.</a:t>
            </a:r>
          </a:p>
        </p:txBody>
      </p:sp>
    </p:spTree>
    <p:extLst>
      <p:ext uri="{BB962C8B-B14F-4D97-AF65-F5344CB8AC3E}">
        <p14:creationId xmlns:p14="http://schemas.microsoft.com/office/powerpoint/2010/main" val="198607135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815B0EB-B368-471E-80B7-E191400F4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MAANTIETEELLINEN KATTAVUUS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0DCCC54-DA57-405A-8F49-82ECB460E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96505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22 julkaisua = 20 kansallista + EP + WO; 28 maariviä eivät todista voimassaoloa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90A5251-AB78-4F05-AB85-018D9912F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B88E144-D60F-4C72-A584-46BBD5AE8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C375B04-7CC9-4DA2-8430-B4542FD11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2026.08.03-44 · 2026-08-03 · Lähteet: EPO family; kansalliset rekisterit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9E0AA37-0C68-485F-A91D-4006C3F6F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7CDED591-3730-409A-89D5-4F22D247C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A4C7868E-9632-4C9D-8D2E-190565262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D7F7FA1A-885B-4D99-9105-8742D9067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perhejulkaisutietuetta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0DCC00E7-0162-4900-A769-2BA490D38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1E543F34-C03E-401F-BB28-E9AC1CDE5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8C4AAC11-596D-4235-BB69-AF9DEA330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tunnistettua menettelyä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4322F048-E210-43EB-AAF2-DC9251693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EF6CC71C-57E3-4FBF-BAEA-24103A092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780841C7-D324-437F-8876-F6A44B2B7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virallista kansallista rekisteritarkistusta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80DF20A5-D2CC-4944-B423-4517C66EE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9209843E-C112-4B1B-B7CE-C97082B17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?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0A4EFB5F-BBE4-4BBF-AF0A-10179341F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täytäntöönpanokelpoista maata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70993112-0DCC-40B6-BDD3-89A80A574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Julkaisureitti on kartta, ei omistus- tai voimassaolotodistus.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2BA0DBFF-4D38-4A86-BBF6-D8B940727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0A05A2F0-82CD-4D40-A21E-DFBDBF445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F136DDBD-6EAB-4EE8-8D26-6970BBEF9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Asiamiehen maamatriisin tulee sisältää haltija, voimassa olevat patenttivaatimukset, vuosimaksu, kuitti, rasitteet, UPC-asema ja seuraava määräpäivä.</a:t>
            </a:r>
          </a:p>
        </p:txBody>
      </p:sp>
    </p:spTree>
    <p:extLst>
      <p:ext uri="{BB962C8B-B14F-4D97-AF65-F5344CB8AC3E}">
        <p14:creationId xmlns:p14="http://schemas.microsoft.com/office/powerpoint/2010/main" val="610549372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F15ADC5-B0C4-47B8-AF94-8BA013916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OIKEUDELLINEN NÄYTTÖ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0FEDF9C-A7E7-4A5C-B235-4314E5E75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Saksan ratkaisut ovat vahvaa näyttöä tarkasti rajatussa kehyksessä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C2DD66F-CE08-44C1-9CFC-F029604ED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01254B7-B6A4-47F4-AFA9-0E92FD363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0C353E2-A9F5-4B93-983E-F8E8BC22D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2026.08.03-44 · 2026-08-03 · Lähteet: Viralliset tuomiot: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9AAE59E-CB88-4068-BECD-76D09A2B0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6604"/>
                <a:gridCol w="3589371"/>
                <a:gridCol w="4443984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Viite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Virallinen tapahtuma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Rajaus ja lopullisuus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67792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8 Ni 18/24 (EP)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Mitätöintikanne hylättiin; valitus vireillä (14.1.2026)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Virallinen tuomio hylkäsi EP3032975B2:n Saksan osaa koskevan mitättömyyskanteen. Virallinen rekisteri mainitsee valituksen liittovaltion ylimpään tuomioistuimeen asianumerolla X ZR 21/26. Ei lainvoimainen BGH-valituksen ollessa vireillä.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67792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7 O 3341/24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Tarkasteltujen tuotteiden todettiin loukkaavan patenttia (2.4.2026)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Virallinen tuomio katsoi tarkasteltujen tuotteiden loukkaavan vaatimuksia 1 ja 6 välittömästi ja täydentävien osien osalta välillisesti sekä määräsi tuomiossa luetellut oikeusseuraamukset. Virallinen tuomio on saatavilla; valitustilaa, lainvoimaisuutta ja täytäntöönpanoa ei ole tässä julkaisussa riippumattomasti vahvistettu.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CF76E1B-FF44-4AA8-BEF7-5AA3C59C3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Saksan ratkaisu on vain dokumentoidun rajauksen kalibrointi- ja teknisen neuvotteluvoiman syöte; se ei globalisoi suojaa tai loukkausta.</a:t>
            </a:r>
          </a:p>
        </p:txBody>
      </p:sp>
    </p:spTree>
    <p:extLst>
      <p:ext uri="{BB962C8B-B14F-4D97-AF65-F5344CB8AC3E}">
        <p14:creationId xmlns:p14="http://schemas.microsoft.com/office/powerpoint/2010/main" val="1957380684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DC4FC4F-1DCC-497E-9E3E-B1D1C2058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OIKEUDELLINEN NÄYTTÖ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9F79E03-117E-4A73-955F-FF43BA2DE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Kiinan asia ei ole loukkausvoitto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BEA6C82-0B70-42CA-BD5E-09EAEDD7A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93881B6-0CCC-40E2-AC5D-4B244F372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4248DB7-DFA7-4D26-A3E2-6181CD2EE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2026.08.03-44 · 2026-08-03 · Lähteet: RPX; CNIPA guidance; EPO family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CA0A0E0-58CD-4989-899C-853A835E1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817C6612-275D-4495-B75F-66AF87F61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124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Julkinen sekundäärinen asiakirjarekisteritieto viittaa hylätyn hakemuksen hakijapuolen uudelleentarkastukseen.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6E2F3B8-58ED-4E04-9C16-2BD4683A3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Menettely luokitellaan uudelleentarkastuspyynnöksi.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Virallista päätöstä ja tarkkoja perusteluja ei saatu julkiseen pakettiin.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CN105764365B julkaistiin myöhemmin myönnettynä 4.5.2021.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CFCE0D8D-065F-4AD2-8919-66BED94D0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9A7081C2-BDED-44A2-B083-B72D10A95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Käyttöraja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B00A76C7-2770-4E3B-8FEB-9F3B4A505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Asiaa ei saa kuvata Kiinan loukkausoikeudenkäynniksi, vastapuolen mitätöintiasiaksi tai kassavirtanäytöksi.</a:t>
            </a:r>
          </a:p>
        </p:txBody>
      </p:sp>
    </p:spTree>
    <p:extLst>
      <p:ext uri="{BB962C8B-B14F-4D97-AF65-F5344CB8AC3E}">
        <p14:creationId xmlns:p14="http://schemas.microsoft.com/office/powerpoint/2010/main" val="7852736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64FED76-43E0-48F8-842D-E5D06C7A7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RISKIT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4294E5C-9629-4DCC-AD36-4231C2569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Neljä ajankohtaista IP-hälytystä vaatii dokumentoidun omistajan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4DAE191-FD7D-4925-8706-9F0D97C0A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895DDCB-868A-4974-B1EF-852A19745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A6437E1-DD25-44F9-BC55-99700AFE1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2026.08.03-44 · 2026-08-03 · Lähteet: IP Australia; PRH; EPO; EPO / UPC; USPTO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0D88CC1-6F12-4FE1-A4C3-4572A27DC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8600"/>
                <a:gridCol w="1932166"/>
                <a:gridCol w="6859192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Maa / alue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Päivä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Toimi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Australia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14.8.2026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Vahvista Australian seuraava uusiminen heti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Suomi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31.8.2026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Suomen 14. vuosimaksu erääntyy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Eurooppa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7.8.2026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Täsmäytä jokainen eurooppalainen kansallinen oikeus ennen maksukierrosta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Yhdysvallat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4.12.2026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Vahvista ja hoida Yhdysvaltain 7,5 vuoden ylläpitomaksu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E67177A-DD37-435B-B7F1-CD89973B5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Määräpäivävalvonta on vakuusarvon operatiivinen kontrolli, ei hallinnollinen sivuseikka.</a:t>
            </a:r>
          </a:p>
        </p:txBody>
      </p:sp>
    </p:spTree>
    <p:extLst>
      <p:ext uri="{BB962C8B-B14F-4D97-AF65-F5344CB8AC3E}">
        <p14:creationId xmlns:p14="http://schemas.microsoft.com/office/powerpoint/2010/main" val="91566225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B6ABE6C-5CA0-416C-8041-BBE404932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MARKKINA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3A023EA-74EC-4B69-AB67-64E236228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195 maan markkinaevidenssi on syöte — ei patentin arvo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E14D043-7CB7-433A-8601-AF03FDEE8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4EA4954-724D-458C-B661-86C136E0C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99F444E-69EE-468B-88CD-BE0ACE065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2026.08.03-44 · 2026-08-03 · Lähteet: UN; Atlas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1AAF0E1-8073-43CA-9FF8-C9F688FF9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8EEFE4A7-6C95-4A47-A7F3-2A2E12C75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B4DEF69-3C9B-476B-B026-E1B5F25B8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DA75F065-A1F0-473C-A3BB-56D40FB00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A-luokan maata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F3CCD98A-BEB8-428B-935A-DBBF3E8E5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DFBE84C-2B3F-4236-A234-3C49292BA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C12E49ED-22BE-44E7-876D-4AE9E94D5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B-luokan maata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6F7C69B8-28A2-4006-8497-BD4381CD8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3AC8C4FA-549C-480C-A624-9FD72D548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FC3773D4-1106-4260-AFA0-70C9179DA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C-luokan maata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6B8E8CB8-BCE6-4615-B52C-597103DEE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5EB33515-22DC-4048-BDC2-445C7DE13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158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A382095B-16FF-4F3F-9827-9E70D42DC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D-luokan maata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50BA5963-97EF-476E-8375-3082DC8FD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37 evidenssimerkintää; universumin YK-osuus on 193 jäsenvaltiota.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385E1940-AB4E-4433-BE27-6A8D297BE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DC50315B-065C-48E0-ACA8-30D110373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494C5F2F-4F38-4CC6-82FF-2909AC4E7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Luokat A–D kuvaavat evidenssikypsyyttä, eivät markkinan kokoa tai kaupallista houkuttelevuutta.</a:t>
            </a:r>
          </a:p>
        </p:txBody>
      </p:sp>
    </p:spTree>
    <p:extLst>
      <p:ext uri="{BB962C8B-B14F-4D97-AF65-F5344CB8AC3E}">
        <p14:creationId xmlns:p14="http://schemas.microsoft.com/office/powerpoint/2010/main" val="936629611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2052DA8-04F7-4FA7-A5E3-9A95AA522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MARKKINA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0A51B9A-7C73-4FED-86B0-50CDCDEB9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9875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92114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116 markkinamittaria ja 36 Ruotsin FHM-lukua; menetelmäkontrolli 28 / 0 / 15 / 152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82E4C04-28C3-4A91-8654-FE34337CF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092C7D5-6269-417A-8D23-4F0C88AEC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F986AB9-9000-49D3-B1BC-59D9F9350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2026.08.03-44 · 2026-08-03 · Lähteet: World Bank; Statistics Canada; Health Canada; New Zealand Ministry of Health; Destatis; Vero; Sejm; FHM; FTC; ADM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5041CC1-2FE0-457A-B19F-7BDB6718B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60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1328"/>
                <a:gridCol w="1944243"/>
                <a:gridCol w="768438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Maa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Vuosi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Virallinen havainto / tuettu malli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Kanada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2019–2025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StatsCan-vähittäismyynti 2024: 1,219160 mrd CAD (≈822,6 milj. EUR; ECB 2024) / 822,58 milj. EUR; kuukausireitti +1 000 CAD. Kanada 7/10; D5/D7 hylätty, D10 avoin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Saksa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2023–2025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1,241 milj. l → 1,518 milj. l verotettua nestettä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Suomi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11 801,062 l; 3,54 milj. EUR valmisteveroa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Uusi-Seelanti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2022–2024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tunnistettu AIS/AVP-sähkötupakkasumma 274,180 milj. NZD (≈153,3 milj. EUR; ECB 2024); kulutustarvikkeet 189,402 + laitteet 84,709 + sekajärjestelmät 0,069 milj. NZD. NZ 7/10; D5 hylätty, D8/D10 avoinna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Puola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2020–2023 / 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e-nestevirta 1 451 529 → 805 441 litraa; verosilta 4 382 500 laajan ryhmän laitteelle + 62 500 osasarjalle. Ei sähkötupakkakohtainen vähittäisarvo tai hyväksytty luovuttajamarkkina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Yhdysvallat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2015–2021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FTC: suljettujen järjestelmien ja kertakäyttötuotteiden raportoitu myynti 2,763 mrd USD (≈2,336 mrd EUR; ECB 2021) vuonna 2021; valmistajaraportointia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A86516C-6400-4F50-981E-7FB633527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Litroja, toimitusarvoja ja valmisteveroja ei summata yhdeksi markkinaksi.</a:t>
            </a:r>
          </a:p>
        </p:txBody>
      </p:sp>
    </p:spTree>
    <p:extLst>
      <p:ext uri="{BB962C8B-B14F-4D97-AF65-F5344CB8AC3E}">
        <p14:creationId xmlns:p14="http://schemas.microsoft.com/office/powerpoint/2010/main" val="297515334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515EE1D-929A-4E17-B8F0-EE527F424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KANADA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47C75AE-DA14-43F3-BD6C-1677B2406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Kanada 2024: vahva piste-estimaatti, 7/10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761966A-07E4-4EBE-AB75-7ED458C71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5C67D2E-6C5D-4F10-B9B8-8CBD6F292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B6C89962-ED49-4356-87BC-D330905DC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2026.08.03-44 · 2026-08-03 · Lähteet: Statistics Canada; Health Canada 2024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3AFCF2FE-E41E-42FC-8CE6-274C9E439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15FCD3B6-657C-4E74-A8AD-2EAD68530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DB2E047-B2DD-4630-BBB3-F5DBBD841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1,219160 mrd CAD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E1110780-EF66-4874-BE50-D40A5CAE7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kuluttajavähittäismyynti · ≈822,6 milj. EUR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2E4077AD-0F33-49F1-B1E3-99F9058F7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B13ACC3-0873-4E06-8E58-23093408A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1,160754 mrd CAD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0658CA19-3A83-4518-9FDA-349F78E56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toimitukset · ≈783,2 milj. EUR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56F936B9-8AA1-42E7-8B41-2C7B3C0D2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56AE62ED-5117-4BD5-BCD5-BE01100B0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1 000 CAD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C8B608E5-0F2C-4B86-9E51-A0630B87F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kuukausi–kvartaali-ero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F04F8739-F4E3-4950-9E7A-6EEF4F346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Vähittäismyynti ylittää toimitukset 58,406 milj. CAD (5,03 %). Jäännös ei ole kate eikä markkinahaarukka; D8 suljettu veroaineistolla.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393CEC82-B923-45FE-9943-F16252DE1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EDD02CE-FB70-4000-813D-208CB99E8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CD8D32A6-B5FC-426C-AF35-95E02B8DF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Kanada läpäisee 7/10. D5 hylätty: NAICS 459999 jää kohdejoukon ulkopuolelle. D7 hylätty: tarkkoja tuoteryhmätason laatumittareita ei ole saatavilla. D10 avoin: eri tapahtumatasojen silta on täsmäyttämättä.</a:t>
            </a:r>
          </a:p>
        </p:txBody>
      </p:sp>
    </p:spTree>
    <p:extLst>
      <p:ext uri="{BB962C8B-B14F-4D97-AF65-F5344CB8AC3E}">
        <p14:creationId xmlns:p14="http://schemas.microsoft.com/office/powerpoint/2010/main" val="1242797528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B153708-E770-4458-B11B-B354E57BD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SAKSA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0B24106-DE83-4067-AF57-814B58B50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Saksan virallinen nestemäärä kasvoi, mutta arvo vaatii hintaoletuksen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642102A-AA92-404E-8459-9BC83BADA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55F62B1-1701-41F3-987C-F0C616AF7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3B1D355-25E0-4BBD-9A12-C06CB5AE5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2026.08.03-44 · 2026-08-03 · Lähteet: Destatis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3A4B83C3-8DAE-4A84-A9A3-47FCC210A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362224"/>
                <a:gridCol w="3069857"/>
                <a:gridCol w="2631306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Vuosi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Verotettu neste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Valmistevero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Lopullisuus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1,241 milj.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201 milj. EUR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Lopullinen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1,284 milj. 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266 milj. EUR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Lopullinen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1,518 milj.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404 milj. EUR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Alustava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E839559-C237-4ACD-96BC-2BF323999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Verotettu nestemäärä ei sisällä laitteita, verotonta tai laitonta kauppaa eikä ole retail-arvo.</a:t>
            </a:r>
          </a:p>
        </p:txBody>
      </p:sp>
    </p:spTree>
    <p:extLst>
      <p:ext uri="{BB962C8B-B14F-4D97-AF65-F5344CB8AC3E}">
        <p14:creationId xmlns:p14="http://schemas.microsoft.com/office/powerpoint/2010/main" val="81980079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B229621-81D3-41DC-BCBD-E94E93CB0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MALLINNUS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D851C73-B243-478F-910B-94DAE661B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Saksan näyttö kalibroi — se ei globalisoi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37E8E9D-82A0-451E-AE4C-DA2F1EBA6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AEB42AF-CDD3-4947-8BBF-796E7ED86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0B45945-B94C-4A18-8A16-F4D450386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2026.08.03-44 · 2026-08-03 · Lähteet: Destatis; inTaste.de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D877CA3-9AB5-4895-838F-5B35607FC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51A9900A-3B61-4030-86E1-E2D1858C5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E6B0063-DE50-443B-874F-DCA4765A9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667,92 milj. EUR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151ED254-3784-486A-9B4B-FC534E365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0,44 EUR/ml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1E31F98F-AA70-4B78-84E6-5C976B64E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543BD53C-D25D-4460-890B-1D86279B4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1 199,22 milj. EUR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A1EA05F7-9B53-4DA3-B18A-3DF2ECECD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0,79 EUR/ml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39E3D4D7-D184-4548-87DD-D31936984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52C8BE06-3D44-47AC-8F74-8413A9D76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1 654,62 milj. EUR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DB9AC987-FD18-4C90-BF03-61550341C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1,09 EUR/ml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7BBFD211-4456-459B-9DD8-799E10E94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Kaava: volume_litres * 1000 * retail_price_eur_per_ml.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02611F66-4FAB-441E-8068-B5A622FA6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0F3E4FE2-D9B2-49AA-900F-07EF7170D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2E90624D-4EF0-4D18-8C7F-4EF1E642E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7589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Julkaistu Saksan ratkaisu on vain mahdollinen tapauskohtainen evidenssi ratkaistulle tuotteelle ja patenttivaatimukselle. Siirtäminen toiseen tuotteeseen, vastapuoleen, ajanjaksoon tai maahan vaatii ajantasaisen asiantuntijan vaatimusvertailun ja prosessitilan tarkastuksen.</a:t>
            </a:r>
          </a:p>
        </p:txBody>
      </p:sp>
    </p:spTree>
    <p:extLst>
      <p:ext uri="{BB962C8B-B14F-4D97-AF65-F5344CB8AC3E}">
        <p14:creationId xmlns:p14="http://schemas.microsoft.com/office/powerpoint/2010/main" val="185375108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1191C69-9BC5-4308-869C-C40A6165B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GLOBAALI MARKKINA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6CACE5F-41AB-442F-B8C7-3EBD34867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Globaalit arviot ovat ristiintarkistus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9D87713-1CA2-44C6-B981-506147708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3A4F8C4-911F-4ED6-B592-D0306F446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3008745-AF32-4CB6-B1DA-14BD160FD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2026.08.03-44 · 2026-08-03 · Lähteet: IMARC; GVR; Fortune; European Commission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525361D-8A54-416D-9EFB-7D7156217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B5A70575-7269-4307-B046-0C8A013DD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70ADBFA-0869-4CF1-B7D0-71E8A9D55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26,0 mrd USD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40DECEA-177E-49C9-BAC7-A487864CD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IMARC 2025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A98C7953-326C-4378-B75C-4D33CFB52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C719CEFA-29CA-4015-A84F-8E04E088A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45,7 mrd USD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2B54C1DD-4A4E-4261-B0A8-B8B3ADD55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GVR 2025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953BA34B-A215-4B93-81AF-5F97EF739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5ACF538D-0EBF-4CD1-A53F-E4F4B2955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46,32 mrd USD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EA686E9C-0A5A-4586-8F3B-912DC5726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Fortune 2025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6E33BBAA-1657-4C96-AAAF-3CF330F59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7FC69B1F-FA88-4375-B4F0-FC6C1B59D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4,99 mrd EUR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0042BA1C-88E6-4249-9DFD-D75EAE16A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EU-komission vertailuarvo 2023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48FD0937-7D87-4F14-ADD3-4E0638B61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EU:n vertailuarvo tukee mittaluokan ristiintarkistusta; kaupallinen haarukka on leveä, koska tuoterajaukset ja metodit voivat poiketa.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B35720EC-DAD2-40AF-AC88-7BD04784D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930F1E9E-3F2D-4D6D-9A44-770A6B88C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3AC3BC88-1565-44E7-B421-42D0EDFAE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EU-luku perustuu kaupalliseen Euromonitor 2025 -aineistoon; Kypros, Luxemburg ja Malta puuttuvat. Se ei ole kansallinen luovuttajamarkkina. Arvioita verrataan, ei summata tai käytetä automaattisesti rojaltipohjana.</a:t>
            </a:r>
          </a:p>
        </p:txBody>
      </p:sp>
    </p:spTree>
    <p:extLst>
      <p:ext uri="{BB962C8B-B14F-4D97-AF65-F5344CB8AC3E}">
        <p14:creationId xmlns:p14="http://schemas.microsoft.com/office/powerpoint/2010/main" val="445120136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840270C-B418-4924-8131-4A78C6264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METODI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747B3A7-9336-4FEE-8450-3B3D9AA30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Donor 0/3 on evidenssivalmiuden syöte — ei lopputavoite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7511DAC-E3D5-4EF3-9EC0-59DDA742D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01029BE-F2A0-4529-A6BC-B7AA09252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C406149-1135-4063-913B-ED809DE06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2026.08.03-44 · 2026-08-03 · Lähteet: Market-values model; Method-route control; Readiness ja donorCandidates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E42820E-10EC-46A0-B58E-4BDD2B3C7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E6A92274-D42F-4851-B6C2-9023CE5DB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124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Nykyinen donor-portti on 0/3; se mittaa mahdollisen globaalin markkinamallin evidenssivalmiutta, ei patentin lopullista arvoa.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A19CCDBF-964B-407A-93A2-44D0BD3DE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Jokaisen donor-ehdokkaan on läpäistävä D1–D10; tällä hetkellä hyväksyttyjä donoreita on nolla.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Donor-portti ei korvaa maakohtaisia oikeuksia, tuote–vaatimusvertailua, kohdistettavaa myyntiä tai taloudellista perustetta.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Markkina-arviot säilyvät ristiintarkistuksina; niitä ei summata keskenään eikä nimetä patentin arvoksi.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7586A9AF-4FD4-4FAD-B938-0FF9A1331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0CCD73B2-465C-46C7-A134-68ADB089B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Vasta sitten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A1CD8CD6-65AE-4071-AC7A-0D4A0CE61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Vertaa kysyntä-, vero-, tulli-, yritys- ja hintamenetelmiä; älä lisää vaihtoehtoisia estimaatteja yhteen tai käytä puuttuvaa nollana.</a:t>
            </a:r>
          </a:p>
        </p:txBody>
      </p:sp>
    </p:spTree>
    <p:extLst>
      <p:ext uri="{BB962C8B-B14F-4D97-AF65-F5344CB8AC3E}">
        <p14:creationId xmlns:p14="http://schemas.microsoft.com/office/powerpoint/2010/main" val="465464286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9C83A17-9D53-474E-A130-41D92B14C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ARVOSILTA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4EB82B3-CD23-4ECA-B129-F66E28484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9875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Viisi näyttösuodatinta syöttää seitsemän askeleen arvomallia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58E5976-BBAF-4A3B-A656-573F9BD2E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1E8F24F-E166-4A6B-AE89-F212ED1BE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B47704EE-9C5A-418F-A6BA-A525DDC00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2026.08.03-44 · 2026-08-03 · Lähteet: WIPO valuation;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BBE592A-2745-4A28-9903-3B01EEC37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60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0270"/>
                <a:gridCol w="4217670"/>
                <a:gridCol w="4732020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Taso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Suodatin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Näyttö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 Kokonaismarkkina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Tuote- ja mittarirajaus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Osittainen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2. Oikeusalue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Voimassa oleva patenttivaatimus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 globaalisti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3. Kohdetuotteet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Vaatimusvertailutaulukko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Rajattu näyttö: Saksa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4. Kohdistettava myynti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 × maa × aika × nettomyynti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5. Kassavirta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Rojalti/sovinto − kulut − verot − viive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F65F3B3-FEB0-4D1A-BC21-D5E91BB0C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Vain riski-, kulu-, vero- ja aikakorjattu patenttikassavirta voi muodostaa arvon; kokonaismarkkina ei yksin muodosta sitä.</a:t>
            </a:r>
          </a:p>
        </p:txBody>
      </p:sp>
    </p:spTree>
    <p:extLst>
      <p:ext uri="{BB962C8B-B14F-4D97-AF65-F5344CB8AC3E}">
        <p14:creationId xmlns:p14="http://schemas.microsoft.com/office/powerpoint/2010/main" val="1522802615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8665F2B-AF30-41EB-AD08-6333512F3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ASIAKKAAT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882B62C-89CD-47EA-B341-EAB88E126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Asiakassegmentit ovat vielä hypoteeseja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FB1EBC3-F165-481B-B208-0905F0725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4760A37-28A8-4ED9-9091-58CD13847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ADE42BD-33FE-45F7-B8D4-6E70FC9A4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2026.08.03-44 · 2026-08-03 · Lähteet: WIPO licensing; IP Finance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DA5316E-F42B-47D1-BA77-5E784F3A0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9CD2B698-F4E6-4ED1-AB75-46DB61F98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0241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Segmentointi johdetaan kaupallistamisreiteistä: valmistajat, teknologiatoimittajat sekä IP-rahoittajat ja ostajat.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4620861-F964-4F23-91EF-252E783A5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Valmistajalle arvo voi olla lisenssi, toimintarauha tai sovinto.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Teknologiatoimittajalle arvo voi olla integroitava toiminto tai oikeusasema.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Rahoittajalle arvo on kontrolloitava, realisoitava kassavirta ja downside-suoja.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26C84FC8-F4FD-4399-9500-8AC9F3711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F6F7E68A-BD7B-4BE1-AC13-1EC6C3A04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Validointi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BB38DBC-C04F-4489-9975-BE841BE94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Dokumentoi 10–15 haastattelua, päätöskriteerit, vastalauseet, budjetti ja seuraava askel. Julkinen aineisto ei vielä sisällä näitä.</a:t>
            </a:r>
          </a:p>
        </p:txBody>
      </p:sp>
    </p:spTree>
    <p:extLst>
      <p:ext uri="{BB962C8B-B14F-4D97-AF65-F5344CB8AC3E}">
        <p14:creationId xmlns:p14="http://schemas.microsoft.com/office/powerpoint/2010/main" val="971611632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E7AAAFB-167E-4030-87CA-80D95B1C4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KILPAILU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D66E6ED-8BEF-4A20-9EEE-54DADED99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Kilpailukartta on rakennettava neljälle rinnakkaiselle tasolle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D5413FC-2783-41CF-956A-6DDFC2A86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CDF1876-2B7F-49B5-B02B-D7FCB9C7C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3398710-AFB1-4405-988C-B25F1013A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2026.08.03-44 · 2026-08-03 · Lähteet: Evidence Register; EPO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621EE8DB-9FB0-4F00-B2D1-925640E51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5452109"/>
                <a:gridCol w="360044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Taso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Analyysi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Tuotos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Tuotteet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Toiminto, arkkitehtuuri, hinta, markkina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Vertailumatriisi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Patentit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Vaatimukset, aiempi tekniikka, tila, toimintavapaus (FTO)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Patenttimaisema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Kiertoratkaisut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Voiko suorituskyvyn toteuttaa eri tavalla?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Kiertoratkaisuarvio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Kaupallinen vaihtoehto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Lisenssi, hankinta, oma kehitys, riitely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Osta / rakenna / lisensoi / riitele -malli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97AB7E8-9898-47E3-9CF2-981410663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Tekninen etu ei ole uskottava ennen kuin vaihtoehdot on kuvattu ja lähteistetty.</a:t>
            </a:r>
          </a:p>
        </p:txBody>
      </p:sp>
    </p:spTree>
    <p:extLst>
      <p:ext uri="{BB962C8B-B14F-4D97-AF65-F5344CB8AC3E}">
        <p14:creationId xmlns:p14="http://schemas.microsoft.com/office/powerpoint/2010/main" val="94858975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828034F-3655-46A8-B133-DCD2DB7AF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TEKNINEN VALIDOINTI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03792B4-A2DD-4E81-A42E-D00AE8099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Tuotevalidointi tarvitsee katkeamattoman ketjun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005DCD2-327D-4284-9EFA-F3A4A39F0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7C1EFC2-0D0F-4320-A3F0-ACAFE8009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7776AC0-36A8-4A0B-84CC-55A7E3D19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2026.08.03-44 · 2026-08-03 · Lähteet: EP3032975B2;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3729D459-FEC1-4356-91A1-D4D86F1EF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E2AABC7F-5E7A-45DD-B474-DF6C79144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5AE8D16-A782-428B-A81F-DEECFA065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FD54F3C4-5C02-4C23-9F1E-B78BD77D5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Näyte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F812B12E-500C-4BC1-BDA1-69E00E78D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Osta oikeasta maasta ja ajankohdasta; dokumentoi myyjä, tuoteversio ja sarjatiedot.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2F7C9073-3AB1-4BD5-9935-4AD6392A8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C7C68A47-3529-462B-8016-D49453932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9A5CE307-90E1-4D79-B638-E40B66DE9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Hallussapitoketju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EAA7EF73-ADE6-43C0-813E-A08FBF0DC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Tallenna vastaanotto, säilytys, avaaminen, kuvaus ja tiedostojen hashit.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81ADD17D-3A37-433A-9D32-FB8DEB401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B1F02569-D81F-4583-A298-D21E4EDFE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A940259A-E5A8-45E2-8D8C-929A8B2F5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Purkuanalyysi ja testi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F37B4454-2BE1-4F82-902D-A7323C08C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Tee riippumaton mittausprotokolla, raakadata ja toistettavuustesti.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CF99D1DC-DCBE-49C9-B27C-56EDFCEE5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8F757EDE-A792-4D2F-9BDD-205CB4192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61AAC3AD-7C42-41EA-948E-4BD499DCC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Vaatimusvertailu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1053CB24-114C-4976-8CB1-3D3D3D251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Mapita jokainen vaatimuspiirre todisteeseen ja asiamiehen johtopäätökseen.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CDAAEDF7-77F8-4731-A814-6835F41AE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Markkinamyynti voidaan kohdistaa vasta, kun tuoteidentiteetti ja vaatimusvertailu ovat hallittuja.</a:t>
            </a:r>
          </a:p>
        </p:txBody>
      </p:sp>
    </p:spTree>
    <p:extLst>
      <p:ext uri="{BB962C8B-B14F-4D97-AF65-F5344CB8AC3E}">
        <p14:creationId xmlns:p14="http://schemas.microsoft.com/office/powerpoint/2010/main" val="779703133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BAA3E80-A32F-4B1A-A1A0-4CC4B8984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KAUPALLISTAMINEN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8B48A49-9467-4539-9896-65F1D7215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Kaupallistaminen aloitetaan kovista porteista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0881530-7250-4920-BCF3-B5E8CC15F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CDDE60F-EA32-4386-BB24-F4D32CF1C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DB3EFE9-7D75-4443-BFA1-4F5704E18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2026.08.03-44 · 2026-08-03 · Lähteet: WIPO dispute resolution; EPO IPscore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932ED5A-FAAD-43FA-8A2B-E30E7CD93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88054A37-2E4D-428B-9002-35F4E665C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7D10F85-1C2E-4598-83E9-5B65B1375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A55E8F0-ED3F-474D-80CC-BED4B137B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Vahvista oikeus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AB5818AA-362D-4234-A605-46D6BCDE8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Ei yhteydenottoa ilman maakohtaista omistusta, voimassaoloa, rasite- ja määräpäivätietoa.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98221DE3-FF50-4F41-9408-A711E08CF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FC44D0BB-1C71-4E13-B68A-30C266E0A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29552831-B290-445E-BCDC-13C9CD5C9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Vahvista tuote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FF6E37C9-EC10-4088-BC59-4590A1BAA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Ei väitettä ilman tuotenäytettä, claim chartia ja paikallisen teon dokumentointia.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A717AC3B-B116-4E65-9C02-2CC6F22FD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BF00D456-27F2-4AE8-9133-3C969985D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D49191E1-E368-4F72-83D7-F785BD0FE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Pisteytä kohde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8E2D4A9-3E20-4ACA-86FE-1C5BEBF67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Arvioi myynti, näyttö, vastapuoli, toimivalta, kustannus ja perittävyys.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92AED477-B1C5-4242-BF4B-1379D1FFD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4EAC652F-914B-4E50-8FC6-C2E2EAF75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008A88A5-E874-4AAB-A40C-7CD1488FB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Testaa pilotti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6EFB1854-E5D6-4020-A6B3-A6C218EB6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Neuvottele lisenssi-, sovinto-, luovutus- tai rahoitusvaihtoehdot kontrolloidusti.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F439EDDF-34B1-493F-A15B-79E93797B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Yhteydenottokirje ei automaattisesti katkaise vanhentumista tai todista tiedoksiantoa.</a:t>
            </a:r>
          </a:p>
        </p:txBody>
      </p:sp>
    </p:spTree>
    <p:extLst>
      <p:ext uri="{BB962C8B-B14F-4D97-AF65-F5344CB8AC3E}">
        <p14:creationId xmlns:p14="http://schemas.microsoft.com/office/powerpoint/2010/main" val="1705549285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A652C0D-D252-4C48-9D5B-4D24EC68C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KAUPALLISTAMINEN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B05BB98-8F9E-449A-B1AD-16362E135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Kaupallistamisreitit eroavat kassavirran, kontrollin ja riskin suhteen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762481D0-A555-4EFA-9BEC-65A720B85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68620B2-6B7B-4369-94BA-04E9B7859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06FD74A-0ADF-4B92-B284-2409E1731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2026.08.03-44 · 2026-08-03 · Lähteet: WIPO licensing; IP Finance; TPLF mapping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6E7FEC8-EC78-43F3-A193-A45C63DF6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995687"/>
                <a:gridCol w="5067701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Reitti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Kassavirta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Keskeinen riski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Lisenssi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Alkumaksu + jatkuva rojalti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Rojaltipohjan auditointi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Sovinto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Kertamaksu / vaiheistus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Ei automaattista ennakkotapausta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Luovutus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Kauppahinta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Luovutetaan tuleva tuottopotentiaali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IP-rahoitus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Velka tai tuotto-osuus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Vakuusarvo ja kontrollit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Prosessirahoitus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Kuluihin sidottu pääoma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Korkea kustannus ja lopputulosriski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A27C2765-9F4F-4500-97B3-15FEB2066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Valitse reitti vasta, kun oikeus, vastapuoli, kassavirta ja alariski on todennettu.</a:t>
            </a:r>
          </a:p>
        </p:txBody>
      </p:sp>
    </p:spTree>
    <p:extLst>
      <p:ext uri="{BB962C8B-B14F-4D97-AF65-F5344CB8AC3E}">
        <p14:creationId xmlns:p14="http://schemas.microsoft.com/office/powerpoint/2010/main" val="2141299047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F31CF35-D248-4D3F-960E-5CC3820CD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TALOUDELLINEN MALLI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AB7AD96-9AC5-4C0C-9F1D-841E09D2B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Seitsemän arvotulosta alkaa null-tilasta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C52D290-4A0D-4BBB-B3E9-382740A3E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454F70C-9471-4BAD-A2B1-062BCCB8B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40D736D-AA27-4DCF-A510-E7D332561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2026.08.03-44 · 2026-08-03 · Lähteet: Evidence Register; WIPO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45AFABE-45C3-4EBC-A61E-90C503E62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9" cy="3977634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8761"/>
                <a:gridCol w="5869412"/>
                <a:gridCol w="1781786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Syöte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Lähde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Tila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Maakohtainen kohdistettava myynti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Viranomainen / vastapuolen ilmoitus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Vaatimuksiin kohdistettu osuus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Asiamiehen tarkastama tuotedossieri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Rojalti tai vahinko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Sopimus / oikeudellinen analyysi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Ajoitus ja perittävyys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Prosessi- ja vastapuolianalyysi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Kulut ja verot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Budjetti / veroasiantuntija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Diskonttaus ja alariski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Riippumaton arvonmääritys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F5B3056-75D8-466A-A150-51CB070B2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Markkinaosapuoli-, omistajakohtainen, RFR-/oma käyttö-, kolmannen lisensointi-, täytäntöönpano-, transaktio- ja vakuustulos pysyvät null/NOT_COMPUTED-tilassa eikä niitä summata.</a:t>
            </a:r>
          </a:p>
        </p:txBody>
      </p:sp>
    </p:spTree>
    <p:extLst>
      <p:ext uri="{BB962C8B-B14F-4D97-AF65-F5344CB8AC3E}">
        <p14:creationId xmlns:p14="http://schemas.microsoft.com/office/powerpoint/2010/main" val="1289903021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82560BB-9508-4FF9-BA40-1368FACC0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HERKKYYDET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115E1DB-9681-4B58-8867-C67693C17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Herkkyydet ilman riskien päällekkäisyyttä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CF6C2FA-1A70-4BFF-8AD5-67C9E937E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1438377-9808-4693-8FD4-FF732E8C1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0BC774D-65EF-4F17-8FD5-96CD8606E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2026.08.03-44 · 2026-08-03 · Lähteet: WIPO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CDDF6B3-2928-4D4E-8A22-1B60E9001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8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0907"/>
                <a:gridCol w="3514375"/>
                <a:gridCol w="2267338"/>
                <a:gridCol w="2267338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Ajuri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Ala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Perus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Ylä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Oikeusalueet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Vain vahvistettu maa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Priorisoidut maat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Laajempi varmennettu peitto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Vaatimusosuvuus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Yksi tuote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Validoitu portfolio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Laaja mutta dokumentoitu osuus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Rojalti / korvaus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Asiantuntijan alaraja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Vertailuehdot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Vain todennettu yläraja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Ajoitus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Valitus ja pitkä perintä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Sopimusreitti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Etupainotteinen rakenne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Kulut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Täysi riitelybudjetti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Rajattu pilotti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Vastapuolen kattamat kulut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6E203C1-F9D9-4CB1-A32F-DB50BAB2F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Älä syötä prosentteja ennen lähdenäyttöä; samaa myyntiä, kassavirtaa tai riskioikaisua ei saa laskea kahdesti.</a:t>
            </a:r>
          </a:p>
        </p:txBody>
      </p:sp>
    </p:spTree>
    <p:extLst>
      <p:ext uri="{BB962C8B-B14F-4D97-AF65-F5344CB8AC3E}">
        <p14:creationId xmlns:p14="http://schemas.microsoft.com/office/powerpoint/2010/main" val="1091237348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1413C17-7A67-449B-9F75-5A3289D34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TUTKIJAN KYSYMYKSET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68F7273-9094-441C-AC2D-85A706C54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Viisi kysymystä määrittää pankin seuraavan päätöksen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1B69B03-007A-4A94-9E0E-34476FF78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EF5F58F-B5D7-423F-B3D4-678C8C1FC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F40055D-0052-46FE-BF9D-02FA1DC0D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2026.08.03-44 · 2026-08-03 · Lähteet: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EAEC35F-24A8-4B5E-B7D8-DDC5AEFBB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7175"/>
                <a:gridCol w="4659015"/>
                <a:gridCol w="582376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#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Kysymys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Vaadittu vastaus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Mitä tarkalleen omistetaan ja missä se on voimassa?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Allekirjoitettu oikeusmatriisi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Mikä tuote täyttää mitkä vaatimuspiirteet?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Vaatimusvertailutaulukko + riippumaton testi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Mikä on todennettu relevantti myynti?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Tuote–maa–aika–nettomyynti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Mistä ja milloin velanhoitokassa syntyy?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Sopimukset, maksut, ennuste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Mitä vakuus realisoi alariskitilanteessa?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Riippumaton arvo + toteutuspolku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42D5C29-98DA-411D-9ABD-2AE940690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Jos yksikin vastaus jää olennaisesti auki, rahoitus on rakennettava ehdolliseksi ja vaiheistetuksi.</a:t>
            </a:r>
          </a:p>
        </p:txBody>
      </p:sp>
    </p:spTree>
    <p:extLst>
      <p:ext uri="{BB962C8B-B14F-4D97-AF65-F5344CB8AC3E}">
        <p14:creationId xmlns:p14="http://schemas.microsoft.com/office/powerpoint/2010/main" val="2055504365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EBEC537-FF45-416C-A87C-8102FA1C6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AINEISTOPYYNNÖT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85FC488-BD78-43AF-A64A-A694A9B8C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Puuttuva aineisto priorisoituu vaikutuksen, ei helppouden mukaan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03E3D26-8D58-4852-85E1-09DFD8C43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2488C6F-8390-4540-B9E7-0D2376D00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ECCD5D1-2975-44ED-8787-F4850E283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2026.08.03-44 · 2026-08-03 · Lähteet: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80C1021-FB7F-4ABC-8B50-6ACD34972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9306"/>
                <a:gridCol w="4788775"/>
                <a:gridCol w="5171877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Prioriteetti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Aineisto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Päätösvaikutus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Omistus, siirrot, rasitteet, vuosimaksut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Olemassa oleva ja kontrolloitava oikeus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Tuotenäytteet, testit ja claim chartit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Tekninen osuvuus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Relevantti myynti ja vastapuolidata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Rojaltipohja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Sopimukset, saatavat ja maksut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Velanhoitokyky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Tilinpäätös, velat, budjetti ja rahoitustarve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Yhtiö- ja luottoriski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Riippumaton IP-/yritysarvonmääritys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Vakuus ja hinta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3F79D2B-B7B6-4468-92B1-64D846A8D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Julkinen paketti näyttää aukot; luottamuksellinen näyttö kuuluu pääsyrajattuun datahuoneeseen.</a:t>
            </a:r>
          </a:p>
        </p:txBody>
      </p:sp>
    </p:spTree>
    <p:extLst>
      <p:ext uri="{BB962C8B-B14F-4D97-AF65-F5344CB8AC3E}">
        <p14:creationId xmlns:p14="http://schemas.microsoft.com/office/powerpoint/2010/main" val="1594454728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5A89C18-D585-405E-8ABB-5AB9EFBB9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SEURAAVAT VAIHEET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8CB99B5-CFCE-4865-B99A-9B1CFEDBC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90 päivän ohjelma sulkee seitsemän porttia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8CCC470-DC41-4747-B557-2980FA8E3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A4F097E-79CB-4DBF-BDD1-1FA921C70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57803A4-9D9A-4953-AB7E-ECC8981A6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2026.08.03-44 · 2026-08-03 · Lähteet: Evidence Register; changelog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624D1013-464A-4E4D-91BF-BE83686DE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2392032F-88ED-4B31-845B-3100CC1D8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EEB0524-7761-4D13-8C27-180292BEA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022AAEC2-A7CD-4222-8BF4-EC62130D7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0–30 päivää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FF8ADCBB-A4B8-439C-8E6C-3B1E892A1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Lukitse arvonmääritysperuste, kohde, käyttötarkoitus ja rajausavaimet; vahvista oikeudet, omistus, rasitteet, vaatimukset ja jäljellä oleva aika.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437E76F0-0857-4159-A5FC-77A69F52C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87FE16AE-503E-48DE-9035-3E7B7A6CF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1EBAD600-7B65-4F87-BD1C-2FF5EF4E5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31–60 päivää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70B400AF-1201-4005-BC81-2D73C84BD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Kohdista tuote ja katettu myynti Boolean-/aikamaskilla, mitatulla SKU-myynnillä ja vaatimusvertailun tilalla; loukkausnäyttö vain täytäntöönpanon haaralle.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AB62CB18-E215-4F99-9AC0-6607DBD22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D043B7CD-4737-4053-B441-85E958A53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E3F37B9A-53E8-4546-B580-0FC8999B8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61–90 päivää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09C9ACEE-3453-40CC-A796-2B3209543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Valitse RFR/oma käyttö, lisensointi, täytäntöönpano tai strateginen reitti; määritä täydet skenaariot ja todennäköisyyksien summa yksi.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07CB5769-1948-41FF-8A8E-13B40D051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C4F72972-4201-497B-B044-7C26EB41F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F9710A71-3F06-4CDE-A4AD-753754868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Päätösportti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8D5FFA9D-45E7-4279-B64B-4014A97A3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Diskonttaa päivätyt painotetut kassavirrat ilman riskin/aikatekijän tuplalaskentaa; vakuus vaatii erillisen realisaatio-, etusija- ja myyntikulutapauksen.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BDB2EBF1-55A8-47BA-B07D-0B7A6AA7E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Ladattava paketti päivitetään enintään kerran Asia/Nicosia-kalenteripäivässä.</a:t>
            </a:r>
          </a:p>
        </p:txBody>
      </p:sp>
    </p:spTree>
    <p:extLst>
      <p:ext uri="{BB962C8B-B14F-4D97-AF65-F5344CB8AC3E}">
        <p14:creationId xmlns:p14="http://schemas.microsoft.com/office/powerpoint/2010/main" val="39510095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6389F44-03F4-46BB-8DA9-272312FE7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PÄÄTÖSKEHYS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B0664FF-835B-4644-BFA8-3BF15C25A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05840"/>
            <a:ext cx="10881360" cy="1261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Puolustettava patenttiarvo on läpinäkyvä ketju — ei suurin markkinaluku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FD809EC-E380-4A14-B869-11C44CD0B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286000"/>
            <a:ext cx="10012680" cy="3246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Tavoite: arvioida puolustettavissa olevat, perustekohtaiset patenttiarvon vaihteluvälit.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Nykytila: seitsemän ei-yhteenlaskettavaa tulosta ovat null/NOT_COMPUTED ja kaikki 7/7 tuloskohtaista porttia OPEN.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Seuraava päätös: sulje peruste-, oikeus-, tuote-, myynti-, talous-, kassavirta- ja riskinäyttö ilman tuplalaskentaa.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Tämä on riippumaton julkinen evidenssikooste, ei Pixan Oy:n virallinen kanta, arvonmääritys tai rahoitussuositus.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3A9F16D-A1C8-4413-9C01-6446C6872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72784"/>
            <a:ext cx="10241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Versio 2026.08.03-44 · 2026-08-03 · 30 / 30</a:t>
            </a:r>
          </a:p>
        </p:txBody>
      </p:sp>
    </p:spTree>
    <p:extLst>
      <p:ext uri="{BB962C8B-B14F-4D97-AF65-F5344CB8AC3E}">
        <p14:creationId xmlns:p14="http://schemas.microsoft.com/office/powerpoint/2010/main" val="1652814206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2026-08-04T06:59:10.8790000Z</dcterms:created>
  <dcterms:modified xsi:type="dcterms:W3CDTF">2026-08-04T06:59:10.8790000Z</dcterms:modified>
</coreProperties>
</file>