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df3394b337814c95" /><Relationship Type="http://schemas.openxmlformats.org/officeDocument/2006/relationships/extended-properties" Target="/docProps/app.xml" Id="R0aeac1b1f99a4b6d" /><Relationship Type="http://schemas.openxmlformats.org/officeDocument/2006/relationships/officeDocument" Target="/ppt/presentation.xml" Id="R2c6651d2917d42bd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1f36e5fdf7e453e"/>
  </p:sldMasterIdLst>
  <p:notesMasterIdLst>
    <p:notesMasterId xmlns:r="http://schemas.openxmlformats.org/officeDocument/2006/relationships" r:id="Rd43761abf7294d4f"/>
  </p:notesMasterIdLst>
  <p:sldIdLst>
    <p:sldId xmlns:r="http://schemas.openxmlformats.org/officeDocument/2006/relationships" id="256" r:id="Rb46c8cee18674b53"/>
    <p:sldId xmlns:r="http://schemas.openxmlformats.org/officeDocument/2006/relationships" id="257" r:id="R1443700632c54b1b"/>
    <p:sldId xmlns:r="http://schemas.openxmlformats.org/officeDocument/2006/relationships" id="258" r:id="R69048b5f493c4d6d"/>
    <p:sldId xmlns:r="http://schemas.openxmlformats.org/officeDocument/2006/relationships" id="259" r:id="R99512684a32445dd"/>
    <p:sldId xmlns:r="http://schemas.openxmlformats.org/officeDocument/2006/relationships" id="260" r:id="Ra0839a5500434720"/>
    <p:sldId xmlns:r="http://schemas.openxmlformats.org/officeDocument/2006/relationships" id="261" r:id="Rb333c1067bbd433d"/>
    <p:sldId xmlns:r="http://schemas.openxmlformats.org/officeDocument/2006/relationships" id="262" r:id="R90728bfa51d7400e"/>
    <p:sldId xmlns:r="http://schemas.openxmlformats.org/officeDocument/2006/relationships" id="263" r:id="R13c609f126b64070"/>
    <p:sldId xmlns:r="http://schemas.openxmlformats.org/officeDocument/2006/relationships" id="264" r:id="R9a7cb849dddc42b0"/>
    <p:sldId xmlns:r="http://schemas.openxmlformats.org/officeDocument/2006/relationships" id="265" r:id="R84fb4e135bff4403"/>
    <p:sldId xmlns:r="http://schemas.openxmlformats.org/officeDocument/2006/relationships" id="266" r:id="R2a300539e3d94420"/>
    <p:sldId xmlns:r="http://schemas.openxmlformats.org/officeDocument/2006/relationships" id="267" r:id="R8636dcd9d33045db"/>
    <p:sldId xmlns:r="http://schemas.openxmlformats.org/officeDocument/2006/relationships" id="268" r:id="Rb2d9e13872d94014"/>
    <p:sldId xmlns:r="http://schemas.openxmlformats.org/officeDocument/2006/relationships" id="269" r:id="R077d4c890c3c40f9"/>
    <p:sldId xmlns:r="http://schemas.openxmlformats.org/officeDocument/2006/relationships" id="270" r:id="Rdf760fa9ddea4297"/>
    <p:sldId xmlns:r="http://schemas.openxmlformats.org/officeDocument/2006/relationships" id="271" r:id="R3f667587bcef4287"/>
    <p:sldId xmlns:r="http://schemas.openxmlformats.org/officeDocument/2006/relationships" id="272" r:id="R6721f8e2db6c4c27"/>
    <p:sldId xmlns:r="http://schemas.openxmlformats.org/officeDocument/2006/relationships" id="273" r:id="R5c1891398bf544aa"/>
    <p:sldId xmlns:r="http://schemas.openxmlformats.org/officeDocument/2006/relationships" id="274" r:id="R8d13125524814391"/>
    <p:sldId xmlns:r="http://schemas.openxmlformats.org/officeDocument/2006/relationships" id="275" r:id="R513f4820c1f14359"/>
    <p:sldId xmlns:r="http://schemas.openxmlformats.org/officeDocument/2006/relationships" id="276" r:id="R3118cc957c8e470b"/>
    <p:sldId xmlns:r="http://schemas.openxmlformats.org/officeDocument/2006/relationships" id="277" r:id="R37bf4998df4a48b0"/>
    <p:sldId xmlns:r="http://schemas.openxmlformats.org/officeDocument/2006/relationships" id="278" r:id="Rf30a9236c7e84bd6"/>
    <p:sldId xmlns:r="http://schemas.openxmlformats.org/officeDocument/2006/relationships" id="279" r:id="Rbe039f0c27714ca5"/>
    <p:sldId xmlns:r="http://schemas.openxmlformats.org/officeDocument/2006/relationships" id="280" r:id="Rfe724faff7ee4d3b"/>
    <p:sldId xmlns:r="http://schemas.openxmlformats.org/officeDocument/2006/relationships" id="281" r:id="R0f12d00024c14695"/>
    <p:sldId xmlns:r="http://schemas.openxmlformats.org/officeDocument/2006/relationships" id="282" r:id="Rd72034de7e924f87"/>
    <p:sldId xmlns:r="http://schemas.openxmlformats.org/officeDocument/2006/relationships" id="283" r:id="R97567781260e4cf2"/>
    <p:sldId xmlns:r="http://schemas.openxmlformats.org/officeDocument/2006/relationships" id="284" r:id="Rf9ce183a34ed4434"/>
    <p:sldId xmlns:r="http://schemas.openxmlformats.org/officeDocument/2006/relationships" id="285" r:id="Rc7f886d68fd24e15"/>
  </p:sldIdLst>
  <p:sldSz cx="12191999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53ea2ea3ff614760" /><Relationship Type="http://schemas.openxmlformats.org/officeDocument/2006/relationships/slideMaster" Target="/ppt/slideMasters/slideMaster1.xml" Id="R01f36e5fdf7e453e" /><Relationship Type="http://schemas.openxmlformats.org/officeDocument/2006/relationships/notesMaster" Target="/ppt/notesMasters/notesMaster1.xml" Id="Rd43761abf7294d4f" /><Relationship Type="http://schemas.openxmlformats.org/officeDocument/2006/relationships/presProps" Target="/ppt/presProps.xml" Id="Rfba6ca2d122845e0" /><Relationship Type="http://schemas.openxmlformats.org/officeDocument/2006/relationships/viewProps" Target="/ppt/viewProps.xml" Id="R7f48a51125fa4c72" /><Relationship Type="http://schemas.openxmlformats.org/officeDocument/2006/relationships/tableStyles" Target="/ppt/tableStyles.xml" Id="R8b2e07275e294270" /><Relationship Type="http://schemas.openxmlformats.org/officeDocument/2006/relationships/slide" Target="/ppt/slides/slide1.xml" Id="Rb46c8cee18674b53" /><Relationship Type="http://schemas.openxmlformats.org/officeDocument/2006/relationships/slide" Target="/ppt/slides/slide2.xml" Id="R1443700632c54b1b" /><Relationship Type="http://schemas.openxmlformats.org/officeDocument/2006/relationships/slide" Target="/ppt/slides/slide3.xml" Id="R69048b5f493c4d6d" /><Relationship Type="http://schemas.openxmlformats.org/officeDocument/2006/relationships/slide" Target="/ppt/slides/slide4.xml" Id="R99512684a32445dd" /><Relationship Type="http://schemas.openxmlformats.org/officeDocument/2006/relationships/slide" Target="/ppt/slides/slide5.xml" Id="Ra0839a5500434720" /><Relationship Type="http://schemas.openxmlformats.org/officeDocument/2006/relationships/slide" Target="/ppt/slides/slide6.xml" Id="Rb333c1067bbd433d" /><Relationship Type="http://schemas.openxmlformats.org/officeDocument/2006/relationships/slide" Target="/ppt/slides/slide7.xml" Id="R90728bfa51d7400e" /><Relationship Type="http://schemas.openxmlformats.org/officeDocument/2006/relationships/slide" Target="/ppt/slides/slide8.xml" Id="R13c609f126b64070" /><Relationship Type="http://schemas.openxmlformats.org/officeDocument/2006/relationships/slide" Target="/ppt/slides/slide9.xml" Id="R9a7cb849dddc42b0" /><Relationship Type="http://schemas.openxmlformats.org/officeDocument/2006/relationships/slide" Target="/ppt/slides/slide10.xml" Id="R84fb4e135bff4403" /><Relationship Type="http://schemas.openxmlformats.org/officeDocument/2006/relationships/slide" Target="/ppt/slides/slide11.xml" Id="R2a300539e3d94420" /><Relationship Type="http://schemas.openxmlformats.org/officeDocument/2006/relationships/slide" Target="/ppt/slides/slide12.xml" Id="R8636dcd9d33045db" /><Relationship Type="http://schemas.openxmlformats.org/officeDocument/2006/relationships/slide" Target="/ppt/slides/slide13.xml" Id="Rb2d9e13872d94014" /><Relationship Type="http://schemas.openxmlformats.org/officeDocument/2006/relationships/slide" Target="/ppt/slides/slide14.xml" Id="R077d4c890c3c40f9" /><Relationship Type="http://schemas.openxmlformats.org/officeDocument/2006/relationships/slide" Target="/ppt/slides/slide15.xml" Id="Rdf760fa9ddea4297" /><Relationship Type="http://schemas.openxmlformats.org/officeDocument/2006/relationships/slide" Target="/ppt/slides/slide16.xml" Id="R3f667587bcef4287" /><Relationship Type="http://schemas.openxmlformats.org/officeDocument/2006/relationships/slide" Target="/ppt/slides/slide17.xml" Id="R6721f8e2db6c4c27" /><Relationship Type="http://schemas.openxmlformats.org/officeDocument/2006/relationships/slide" Target="/ppt/slides/slide18.xml" Id="R5c1891398bf544aa" /><Relationship Type="http://schemas.openxmlformats.org/officeDocument/2006/relationships/slide" Target="/ppt/slides/slide19.xml" Id="R8d13125524814391" /><Relationship Type="http://schemas.openxmlformats.org/officeDocument/2006/relationships/slide" Target="/ppt/slides/slide20.xml" Id="R513f4820c1f14359" /><Relationship Type="http://schemas.openxmlformats.org/officeDocument/2006/relationships/slide" Target="/ppt/slides/slide21.xml" Id="R3118cc957c8e470b" /><Relationship Type="http://schemas.openxmlformats.org/officeDocument/2006/relationships/slide" Target="/ppt/slides/slide22.xml" Id="R37bf4998df4a48b0" /><Relationship Type="http://schemas.openxmlformats.org/officeDocument/2006/relationships/slide" Target="/ppt/slides/slide23.xml" Id="Rf30a9236c7e84bd6" /><Relationship Type="http://schemas.openxmlformats.org/officeDocument/2006/relationships/slide" Target="/ppt/slides/slide24.xml" Id="Rbe039f0c27714ca5" /><Relationship Type="http://schemas.openxmlformats.org/officeDocument/2006/relationships/slide" Target="/ppt/slides/slide25.xml" Id="Rfe724faff7ee4d3b" /><Relationship Type="http://schemas.openxmlformats.org/officeDocument/2006/relationships/slide" Target="/ppt/slides/slide26.xml" Id="R0f12d00024c14695" /><Relationship Type="http://schemas.openxmlformats.org/officeDocument/2006/relationships/slide" Target="/ppt/slides/slide27.xml" Id="Rd72034de7e924f87" /><Relationship Type="http://schemas.openxmlformats.org/officeDocument/2006/relationships/slide" Target="/ppt/slides/slide28.xml" Id="R97567781260e4cf2" /><Relationship Type="http://schemas.openxmlformats.org/officeDocument/2006/relationships/slide" Target="/ppt/slides/slide29.xml" Id="Rf9ce183a34ed4434" /><Relationship Type="http://schemas.openxmlformats.org/officeDocument/2006/relationships/slide" Target="/ppt/slides/slide30.xml" Id="Rc7f886d68fd24e1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13c1eed86784426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7761aabf0664021" /><Relationship Type="http://schemas.openxmlformats.org/officeDocument/2006/relationships/notesMaster" Target="/ppt/notesMasters/notesMaster1.xml" Id="R0c2bff46d32f404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9eb011c29b914975" /><Relationship Type="http://schemas.openxmlformats.org/officeDocument/2006/relationships/notesMaster" Target="/ppt/notesMasters/notesMaster1.xml" Id="R810d10381e1d4a18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b01efa6a9aa54ea7" /><Relationship Type="http://schemas.openxmlformats.org/officeDocument/2006/relationships/notesMaster" Target="/ppt/notesMasters/notesMaster1.xml" Id="R1490a0dcf1e04cd6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b1ae40663304422" /><Relationship Type="http://schemas.openxmlformats.org/officeDocument/2006/relationships/notesMaster" Target="/ppt/notesMasters/notesMaster1.xml" Id="R82efa38ebf414add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f43d959677ab42b6" /><Relationship Type="http://schemas.openxmlformats.org/officeDocument/2006/relationships/notesMaster" Target="/ppt/notesMasters/notesMaster1.xml" Id="R3125160d64ea471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d5b4f19e85b49c6" /><Relationship Type="http://schemas.openxmlformats.org/officeDocument/2006/relationships/notesMaster" Target="/ppt/notesMasters/notesMaster1.xml" Id="R7b4671a939a644c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53faf9f46c20452a" /><Relationship Type="http://schemas.openxmlformats.org/officeDocument/2006/relationships/notesMaster" Target="/ppt/notesMasters/notesMaster1.xml" Id="R7134b11363ce41f8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2dc851c14fe44f83" /><Relationship Type="http://schemas.openxmlformats.org/officeDocument/2006/relationships/notesMaster" Target="/ppt/notesMasters/notesMaster1.xml" Id="Rbd96b64054a9417c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c7ca7f439f514a44" /><Relationship Type="http://schemas.openxmlformats.org/officeDocument/2006/relationships/notesMaster" Target="/ppt/notesMasters/notesMaster1.xml" Id="R3f9f2e16a3b64b6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cfb58ebec6a43a7" /><Relationship Type="http://schemas.openxmlformats.org/officeDocument/2006/relationships/notesMaster" Target="/ppt/notesMasters/notesMaster1.xml" Id="Re3e733041b13491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f45f1c5c95a4dbb" /><Relationship Type="http://schemas.openxmlformats.org/officeDocument/2006/relationships/notesMaster" Target="/ppt/notesMasters/notesMaster1.xml" Id="Rfc5222163ee84faa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a1ff813bab2b4c37" /><Relationship Type="http://schemas.openxmlformats.org/officeDocument/2006/relationships/notesMaster" Target="/ppt/notesMasters/notesMaster1.xml" Id="R0ee6e9c4700e47a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c3cc4e49baaf4eb6" /><Relationship Type="http://schemas.openxmlformats.org/officeDocument/2006/relationships/notesMaster" Target="/ppt/notesMasters/notesMaster1.xml" Id="Rc74f406b517a4506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83f2bae60a94487" /><Relationship Type="http://schemas.openxmlformats.org/officeDocument/2006/relationships/notesMaster" Target="/ppt/notesMasters/notesMaster1.xml" Id="R0a0c37931d9248e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3323bb733a24aa8" /><Relationship Type="http://schemas.openxmlformats.org/officeDocument/2006/relationships/notesMaster" Target="/ppt/notesMasters/notesMaster1.xml" Id="Rc05d637cdef14286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2729566f012649a5" /><Relationship Type="http://schemas.openxmlformats.org/officeDocument/2006/relationships/notesMaster" Target="/ppt/notesMasters/notesMaster1.xml" Id="R52b8e2b566ce4bc6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e9b9c82d6216413d" /><Relationship Type="http://schemas.openxmlformats.org/officeDocument/2006/relationships/notesMaster" Target="/ppt/notesMasters/notesMaster1.xml" Id="Rce4838a95d294b1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904e8b61cf58496c" /><Relationship Type="http://schemas.openxmlformats.org/officeDocument/2006/relationships/notesMaster" Target="/ppt/notesMasters/notesMaster1.xml" Id="R508b11ec9c854f3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92816852f7240ce" /><Relationship Type="http://schemas.openxmlformats.org/officeDocument/2006/relationships/notesMaster" Target="/ppt/notesMasters/notesMaster1.xml" Id="R274c9b30beaf4bf6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5148d7d881ae4e36" /><Relationship Type="http://schemas.openxmlformats.org/officeDocument/2006/relationships/notesMaster" Target="/ppt/notesMasters/notesMaster1.xml" Id="R205242bb005c4c8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1a5104bb93634953" /><Relationship Type="http://schemas.openxmlformats.org/officeDocument/2006/relationships/notesMaster" Target="/ppt/notesMasters/notesMaster1.xml" Id="R748bafdc9e324dc8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e58f0bb4aaf5405f" /><Relationship Type="http://schemas.openxmlformats.org/officeDocument/2006/relationships/notesMaster" Target="/ppt/notesMasters/notesMaster1.xml" Id="R94a1a38b5c5b4e7b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fcc5b78cb55844a3" /><Relationship Type="http://schemas.openxmlformats.org/officeDocument/2006/relationships/notesMaster" Target="/ppt/notesMasters/notesMaster1.xml" Id="R12f92e2a5c35475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6cc61c39462742a1" /><Relationship Type="http://schemas.openxmlformats.org/officeDocument/2006/relationships/notesMaster" Target="/ppt/notesMasters/notesMaster1.xml" Id="Rf7d92b983f39429e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7f9ce6c85b54cd1" /><Relationship Type="http://schemas.openxmlformats.org/officeDocument/2006/relationships/notesMaster" Target="/ppt/notesMasters/notesMaster1.xml" Id="Rdd5f138b449b4f37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b64b2ac99f934aa8" /><Relationship Type="http://schemas.openxmlformats.org/officeDocument/2006/relationships/notesMaster" Target="/ppt/notesMasters/notesMaster1.xml" Id="R011742b33fa744ee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8ae60e9d04c9459f" /><Relationship Type="http://schemas.openxmlformats.org/officeDocument/2006/relationships/notesMaster" Target="/ppt/notesMasters/notesMaster1.xml" Id="R3049c01a8bf24ced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2b3efaa231594fbb" /><Relationship Type="http://schemas.openxmlformats.org/officeDocument/2006/relationships/notesMaster" Target="/ppt/notesMasters/notesMaster1.xml" Id="Rc6ab366b80f2434d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fa44de57c72049b1" /><Relationship Type="http://schemas.openxmlformats.org/officeDocument/2006/relationships/notesMaster" Target="/ppt/notesMasters/notesMaster1.xml" Id="R887ae88620fb4663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a9a379e0f0744781" /><Relationship Type="http://schemas.openxmlformats.org/officeDocument/2006/relationships/notesMaster" Target="/ppt/notesMasters/notesMaster1.xml" Id="Ra514b38f3f4841b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https://register.epo.org/application?number=EP14836345&amp;lng=en&amp;tab=main</a:t>
            </a:r>
          </a:p>
          <a:p xmlns:a="http://schemas.openxmlformats.org/drawingml/2006/main">
            <a:r>
              <a:t>- https://data.epo.org/publication-server/rest/v1.2/patents/EP3032975NWB2/document.pdf</a:t>
            </a:r>
          </a:p>
          <a:p xmlns:a="http://schemas.openxmlformats.org/drawingml/2006/main">
            <a:r>
              <a:t>- https://www.rechtsprechung-im-internet.de/jportal/?quelle=jlink&amp;docid=JURE269032275&amp;psml=bsjrsprod.psml</a:t>
            </a:r>
          </a:p>
          <a:p xmlns:a="http://schemas.openxmlformats.org/drawingml/2006/main">
            <a:r>
              <a:t>- https://www.gesetze-bayern.de/Content/Document/Y-300-Z-BECKRS-B-2026-N-14206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https://www.health.govt.nz/regulation-legislation/vaping-herbal-smoking-and-smokeless-tobacco/requirements/complete-a-notifiable-product-annual-return/annual-returns-2024</a:t>
            </a:r>
          </a:p>
          <a:p xmlns:a="http://schemas.openxmlformats.org/drawingml/2006/main">
            <a:r>
              <a:t>- https://www.health.govt.nz/regulation-legislation/vaping-herbal-smoking-and-smokeless-tobacco/requirements/complete-a-notifiable-product-annual-return</a:t>
            </a:r>
          </a:p>
          <a:p xmlns:a="http://schemas.openxmlformats.org/drawingml/2006/main">
            <a:r>
              <a:t>- https://www.health.govt.nz/system/files/2024-12/2024-annual-returns-user-guide.pdf</a:t>
            </a:r>
          </a:p>
          <a:p xmlns:a="http://schemas.openxmlformats.org/drawingml/2006/main">
            <a:r>
              <a:t>- https://www150.statcan.gc.ca/t1/tbl1/en/tv.action?pid=2010007101</a:t>
            </a:r>
          </a:p>
          <a:p xmlns:a="http://schemas.openxmlformats.org/drawingml/2006/main">
            <a:r>
              <a:t>- https://www150.statcan.gc.ca/t1/tbl1/en/tv.action?pid=2010008001</a:t>
            </a:r>
          </a:p>
          <a:p xmlns:a="http://schemas.openxmlformats.org/drawingml/2006/main">
            <a:r>
              <a:t>- https://www23.statcan.gc.ca/imdb/p2SV.pl?Function=getSurvey&amp;Id=1544050</a:t>
            </a:r>
          </a:p>
          <a:p xmlns:a="http://schemas.openxmlformats.org/drawingml/2006/main">
            <a:r>
              <a:t>- https://www23.statcan.gc.ca/imdb/p2SV.pl?Function=getSurvey&amp;SDDS=2008</a:t>
            </a:r>
          </a:p>
          <a:p xmlns:a="http://schemas.openxmlformats.org/drawingml/2006/main">
            <a:r>
              <a:t>- https://www23.statcan.gc.ca/imdb/p2SV.pl?Function=getSurvey&amp;SDDS=2406</a:t>
            </a:r>
          </a:p>
          <a:p xmlns:a="http://schemas.openxmlformats.org/drawingml/2006/main">
            <a:r>
              <a:t>- https://www150.statcan.gc.ca/n1/pub/36-28-0001/2025004/article/00001-eng.pdf</a:t>
            </a:r>
          </a:p>
          <a:p xmlns:a="http://schemas.openxmlformats.org/drawingml/2006/main">
            <a:r>
              <a:t>- https://datahelpdesk.worldbank.org/knowledgebase/articles/898581-api-basic-call-structures</a:t>
            </a:r>
          </a:p>
          <a:p xmlns:a="http://schemas.openxmlformats.org/drawingml/2006/main">
            <a:r>
              <a:t>- https://www.who.int/data/gho/info/gho-odata-api</a:t>
            </a:r>
          </a:p>
          <a:p xmlns:a="http://schemas.openxmlformats.org/drawingml/2006/main">
            <a:r>
              <a:t>- https://uncomtrade.org/docs/un-comtrade-api/</a:t>
            </a:r>
          </a:p>
          <a:p xmlns:a="http://schemas.openxmlformats.org/drawingml/2006/main">
            <a:r>
              <a:t>- https://www.podatki.gov.pl/akcyza/stawki-podatkowe/</a:t>
            </a:r>
          </a:p>
          <a:p xmlns:a="http://schemas.openxmlformats.org/drawingml/2006/main">
            <a:r>
              <a:t>- https://www.gov.pl/web/chemical/notification-of-electronic-cigarettes-and-refill-containers</a:t>
            </a:r>
          </a:p>
          <a:p xmlns:a="http://schemas.openxmlformats.org/drawingml/2006/main">
            <a:r>
              <a:t>- https://www.podatki.gov.pl/akcyza/komunikaty-w-zakresie-podatku-akcyzowego</a:t>
            </a:r>
          </a:p>
          <a:p xmlns:a="http://schemas.openxmlformats.org/drawingml/2006/main">
            <a:r>
              <a:t>- https://api.sejm.gov.pl/eli/acts/DU/2025/698/text.pdf</a:t>
            </a:r>
          </a:p>
          <a:p xmlns:a="http://schemas.openxmlformats.org/drawingml/2006/main">
            <a:r>
              <a:t>- https://api.sejm.gov.pl/sejm/term10/prints/1364/1364.pdf</a:t>
            </a:r>
          </a:p>
          <a:p xmlns:a="http://schemas.openxmlformats.org/drawingml/2006/main">
            <a:r>
              <a:t>- https://www.customs.govt.nz/about-us/news/important-notices-archive/important-notices-archive-2023/reminder-classification-of-vaping-devices-and-similar</a:t>
            </a:r>
          </a:p>
          <a:p xmlns:a="http://schemas.openxmlformats.org/drawingml/2006/main">
            <a:r>
              <a:t>- https://www3.stats.govt.nz/HS10_by_Country/2024_Imports_HS10.zip</a:t>
            </a:r>
          </a:p>
          <a:p xmlns:a="http://schemas.openxmlformats.org/drawingml/2006/main">
            <a:r>
              <a:t>- https://www3.stats.govt.nz/HS10_by_Country/2024_Exports_HS10.zip</a:t>
            </a:r>
          </a:p>
          <a:p xmlns:a="http://schemas.openxmlformats.org/drawingml/2006/main">
            <a:r>
              <a:t>- https://www.ftc.gov/reports/e-cigarette-report-2021</a:t>
            </a:r>
          </a:p>
          <a:p xmlns:a="http://schemas.openxmlformats.org/drawingml/2006/main">
            <a:r>
              <a:t>- https://www.folkhalsomyndigheten.se/regler-och-tillsyn/tobak-och-nikotinprodukter-regler-for-tillverkning-handel-och-hantering/elektroniska-cigaretter-och-pafyllningsbehallare-sa-foljer-du-reglerna/</a:t>
            </a:r>
          </a:p>
          <a:p xmlns:a="http://schemas.openxmlformats.org/drawingml/2006/main">
            <a:r>
              <a:t>- https://www.ris.bka.gv.at/GeltendeFassung.wxe?Abfrage=Bundesnormen&amp;Gesetzesnummer=10010907</a:t>
            </a:r>
          </a:p>
          <a:p xmlns:a="http://schemas.openxmlformats.org/drawingml/2006/main">
            <a:r>
              <a:t>- https://www.health.belgium.be/en/organisation-policy/legislation-policy-documents/e-cigarette-notification-eu-ceg-belgian-guidelines</a:t>
            </a:r>
          </a:p>
          <a:p xmlns:a="http://schemas.openxmlformats.org/drawingml/2006/main">
            <a:r>
              <a:t>- https://www.lachambre.be/doc/CCRI/html/56/ic041x.html</a:t>
            </a:r>
          </a:p>
          <a:p xmlns:a="http://schemas.openxmlformats.org/drawingml/2006/main">
            <a:r>
              <a:t>- https://www.bazg.admin.ch/dam/en/sd-web/GljEzThGISer/Tobacco%20tax.pdf</a:t>
            </a:r>
          </a:p>
          <a:p xmlns:a="http://schemas.openxmlformats.org/drawingml/2006/main">
            <a:r>
              <a:t>- https://douanes.public.lu/fr/support/faq/e-liquides.html</a:t>
            </a:r>
          </a:p>
          <a:p xmlns:a="http://schemas.openxmlformats.org/drawingml/2006/main">
            <a:r>
              <a:t>- https://douanes.public.lu/dam-assets/fr/accises/signes-fiscaux/2024/s48/bareme-e-liquide-s48.pdf</a:t>
            </a:r>
          </a:p>
          <a:p xmlns:a="http://schemas.openxmlformats.org/drawingml/2006/main">
            <a:r>
              <a:t>- https://www.helsedirektoratet.no/veiledere/tobakksskadeloven/e-sigaretter</a:t>
            </a:r>
          </a:p>
          <a:p xmlns:a="http://schemas.openxmlformats.org/drawingml/2006/main">
            <a:r>
              <a:t>- https://lekiosque.finances.gouv.fr/site_fr/NC8/Resultat_nc.asp?ot=1&amp;lanc=85434000</a:t>
            </a:r>
          </a:p>
          <a:p xmlns:a="http://schemas.openxmlformats.org/drawingml/2006/main">
            <a:r>
              <a:t>- https://www.sik.dk/registre</a:t>
            </a:r>
          </a:p>
          <a:p xmlns:a="http://schemas.openxmlformats.org/drawingml/2006/main">
            <a:r>
              <a:t>- https://www.adm.gov.it/portale/documents/20182/261920520/Libro+blu+2024+-+Relazione.pdf/e46989ce-b39f-a404-3b4b-2af3196cba43</a:t>
            </a:r>
          </a:p>
          <a:p xmlns:a="http://schemas.openxmlformats.org/drawingml/2006/main">
            <a:r>
              <a:t>- https://www.wipo.int/en/web/ip-financing</a:t>
            </a:r>
          </a:p>
          <a:p xmlns:a="http://schemas.openxmlformats.org/drawingml/2006/main">
            <a:r>
              <a:t>- https://data.ecb.europa.eu/data/datasets/exr/data-information</a:t>
            </a:r>
          </a:p>
          <a:p xmlns:a="http://schemas.openxmlformats.org/drawingml/2006/main">
            <a:r>
              <a:t>- https://www.ecb.europa.eu/stats/policy_and_exchange_rates/euro_reference_exchange_rates/html/index.en.html</a:t>
            </a:r>
          </a:p>
          <a:p xmlns:a="http://schemas.openxmlformats.org/drawingml/2006/main">
            <a:r>
              <a:t>- https://data-api.ecb.europa.eu/service/data/EXR/A.NZD.EUR.SP00.A?startPeriod=2024&amp;endPeriod=2024&amp;format=csvdata</a:t>
            </a:r>
          </a:p>
          <a:p xmlns:a="http://schemas.openxmlformats.org/drawingml/2006/main">
            <a:r>
              <a:t>- https://data-api.ecb.europa.eu/service/data/EXR/A.USD.EUR.SP00.A?startPeriod=2021&amp;endPeriod=2021&amp;format=csvdata</a:t>
            </a:r>
          </a:p>
          <a:p xmlns:a="http://schemas.openxmlformats.org/drawingml/2006/main">
            <a:r>
              <a:t>- https://data-api.ecb.europa.eu/service/data/EXR/A.CAD.EUR.SP00.A?startPeriod=2024&amp;endPeriod=2024&amp;format=csvdata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[FX methodology]</a:t>
            </a:r>
          </a:p>
          <a:p xmlns:a="http://schemas.openxmlformats.org/drawingml/2006/main">
            <a:r>
              <a:t>- EUR equivalent = original monetary amount divided by the ECB annual-average reference rate expressed as currency units per euro.</a:t>
            </a:r>
          </a:p>
          <a:p xmlns:a="http://schemas.openxmlformats.org/drawingml/2006/main">
            <a:r>
              <a:t>- The source value and source currency remain primary. The EUR figure is a secondary analytical equivalent, not an observed transaction value or a current spot conversion.</a:t>
            </a:r>
          </a:p>
          <a:p xmlns:a="http://schemas.openxmlformats.org/drawingml/2006/main">
            <a:r>
              <a:t>- NZD 2024: ECB-EXR-A-NZD-EUR-SP00-A-2024 · 1.788048828125 currency units per EUR</a:t>
            </a:r>
          </a:p>
          <a:p xmlns:a="http://schemas.openxmlformats.org/drawingml/2006/main">
            <a:r>
              <a:t>- USD 2021: ECB-EXR-A-USD-EUR-SP00-A-2021 · 1.1827403100775 currency units per EUR</a:t>
            </a:r>
          </a:p>
          <a:p xmlns:a="http://schemas.openxmlformats.org/drawingml/2006/main">
            <a:r>
              <a:t>- CAD 2024: ECB-EXR-A-CAD-EUR-SP00-A-2024 · 1.482110546875 currency units per EUR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2fbbd3a1c744ac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ffde9d970914933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ec6367cf14f8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bdfca4daaa04e9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3549f7770d345ec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a6362f89e274116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ea84505e1874094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e35b449fb8449e1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d735fa6bfc4599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e77acfad444571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45e021b737747a6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40AF48C5-4A41-4CFC-B4A7-E871819AD638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2B5CFC3B-7FAF-4A32-B38C-08415C462AC8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6C7AA4F8-AE06-4B94-BB63-C9605C009B5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B8335C7-BBA1-4728-9AA8-09C1DC876349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12A3A90-0DD6-4E98-B78A-C401E178A86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191D3F0F-94A4-4F62-B5AA-C5E1001718D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FE84E1B-5F87-426D-B806-20002BF57C0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16C9DB9-F55E-4A79-8F53-8099C4E139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0A6C6090-EB7B-4088-A132-456B11CBFE8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7AB4C127-3E82-4D18-A180-9C13C9D97CF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573A7344-48B5-493D-8643-733AEB032E42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D8141134-F2FF-4629-8091-85A2B6020E0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8EFEBEC2-DE21-40FA-99AB-4C3DF071144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06F3B85-8CBD-4593-85E0-8FA60B39EE3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81E15E9-CE6D-4B60-9A97-33600ED3FB3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ACE17663-F972-4305-BAC9-D6AFF5BEBFF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27A3EE3-5E43-4D45-B096-FCA79559BB4F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882557A3-DBE8-42E1-BBD3-20C22A18D1B2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43F3F936-5BBA-4342-8CD2-086578154A4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9F14FA0-AB42-4A01-81E1-AF503BE92D2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B7332D56-9936-4D07-8936-27C862F2E54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C7417C49-0751-4B84-AA09-366E5C39270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C000F3B6-3673-4DBC-B3B9-C417AD469ADC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DC2BC8DE-6ED8-411E-9919-D1B36475A67E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98C0DC7C-D839-438B-AD91-47195C9D2CF0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6415CCCD-C3DB-4214-8D6D-E010939412A1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39195BAA-D8DA-4CB6-BBF4-252B12055D4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4FFD2C48-8B01-451A-B6F1-F6AF01F25E2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A305B37C-F9C2-47C0-AFC0-725BA40505A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64C1B07-C165-463D-9CB9-B426BFF9131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47D288B6-E6BC-4DDF-BFC4-BD19E20FCC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712AE5B-F4FB-4BC6-879C-DB6B92C1437C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C4E3BABA-E271-4748-A2A2-1042523B992F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04CA50B3-908B-4B0E-B9C6-28A3D3F6F88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278A2882-819B-4334-88DC-653ED0106800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EBCC64DB-63D4-4AA0-AD3A-E6B7D2A0E155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2AD7E896-702A-4199-849F-B13790ABFA1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2609C6A4-68B5-41B4-B125-D846E305CD09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5BA391AF-AB22-4EC3-99D7-A4F960A0A3D0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CF59DD7-B8F4-451A-BA8C-BAEEE0D5646A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F5FB093-1784-4402-887B-7978E634682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51A85D18-BA6C-48DF-923A-6186C0F7F9E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8CD3C361-A6AD-4FD1-A310-B02C53B62A1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58FEA0B5-B454-45D4-BE66-06D94B6D7F50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/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7F8B9BD0-D3C0-4F1F-B52C-F094720EE7D1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CA2B2549-1C22-4072-94D3-646C49EABD53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3FE1BA41-BCFB-4DBF-A46F-7FEDD523639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4F800053-B508-44DB-A205-73B93FEB12A8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DA61B42-CB3E-4997-9648-ED138B683FDC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5DE1255-707C-4B56-920B-D837B97C6BD5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C6B92E91-BC67-437D-B98E-E83DFA84207D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828D50B-BB7F-4474-AED9-CF81FC02380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22B870F-E1FB-41DE-BEE2-4651ED7FEDF6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C0BEC3BB-677F-4346-B4BF-235F80404AD9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EC40F8A4-1BAD-4277-BB27-B9CD3C22145D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0B2096B7-1638-4456-8974-A1FAB21B3F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70F762B8-BF1D-4E56-81BD-2E03B049EC9B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5E3E142-9C89-4E4C-A71A-23B84C81A761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c7bf2df8b0804034" /><Relationship Type="http://schemas.openxmlformats.org/officeDocument/2006/relationships/slideLayout" Target="/ppt/slideLayouts/slideLayout1.xml" Id="R1e8b0930843f4414" /><Relationship Type="http://schemas.openxmlformats.org/officeDocument/2006/relationships/slideLayout" Target="/ppt/slideLayouts/slideLayout2.xml" Id="R31e43c1d6cdf467f" /><Relationship Type="http://schemas.openxmlformats.org/officeDocument/2006/relationships/slideLayout" Target="/ppt/slideLayouts/slideLayout3.xml" Id="R75aa3e7ec6a34819" /><Relationship Type="http://schemas.openxmlformats.org/officeDocument/2006/relationships/slideLayout" Target="/ppt/slideLayouts/slideLayout4.xml" Id="Re3debbfddbcd494f" /><Relationship Type="http://schemas.openxmlformats.org/officeDocument/2006/relationships/slideLayout" Target="/ppt/slideLayouts/slideLayout5.xml" Id="R7df621ff5ff34fac" /><Relationship Type="http://schemas.openxmlformats.org/officeDocument/2006/relationships/slideLayout" Target="/ppt/slideLayouts/slideLayout6.xml" Id="R6af33ed7d5fd421e" /><Relationship Type="http://schemas.openxmlformats.org/officeDocument/2006/relationships/slideLayout" Target="/ppt/slideLayouts/slideLayout7.xml" Id="Ra629ef287dfe4c0f" /><Relationship Type="http://schemas.openxmlformats.org/officeDocument/2006/relationships/slideLayout" Target="/ppt/slideLayouts/slideLayout8.xml" Id="Reaf8304aea7d437c" /><Relationship Type="http://schemas.openxmlformats.org/officeDocument/2006/relationships/slideLayout" Target="/ppt/slideLayouts/slideLayout9.xml" Id="R87504c2aaca14ffa" /><Relationship Type="http://schemas.openxmlformats.org/officeDocument/2006/relationships/slideLayout" Target="/ppt/slideLayouts/slideLayout10.xml" Id="Rbdf26c0e898941e1" /><Relationship Type="http://schemas.openxmlformats.org/officeDocument/2006/relationships/slideLayout" Target="/ppt/slideLayouts/slideLayout11.xml" Id="Red2c4477fdb24c73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44EEC367-A6CE-4107-B41A-A73DE11F671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6FAE410A-DD60-46DA-A76E-769A2EF9BF1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7EA3B449-DD90-4803-B192-07DA8B2285CB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1/27/13</a:t>
            </a:fld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6B906A7-84AE-4849-9067-CE60BD0EBE67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/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43D95493-F48F-4B7B-9787-81E60301AC29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1e8b0930843f4414"/>
    <p:sldLayoutId xmlns:r="http://schemas.openxmlformats.org/officeDocument/2006/relationships" id="2147483650" r:id="R31e43c1d6cdf467f"/>
    <p:sldLayoutId xmlns:r="http://schemas.openxmlformats.org/officeDocument/2006/relationships" id="2147483651" r:id="R75aa3e7ec6a34819"/>
    <p:sldLayoutId xmlns:r="http://schemas.openxmlformats.org/officeDocument/2006/relationships" id="2147483652" r:id="Re3debbfddbcd494f"/>
    <p:sldLayoutId xmlns:r="http://schemas.openxmlformats.org/officeDocument/2006/relationships" id="2147483653" r:id="R7df621ff5ff34fac"/>
    <p:sldLayoutId xmlns:r="http://schemas.openxmlformats.org/officeDocument/2006/relationships" id="2147483654" r:id="R6af33ed7d5fd421e"/>
    <p:sldLayoutId xmlns:r="http://schemas.openxmlformats.org/officeDocument/2006/relationships" id="2147483655" r:id="Ra629ef287dfe4c0f"/>
    <p:sldLayoutId xmlns:r="http://schemas.openxmlformats.org/officeDocument/2006/relationships" id="2147483656" r:id="Reaf8304aea7d437c"/>
    <p:sldLayoutId xmlns:r="http://schemas.openxmlformats.org/officeDocument/2006/relationships" id="2147483657" r:id="R87504c2aaca14ffa"/>
    <p:sldLayoutId xmlns:r="http://schemas.openxmlformats.org/officeDocument/2006/relationships" id="2147483658" r:id="Rbdf26c0e898941e1"/>
    <p:sldLayoutId xmlns:r="http://schemas.openxmlformats.org/officeDocument/2006/relationships" id="2147483659" r:id="Red2c4477fdb24c73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0de8c529ae34aec" /><Relationship Type="http://schemas.openxmlformats.org/officeDocument/2006/relationships/notesSlide" Target="/ppt/notesSlides/notesSlide1.xml" Id="Rdf05689ddd6c4e0f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47ebc4f72446c4" /><Relationship Type="http://schemas.openxmlformats.org/officeDocument/2006/relationships/notesSlide" Target="/ppt/notesSlides/notesSlide2.xml" Id="R2d738f9939ad4c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7f0c7a405464dff" /><Relationship Type="http://schemas.openxmlformats.org/officeDocument/2006/relationships/notesSlide" Target="/ppt/notesSlides/notesSlide3.xml" Id="R0e8326b36e5d4dd4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2904d34b7a54637" /><Relationship Type="http://schemas.openxmlformats.org/officeDocument/2006/relationships/notesSlide" Target="/ppt/notesSlides/notesSlide4.xml" Id="Raac11e12918e48c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acb23ef27f74167" /><Relationship Type="http://schemas.openxmlformats.org/officeDocument/2006/relationships/notesSlide" Target="/ppt/notesSlides/notesSlide5.xml" Id="Rf7929ebd405841d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b684c4f08a04cd9" /><Relationship Type="http://schemas.openxmlformats.org/officeDocument/2006/relationships/notesSlide" Target="/ppt/notesSlides/notesSlide6.xml" Id="Re4c541347a124b0c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4d2daa41e084424" /><Relationship Type="http://schemas.openxmlformats.org/officeDocument/2006/relationships/notesSlide" Target="/ppt/notesSlides/notesSlide7.xml" Id="R28805d4b721a465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017662b710a4858" /><Relationship Type="http://schemas.openxmlformats.org/officeDocument/2006/relationships/notesSlide" Target="/ppt/notesSlides/notesSlide8.xml" Id="Rd01ba4f0bd0b4bf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f7e0bbc41d44172" /><Relationship Type="http://schemas.openxmlformats.org/officeDocument/2006/relationships/notesSlide" Target="/ppt/notesSlides/notesSlide9.xml" Id="R79cd599e0aa24214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45bb8cc07ce47be" /><Relationship Type="http://schemas.openxmlformats.org/officeDocument/2006/relationships/notesSlide" Target="/ppt/notesSlides/notesSlide10.xml" Id="Rdbbfacd38c0746a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7533ad48e4d4979" /><Relationship Type="http://schemas.openxmlformats.org/officeDocument/2006/relationships/notesSlide" Target="/ppt/notesSlides/notesSlide11.xml" Id="Ra0d78c84b90844a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3c175feb3d48c2" /><Relationship Type="http://schemas.openxmlformats.org/officeDocument/2006/relationships/notesSlide" Target="/ppt/notesSlides/notesSlide12.xml" Id="Re6715200e2c242b1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9fbd659e31d4874" /><Relationship Type="http://schemas.openxmlformats.org/officeDocument/2006/relationships/notesSlide" Target="/ppt/notesSlides/notesSlide13.xml" Id="R45133471cc4344ab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3ca720bc66546ad" /><Relationship Type="http://schemas.openxmlformats.org/officeDocument/2006/relationships/notesSlide" Target="/ppt/notesSlides/notesSlide14.xml" Id="Re4893936eecb4238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ecc5e4327684e08" /><Relationship Type="http://schemas.openxmlformats.org/officeDocument/2006/relationships/notesSlide" Target="/ppt/notesSlides/notesSlide15.xml" Id="R77a3fc7d74ee455a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5c81a13acbd4fb7" /><Relationship Type="http://schemas.openxmlformats.org/officeDocument/2006/relationships/notesSlide" Target="/ppt/notesSlides/notesSlide16.xml" Id="R7e33262c415949f9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1e6dd1ad993485e" /><Relationship Type="http://schemas.openxmlformats.org/officeDocument/2006/relationships/notesSlide" Target="/ppt/notesSlides/notesSlide17.xml" Id="R596237065aa94fa4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0b5873efafe4a0c" /><Relationship Type="http://schemas.openxmlformats.org/officeDocument/2006/relationships/notesSlide" Target="/ppt/notesSlides/notesSlide18.xml" Id="Re9040f3fc31d47e9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f28cc2626724fa8" /><Relationship Type="http://schemas.openxmlformats.org/officeDocument/2006/relationships/notesSlide" Target="/ppt/notesSlides/notesSlide19.xml" Id="Rda250820c36443d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c7667e8853146be" /><Relationship Type="http://schemas.openxmlformats.org/officeDocument/2006/relationships/notesSlide" Target="/ppt/notesSlides/notesSlide20.xml" Id="Rdf3d8025cf9c4fae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4351d080d107409a" /><Relationship Type="http://schemas.openxmlformats.org/officeDocument/2006/relationships/notesSlide" Target="/ppt/notesSlides/notesSlide21.xml" Id="Rcaf7a7fc28374df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74c8267a28d4cef" /><Relationship Type="http://schemas.openxmlformats.org/officeDocument/2006/relationships/notesSlide" Target="/ppt/notesSlides/notesSlide22.xml" Id="R45ed923869e74adf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243798d2dc34d51" /><Relationship Type="http://schemas.openxmlformats.org/officeDocument/2006/relationships/notesSlide" Target="/ppt/notesSlides/notesSlide23.xml" Id="R2a8d4ed4312441c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503ea1dc88a48a2" /><Relationship Type="http://schemas.openxmlformats.org/officeDocument/2006/relationships/notesSlide" Target="/ppt/notesSlides/notesSlide24.xml" Id="R3ca8e92fcad74ae5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eb629e62c541db" /><Relationship Type="http://schemas.openxmlformats.org/officeDocument/2006/relationships/notesSlide" Target="/ppt/notesSlides/notesSlide25.xml" Id="R441492b1b2614363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d72f270ab54e2c" /><Relationship Type="http://schemas.openxmlformats.org/officeDocument/2006/relationships/notesSlide" Target="/ppt/notesSlides/notesSlide26.xml" Id="R2d8d24d818384a9f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a94536b41586497b" /><Relationship Type="http://schemas.openxmlformats.org/officeDocument/2006/relationships/notesSlide" Target="/ppt/notesSlides/notesSlide27.xml" Id="R4236d2fee1674950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cefe7d3893994a43" /><Relationship Type="http://schemas.openxmlformats.org/officeDocument/2006/relationships/notesSlide" Target="/ppt/notesSlides/notesSlide28.xml" Id="Rb58a86f6b4e04394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30d6fd1f9f5469d" /><Relationship Type="http://schemas.openxmlformats.org/officeDocument/2006/relationships/notesSlide" Target="/ppt/notesSlides/notesSlide29.xml" Id="Rfc20e9de870a497a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b2d913d80174be1" /><Relationship Type="http://schemas.openxmlformats.org/officeDocument/2006/relationships/notesSlide" Target="/ppt/notesSlides/notesSlide30.xml" Id="Rdaa24326ac7a42fa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Rectangle 1">
            <a:extLst xmlns:a="http://schemas.openxmlformats.org/drawingml/2006/main">
              <a:ext uri="{FF2B5EF4-FFF2-40B4-BE49-F238E27FC236}">
                <a16:creationId xmlns:a16="http://schemas.microsoft.com/office/drawing/2014/main" id="{EE665359-459A-4F58-948F-F05A262EB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566928"/>
            <a:ext cx="1097280" cy="6400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1C2B9F4-B393-4183-946D-9DABCD5C6A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914400"/>
            <a:ext cx="676656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PIXAN · JULKINEN EVIDENSSIPAKETTI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808193CD-C833-4425-A0C4-9635733E2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389888"/>
            <a:ext cx="7360920" cy="2057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40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Patentista pankkikelpoiseksi
todistelupaketiksi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49505779-9086-4B7A-A192-AE0DCDF05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703320"/>
            <a:ext cx="7040880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C6D8E2"/>
                </a:solidFill>
                <a:latin typeface="Aptos"/>
                <a:ea typeface="Aptos"/>
                <a:cs typeface="Aptos"/>
              </a:rPr>
              <a:t>Laaja 30 dian tutkija- ja rahoituspäätöspaketti</a:t>
            </a:r>
          </a:p>
        </p:txBody>
      </p:sp>
      <p:sp>
        <p:nvSpPr>
          <p:cNvPr id="6" name="Rectangle 5">
            <a:extLst xmlns:a="http://schemas.openxmlformats.org/drawingml/2006/main">
              <a:ext uri="{FF2B5EF4-FFF2-40B4-BE49-F238E27FC236}">
                <a16:creationId xmlns:a16="http://schemas.microsoft.com/office/drawing/2014/main" id="{DFC7D00A-A71D-4808-B09B-6744F348E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5320" y="0"/>
            <a:ext cx="3913632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7CD013E1-5277-473A-B63A-B15A3EB266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143000"/>
            <a:ext cx="2926080" cy="36576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Aineiston tila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9221D8FD-4D03-46A6-A7A0-948FFAB23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1700784"/>
            <a:ext cx="2880360" cy="5151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9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2026.07.31-37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9AB1EF-7D08-4DBC-9911-188149DA0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2359152"/>
            <a:ext cx="2788920" cy="7315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Päivitetty 2026-07-31</a:t>
            </a:r>
            <a:b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</a:br>
            <a:r>
              <a:rPr sz="17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30 diaa · suomeksi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53A2735-2706-4FFE-A55C-6FFE5E013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3822191"/>
            <a:ext cx="27432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00" b="1">
                <a:solidFill>
                  <a:srgbClr val="B8DFE2"/>
                </a:solidFill>
                <a:latin typeface="Aptos"/>
                <a:ea typeface="Aptos"/>
                <a:cs typeface="Aptos"/>
              </a:rPr>
              <a:t>Lähtökohta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0025A7B7-5E71-4973-8675-98767A2E11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32520" y="4251960"/>
            <a:ext cx="2788920" cy="10972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0">
                <a:solidFill>
                  <a:srgbClr val="FFFFFF"/>
                </a:solidFill>
                <a:latin typeface="Aptos"/>
                <a:ea typeface="Aptos"/>
                <a:cs typeface="Aptos"/>
              </a:rPr>
              <a:t>Vahvistettu näyttö erotetaan tuetusta tiedosta, oletuksista ja puuttuvasta näytöstä.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3AED1B69-B37D-4576-A6FB-96A0033276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6254496"/>
            <a:ext cx="704088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Ei Pixan Oy:n virallinen kanta · ei arvo-, sijoitus-, laina- tai oikeudellinen lausunto</a:t>
            </a:r>
          </a:p>
        </p:txBody>
      </p:sp>
    </p:spTree>
    <p:extLst>
      <p:ext uri="{BB962C8B-B14F-4D97-AF65-F5344CB8AC3E}">
        <p14:creationId xmlns:p14="http://schemas.microsoft.com/office/powerpoint/2010/main" val="2120191024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70DE37-E79A-4950-AC3F-21BC28116F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D05A5A2C-959E-4F21-AF15-09EBC10C45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Rahoitettavuus on mahdollisuus, ei johtopäätös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872556F-1E2A-4159-B290-AAB5003324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140EF40-9255-4F22-9138-4E5E113A9F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0528688F-DF4A-4BED-B240-6F75155296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EPO; Saksa — viralliset tuomiot;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CCFA297-939B-420B-AC45-9AFF7016F9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EE563C5-2F67-465D-9502-0BE0E65E3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Viralliset patentti- ja oikeuslähteet oikeuttavat jatkodiligencen; ne eivät vielä osoita vakuusarvoa tai takaisinmaksua.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5E5D04F-6C37-423D-B026-F9E835856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EPO:n muutettu EP3032975B2 ja Saksan kaksi virallista ratkaisua muodostavat oikeusnäytön ankkurin.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195 maan menetelmäkontrolli erottaa 28 tarkistettua suunnitelmaa, 0 lähdepolkua, 15 EU TPD -mallia ja 152 rajaamatonta proxy-reittiä; mikään ei avaa 0/3 donor-porttia.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Rahoitusrakenne tarvitsee kansalliset oikeudet, claim-mapped sales -sillan, kassavirran ja riippumattoman arvonmäärityksen.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3056E7C-1BE8-48D8-920D-F9A1C789C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B4DBB50-D24C-44CE-9E92-168FD1B92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Suositus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B0D1C78-2FFF-4F48-910F-EAA8AD03C3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Avaa 90 päivän ehdollinen diligence, ei lopullista luottopäätöstä.</a:t>
            </a:r>
          </a:p>
        </p:txBody>
      </p:sp>
    </p:spTree>
    <p:extLst>
      <p:ext uri="{BB962C8B-B14F-4D97-AF65-F5344CB8AC3E}">
        <p14:creationId xmlns:p14="http://schemas.microsoft.com/office/powerpoint/2010/main" val="968612830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B0EBDB3-FA1A-454A-BCF1-7029AE05E7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RAHOITUSTEESI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EB3FF47-0F61-4196-A44D-A0570E1889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Kolme perustetta jatkaa — ja kolme rajaa olla kiirehtimättä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BD45BCE-B770-4205-8D14-9FDDA32525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C6387E7-564A-4E48-B21E-FF997EDC7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AA20883C-DAD0-48E8-A2A5-749756CCC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EPO;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FF4F27FD-4221-4A1A-8FE3-26E550D4FC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00071"/>
                <a:gridCol w="4154944"/>
                <a:gridCol w="415494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Vahva signaali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tukee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Mitä se ei todista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EPO:n keskitetty riitautus päättyi patentin pysyttämiseen muutettuna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Dokumentoitu patenttiydin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Kansallinen voimassaolo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Pätevyyden kansallinen signaali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Lainvoima tai globaali pätevyys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claim-kohtainen signaali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Muu tuote, maa tai maksettu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59587B-30BC-4B0A-98F5-CBA03EA632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Pankin tulee hinnoitella vain se osa näytöstä, jonka omistus, toteutettavuus ja kassavirta on vahvistettu.</a:t>
            </a:r>
          </a:p>
        </p:txBody>
      </p:sp>
    </p:spTree>
    <p:extLst>
      <p:ext uri="{BB962C8B-B14F-4D97-AF65-F5344CB8AC3E}">
        <p14:creationId xmlns:p14="http://schemas.microsoft.com/office/powerpoint/2010/main" val="92861828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4897BBE-0D2E-42AE-9FD0-E781A225B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ONGELMA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CF8D8A2-6FB0-4F0B-AD07-429640B9B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Todennusketju katkeaa ennen kassavirtaa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EB3AFE7A-F108-4BE2-B99A-C6AF4A3166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ED5FD5A-A40D-40F6-893B-D432EC2E82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0790B0C-940E-4D15-B1A6-B8E74F93C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Register; WIPO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4613C25-C67D-458B-BA22-64B057DB4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1F45BA1D-E1B7-4627-8A6F-FCADE90650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29844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0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Patentti → voimassa oleva maaoikeus → relevantti tuote → relevantti myynti → sopimus tai tuomio → maksu → velanhoito.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D45B728-3C3B-47A9-8C8D-6B9DCCB96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090672"/>
            <a:ext cx="6629400" cy="28072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Ketjun alku on osin vahvistettu virallisilla lähteillä.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Tuote- ja myyntikytkentä on vahvistettu vain rajatusti: Saksa, 7 O 3341/24.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Sopimus-, maksu-, yhtiötalous- ja vakuusarvonäyttö puuttuu julkisesta paketista.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597EF77-079E-4379-96B6-BBFF2A4AF3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578CDC64-CDA8-401B-8B97-7497D212B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Luottoriski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FF1C94BA-817D-42BE-90F0-2B55E8A73B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Yksi vahvistamaton lenkki voi muuttaa nimellisen markkina-arvon nollaksi realisoitavassa downside-skenaariossa.</a:t>
            </a:r>
          </a:p>
        </p:txBody>
      </p:sp>
    </p:spTree>
    <p:extLst>
      <p:ext uri="{BB962C8B-B14F-4D97-AF65-F5344CB8AC3E}">
        <p14:creationId xmlns:p14="http://schemas.microsoft.com/office/powerpoint/2010/main" val="1363512282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56A0932-BBF6-488D-8149-54ED956542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RATKAISU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07007D3-A2EE-4FF5-96AF-FC0643B7C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Patentoitu ratkaisu ohjaa tehoa resistanssitiedolla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756CF256-03EC-445C-A5D0-801F3BD5CF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6AA4FE2-782B-4D01-B649-2DB039D94A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A32E848-0513-48E6-B8C8-EEF872372E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01907DE0-3AEE-4AA1-954E-AD34CE25CF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E3FC5847-A966-4296-83FA-EAB12E99A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6276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Julkaistu patenttiselitys koskee sähkökäyttöisen höyrystimen ohjausta mittaamalla lämmityselementin resistanssi, valitsemalla sitä vastaava teho tallennetusta tiedosta ja ohjaamalla lämmittimelle syötettävää tehoa määritellyissä käyttäjäsäädön rajoissa.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A7F7BD51-0A96-49C8-8B91-C1746B71E3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3419856"/>
            <a:ext cx="6629400" cy="247802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Mittaus: lämmityselementin resistanssi.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Tieto: tallennetut resistanssi–tehoarvot.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Ohjaus: lämmittimelle syötetty teho ja käyttäjäsäädön rajat.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BB8F1A4-F94E-49FB-8BEB-8E39969E5F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AFC85711-2A19-4291-9D69-CFDE7B4EB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7311E568-4CDD-450E-A3CC-F16FC8A28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Yleiskielinen kuvaus ei korvaa maakohtaista claim constructionia tai tuotekohtaista vaatimusanalyysiä.</a:t>
            </a:r>
          </a:p>
        </p:txBody>
      </p:sp>
    </p:spTree>
    <p:extLst>
      <p:ext uri="{BB962C8B-B14F-4D97-AF65-F5344CB8AC3E}">
        <p14:creationId xmlns:p14="http://schemas.microsoft.com/office/powerpoint/2010/main" val="163107338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DE12B57-204B-4533-9BF9-E198D8060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703DFCE-CEBD-4124-8803-B63F8338E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B2-tekstin yhdeksän vaatimusta ovat arvioinnin lähtöpiste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880B5B1-6DC2-4C26-8502-064E4671B6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B69CDB-7466-46D9-8C70-5B4570288D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A670C16-E325-4078-A762-892A9904D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EP3032975B2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3203E1B-5AF8-4451-9FCC-A2658B3AC3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82313"/>
                <a:gridCol w="5852568"/>
                <a:gridCol w="307507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Elementti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Julkinen kuvaus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Diligence-testi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Ohjain / menetelmä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Sähköisen höyrystimen hallinta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tuoteversio ja maa?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Resistanssin mittaus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Lämmityselementin resistanssi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ja milloin mitataan?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Tallennetut arvot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Resistanssi–teho-kytkentä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Missä data sijaitsee?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Ei-proportionaalisuus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Tehosuhteen määritelty luonne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Täyttyykö vaatimuspiirre?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Säätörajat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Minimi ja tallennettu maksimi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Miten käyttöliittymä toteuttaa rajat?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589C0CD-4789-4D3E-BD73-E37A642764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Jokainen vaatimuspiirre on osoitettava todisteella; ominaisuusluettelo ei yksin riitä.</a:t>
            </a:r>
          </a:p>
        </p:txBody>
      </p:sp>
    </p:spTree>
    <p:extLst>
      <p:ext uri="{BB962C8B-B14F-4D97-AF65-F5344CB8AC3E}">
        <p14:creationId xmlns:p14="http://schemas.microsoft.com/office/powerpoint/2010/main" val="566771491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1C256DE-410A-4BB5-8289-274F41466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PATENTTI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1F9FD87-E615-4077-A728-F94DB18E84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IP-historian ydintapahtumat ovat jäljitettävissä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F9E411B-D9F9-4BFF-8CC3-AA5C55F0E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3077B47-21A2-4F30-85EE-BEB3D97762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D4DC100-C5DC-4D48-9018-1F5392BF5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 Register; B2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DEA2DE9-C171-4ABA-A35D-075E0E9CC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92C1ED8-507F-4F96-BE2C-AE6B3F4F8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A9E3634-E561-4AA0-9D37-D14C3C43C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14.8.2013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354F919F-3A36-41C9-8201-F1B2D665BA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varhaisin prioriteetti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E657C82-6F00-4E66-A03B-8FDA54971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604DC7A-E0EB-4226-AB16-506BB852B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24.4.2024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8033392-2D00-4F23-80F9-434128AC5E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B2-julkaisu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89C06C89-E0D2-4DCB-8252-392FF75C7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E57919BB-065B-4D64-95C1-675948B076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E2F332B1-F169-4274-8560-AD9B16455B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muutettua vaatimusta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A21C7125-0010-4B25-8F96-CE66D9B3E8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EPO:n keskitetty väite- ja valitusmenettely päättynyt; kansallinen myöntämisen jälkeinen tila on erillinen.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2B1679E6-3F61-4D5F-B645-7051C9D4D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206C68F-BB1D-40C2-8F66-711241F2F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AED0285-0348-431E-8080-2E6E759E4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Kansalliset post-grant-oikeudet elävät erillään EPO:n keskusmenettelystä.</a:t>
            </a:r>
          </a:p>
        </p:txBody>
      </p:sp>
    </p:spTree>
    <p:extLst>
      <p:ext uri="{BB962C8B-B14F-4D97-AF65-F5344CB8AC3E}">
        <p14:creationId xmlns:p14="http://schemas.microsoft.com/office/powerpoint/2010/main" val="1267972630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648B21-C0CF-47E4-B0A2-FD7C6F2CD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MAANTIETEELLINEN KATTAVUUS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799A10E-3693-4C0C-9BB9-0E03ABBB5E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Patenttiperhe: 22 julkaisua, maapeitto avoin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240A68F-08BF-4995-9386-2534D7ACA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09AEB2C-46F9-45FB-BC5E-53402033D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AECE854-1213-48B9-B794-F8B819E40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EPO family; kansalliset rekisterit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1AD97AD-9684-4141-A2F1-78599D6DD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CB681CF8-1BDF-42F6-89A9-60474389E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DAE743-86E5-43C0-866E-FC76D0796C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60E0407C-E79D-451D-B8E9-9ADA8E3771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perhejulkaisutietuetta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690051BB-F34E-4DCA-914A-7E812C97E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90BD57A-F251-4018-89FF-5EF1BA53B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62F7DCFD-F585-4AEC-8842-377373E14A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tunnistettua menettelyä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3D03DCA1-84DB-43AC-AA10-FC4DEB4D9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B8708B6-4F17-453D-A80D-BAA63F94C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FF077FCD-8126-40E4-8A18-4951479629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virallista kansallista rekisteritarkistusta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BB722119-7402-4387-8F8B-1017F77E7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2D35B9E-3EA9-4D78-A73A-E0953FD582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?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B18B7D97-5AE4-4E6C-AED3-ABEF9E672D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täytäntöönpanokelpoista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DA022BE5-7196-4FF3-856E-3737A515FC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Julkaisureitti on kartta, ei omistus- tai voimassaolotodistus.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5EB2881F-D9E7-41F5-ADC0-2DCF7E74F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5A7E0A56-61C6-46FD-BB75-B2434A89CF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E3217919-5040-44B9-A71E-219EBF2ED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Asiamiehen maamatriisin tulee sisältää haltija, operative claims, vuosimaksu, kuitti, rasitteet, UPC-asema ja seuraava määräpäivä.</a:t>
            </a:r>
          </a:p>
        </p:txBody>
      </p:sp>
    </p:spTree>
    <p:extLst>
      <p:ext uri="{BB962C8B-B14F-4D97-AF65-F5344CB8AC3E}">
        <p14:creationId xmlns:p14="http://schemas.microsoft.com/office/powerpoint/2010/main" val="1359522934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92E957B-C242-4E26-8BE0-2F4DB49578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F6CB4E7-679F-4E0A-85F8-7876E537E0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ratkaisut ovat vahvaa näyttöä tarkasti rajatussa kehyksessä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6E4FD92-A0BF-43C6-B103-C216E245A4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BDA1ECCD-CC1E-42E7-9001-4A23814D8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0E1A5FB-7DC6-4C10-AA59-E59F7DF7C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Viralliset tuomiot: 8 Ni 18/24 (EP);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CB92689-0047-4AF0-9B0D-7CD819EBB7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76604"/>
                <a:gridCol w="3589371"/>
                <a:gridCol w="4443984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Viite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tapahtuma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Rajaus ja 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8 Ni 18/24 (EP)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Mitätöintikanne hylättiin; valitus vireillä (14.1.2026)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hylkäsi EP3032975B2:n Saksan osaa koskevan mitättömyyskanteen. Virallinen rekisteri mainitsee valituksen liittovaltion ylimpään tuomioistuimeen asianumerolla X ZR 21/26. Ei lainvoimainen BGH-valituksen ollessa vireillä.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67792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 O 3341/24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Tarkasteltujen tuotteiden todettiin loukkaavan patenttia (2.4.2026)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Virallinen tuomio katsoi tarkasteltujen tuotteiden loukkaavan vaatimuksia 1 ja 6 välittömästi ja täydentävien osien osalta välillisesti sekä määräsi tuomiossa luetellut oikeusseuraamukset. Virallinen tuomio on saatavilla; valitustilaa, lainvoimaisuutta ja täytäntöönpanoa ei ole tässä julkaisussa riippumattomasti vahvistettu.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0C3D331C-F413-4ECD-B564-BA3180327B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Saksan näyttö ei automaattisesti siirry toiseen tuotteeseen, vastapuoleen tai valtioon.</a:t>
            </a:r>
          </a:p>
        </p:txBody>
      </p:sp>
    </p:spTree>
    <p:extLst>
      <p:ext uri="{BB962C8B-B14F-4D97-AF65-F5344CB8AC3E}">
        <p14:creationId xmlns:p14="http://schemas.microsoft.com/office/powerpoint/2010/main" val="1576553870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2AEC49B-8270-4B10-BD7A-E3AF25B60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OIKEUDELLINEN NÄYTTÖ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A0DB2D2-3D34-4BA2-9F0D-6FF8C9AD5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Kiinan asia ei ole loukkausvoitto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DCED697-D180-4194-9413-3BE6EC954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6F86A25A-BF72-4C48-A1BB-F72F59EC9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05A292D-44A9-4ABA-835B-B85BA4C4E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RPX; CNIPA guidance; EPO family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97467E0-01D5-4FFC-95E0-6FD67C401E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6F1CAE1A-9748-4E98-B4FF-E53E54DCC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sekundäärinen docket-tieto viittaa hylätyn hakemuksen hakijapuolen uudelleentarkastukseen.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5BA4EA98-F7EE-4AFE-B7A9-A744CCC73F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Menettely luokitellaan review request -asiaksi.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Virallista päätöstä ja tarkkoja perusteluja ei saatu julkiseen pakettiin.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CN105764365B julkaistiin myöhemmin myönnettynä 4.5.2021.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2306F62F-94D7-4601-9025-13FAF048B0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A0DB7C-7454-4570-A284-98EEF50038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Käyttöraja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64511290-4AC0-4667-BDD6-AA89A643D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Asiaa ei saa kuvata Kiinan loukkausoikeudenkäynniksi, vastapuolen mitätöintiasiaksi tai kassavirtanäytöksi.</a:t>
            </a:r>
          </a:p>
        </p:txBody>
      </p:sp>
    </p:spTree>
    <p:extLst>
      <p:ext uri="{BB962C8B-B14F-4D97-AF65-F5344CB8AC3E}">
        <p14:creationId xmlns:p14="http://schemas.microsoft.com/office/powerpoint/2010/main" val="200447799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97F06C44-6DEF-4792-A554-0C6EFAA282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RISKIT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4F29D04-57A9-46F0-BAA3-05513A34C5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Neljä ajankohtaista IP-hälytystä vaatii dokumentoidun omistajan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255FAC29-CEF4-41CF-B053-F4FEEB989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C65C325A-6303-4D16-8CB4-D116FF0D0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BE6A212-BEBA-4FE6-9964-0760E85F65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IP Australia; PRH; EPO; EPO / UPC; USPTO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329C466-FBF2-49DC-B66C-E6F1C94E7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8600"/>
                <a:gridCol w="1932166"/>
                <a:gridCol w="6859192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 / alue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Päivä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Toimi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Australia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14.8.2026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Australian seuraava uusiminen heti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31.8.2026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Suomen 14. vuosimaksu erääntyy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Eurooppa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7.8.2026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Täsmäytä jokainen eurooppalainen kansallinen oikeus ennen maksukierrosta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4.12.2026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Vahvista ja hoida Yhdysvaltain 7,5 vuoden ylläpitomaksu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E251C3D5-7617-4F87-9C27-965AB5118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Määräpäivävalvonta on vakuusarvon operatiivinen kontrolli, ei hallinnollinen sivuseikka.</a:t>
            </a:r>
          </a:p>
        </p:txBody>
      </p:sp>
    </p:spTree>
    <p:extLst>
      <p:ext uri="{BB962C8B-B14F-4D97-AF65-F5344CB8AC3E}">
        <p14:creationId xmlns:p14="http://schemas.microsoft.com/office/powerpoint/2010/main" val="337776498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55D82F5-1B75-4ACC-8144-6A05BE2546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D2B0080-F0D8-46C9-B7B9-1147CA7C1C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11094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195 maan pohja: 578 WB-havaintoa; reitit 28 / 0 / 15 / 152;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17FF7DC-2AA2-4043-8A8D-0FB3CD24F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EF3F7BE-F2C7-4E69-90B7-A63A5EEA1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E2331AD-953D-4DAF-9DB2-CEBCD3A653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UN; Atlas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134C79-8A66-4C43-820F-0243F10F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3695EFAB-5145-4CC5-9390-04BB9D056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26859E3-0CFA-41B0-87C9-716B487D7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EDDFA4EB-2782-4D29-92BF-CA15619A08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A-luokan maata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8D451CDB-F696-4C97-A4FB-E1762220C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219EBF46-8293-4F59-A357-4C8DD14BEF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CD594C5-1EDB-4042-BD9C-68A4FF61F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B-luokan maata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240A5347-9205-4573-8D89-E4463918D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641E63CD-A5CE-42A5-865F-77FD9CE53F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83C24524-8039-4036-BEF5-AC16743DF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C-luokan maata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C139FA15-5C18-449A-9E44-749202A610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F67C25A-3AAD-4857-9818-34DB1DF7D3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158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F0A7BE40-4587-47CC-9C30-A80B0AB7C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D-luokan maata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A2AD14BC-E015-4F95-9782-C70B12DCA1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37 evidenssimerkintää; universumin YK-osuus on 193 jäsenvaltiota.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14F67538-F81A-4203-82CF-CB46FBE40B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AB1FAFBF-8515-449B-8922-CF3B0C9C06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2C32C664-536E-40D2-9BF0-6468486E7E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Luokat A–D kuvaavat evidenssikypsyyttä, eivät markkinan kokoa tai kaupallista houkuttelevuutta.</a:t>
            </a:r>
          </a:p>
        </p:txBody>
      </p:sp>
    </p:spTree>
    <p:extLst>
      <p:ext uri="{BB962C8B-B14F-4D97-AF65-F5344CB8AC3E}">
        <p14:creationId xmlns:p14="http://schemas.microsoft.com/office/powerpoint/2010/main" val="1835746788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E3AA007-5FFC-4A60-9CCF-4BB7A559F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FDF1FB47-C8A9-4597-A6EA-498522B31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9875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93423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39 markkinamittaria ja 36 Ruotsin FHM-lukua; menetelmäkontrolli 28 / 0 / 15 / 152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BC9C262-0A85-46FD-8949-63425E435D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A91BEEB6-CC4D-400B-A9A1-B22068002E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786C47EE-A854-49B3-995F-A676F57D9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World Bank; Statistics Canada; Health Canada; New Zealand Ministry of Health; Destatis; Vero; Sejm; FHM; FTC; ADM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9EDE1BB0-EE2B-4CC4-A1D1-D484CA3638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81328"/>
                <a:gridCol w="1944243"/>
                <a:gridCol w="768438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Maa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Virallinen havainto / tuettu malli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Kanada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2019–2025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StatsCan retail 2024: 1,219160 mrd CAD (≈822,6 milj. EUR; ECB 2024) / 822,58 milj. EUR; kuukausireitti +1 000 CAD. Kanada 7/10; D5/D7 hylätty, D10 avoin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Saksa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2023–2025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 → 1,518 milj. l verotettua nestettä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Suomi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11 801,062 l; 3,54 milj. EUR valmisteveroa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Uusi-Seelanti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2022–2024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tunnistettu AIS/AVP-vaping-summa 274,180 milj. NZD (≈153,3 milj. EUR; ECB 2024); kulutustarvikkeet 189,402 + laitteet/hardware 84,709 + sekajärjestelmät 0,069 milj. NZD. NZ 7/10; D5 hylätty, D8/D10 avoinna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Puola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2020–2023 / 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e-nestevirta 1 451 529 → 805 441 litraa; verosilta 4 382 500 laajan ryhmän laitteelle + 62 500 osasarjalle. Ei sähkötupakkakohtainen, retail-arvo tai donor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Yhdysvallat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2015–2021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FTC: suljettujen järjestelmien ja kertakäyttötuotteiden raportoitu myynti 2,763 mrd USD (≈2,336 mrd EUR; ECB 2021) vuonna 2021; valmistajaraportointia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D6DFEF1-952D-4032-84A5-ABA114A29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Litroja, toimitusarvoja ja valmisteveroja ei summata yhdeksi markkinaksi.</a:t>
            </a:r>
          </a:p>
        </p:txBody>
      </p:sp>
    </p:spTree>
    <p:extLst>
      <p:ext uri="{BB962C8B-B14F-4D97-AF65-F5344CB8AC3E}">
        <p14:creationId xmlns:p14="http://schemas.microsoft.com/office/powerpoint/2010/main" val="1788696614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5AA141B-8652-441D-B0D4-B176FA5073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KANADA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EB5A331-D8C6-45AF-8335-4C1CFB5F9E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Kanada 2024: vahva piste-estimaatti, 7/10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5CD5689A-0771-4842-9130-7E093B01D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36CFC5F-C5D3-409C-B9B8-3790D35B7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0E4A8C8-3E18-4654-AFE8-1D8EC666F6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Statistics Canada; Health Canada 2024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4273F551-D5B1-4720-AD4D-21C9579AE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8CAD158C-1622-48C1-A0F5-852929BA1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F6B70F3-695A-4E4A-A674-78F7D3A58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1,219160 mrd CAD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7CD618C-CC03-455D-83EA-4E0FE25F8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998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kuluttajavähittäismyynti · ≈822,6 milj. EUR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CA2415A1-035C-436C-9307-33ACD6D2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5DE7375-C68D-40BC-9C91-928C50718D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1,160754 mrd CAD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81D9A1FD-A1CE-4869-A6A1-E01FC4384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toimitukset · ≈783,2 milj. EUR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56DD301D-779B-4849-8AB2-EF812397C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60006E8-8F5C-4CF9-851F-A07390647A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7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1 000 CAD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AFFE262C-E0C7-4964-8103-7546CBF95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kuukausi–kvartaali-ero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A90211E-1EF8-44DC-B6EC-4545204A7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8351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Retail ylittää toimitukset 58,406 milj. CAD eli 5,03 %, mutta jäännös ei ole kate tai markkinahaarukka. D8 on suljettu virallisella veroperustalla.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7F943CE-DE37-450E-8D15-2D312FCB1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56C5A3B3-7C59-4C3F-A8D3-078335055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FC54B517-6781-4AD8-9A76-B4A467E87D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Kanada läpäisee 7/10. D5 hylätty: NAICS 459999 jää kohdejoukon ulkopuolelle. D7 hylätty: tarkkoja tuoteryhmätason laatumittareita ei ole saatavilla. D10 avoin: eri tapahtumatasojen silta on täsmäyttämättä.</a:t>
            </a:r>
          </a:p>
        </p:txBody>
      </p:sp>
    </p:spTree>
    <p:extLst>
      <p:ext uri="{BB962C8B-B14F-4D97-AF65-F5344CB8AC3E}">
        <p14:creationId xmlns:p14="http://schemas.microsoft.com/office/powerpoint/2010/main" val="1541456311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EA6743E-EA09-4AEF-A1C1-12985AFE9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SAKSA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4B466AC-85D9-4896-9CB6-F72248C905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virallinen nestemäärä kasvoi, mutta arvo vaatii hintaoletuksen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AD2650B-DD69-43CC-B564-D1217B498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B2F5BE9-2292-458E-972D-E6707AD3B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E552FD9-1979-4FAB-B7C6-C179B247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Destatis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37F4182-4A77-419C-802E-4829FAB3C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362224"/>
                <a:gridCol w="3069857"/>
                <a:gridCol w="263130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Vuosi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Verotettu neste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Valmistevero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Lopullisuus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1,241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201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1,284 milj. l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266 milj. EUR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Lopullinen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111861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2025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1,518 milj. l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404 milj. EUR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Alustava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57C2D5-2BC1-4A43-814D-EEBE986495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Verotettu nestemäärä ei sisällä laitteita, verotonta tai laitonta kauppaa eikä ole retail-arvo.</a:t>
            </a:r>
          </a:p>
        </p:txBody>
      </p:sp>
    </p:spTree>
    <p:extLst>
      <p:ext uri="{BB962C8B-B14F-4D97-AF65-F5344CB8AC3E}">
        <p14:creationId xmlns:p14="http://schemas.microsoft.com/office/powerpoint/2010/main" val="2158606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B338D8F-FA9C-4B28-BBB3-458009DFA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MALLINNUS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908197F4-6621-4E40-A4F1-1A1CC726A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Saksan malli näyttää herkkyyden, ei myyntiä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4C54588-9429-43DF-9357-0888553B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D557094-03EF-41E4-AC4C-45B4D7729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391923E-A99F-4E28-B74D-8AB3992734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Destatis; inTaste.de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4513690-7959-476B-996E-A402CA45A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07F511C8-9BED-4492-8041-6B29BE138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2B308D3-2DCC-4648-9FEF-AE70CE0525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667,92 milj. EUR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0E6450CD-5F40-42DA-B8E8-170344DC66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0,44 EUR/ml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F99F1F74-27AD-40ED-B8DB-3698FF31F8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19016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95C33699-F16F-4496-BBB5-1103D2E43D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1 199,22 milj. EUR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B6C4B644-1480-4718-9360-86007E5C6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3608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0,79 EUR/ml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BEC2D6AD-F138-444B-8CEE-2E5E17185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07680" y="1719072"/>
            <a:ext cx="3532632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281C570D-D0AA-4087-A5D3-F4B8105250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1883664"/>
            <a:ext cx="3203448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25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1 654,62 milj. EUR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4CFC3A0D-8E51-4C6B-8A36-F1EB3595B3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72272" y="2468879"/>
            <a:ext cx="3203448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1,09 EUR/ml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8B5CE879-C03E-4FBB-82AA-DF2E2C11D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Kaava: volume_litres * 1000 * retail_price_eur_per_ml.</a:t>
            </a:r>
          </a:p>
        </p:txBody>
      </p:sp>
      <p:sp>
        <p:nvSpPr>
          <p:cNvPr id="1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58ED94C2-462B-4CCB-BA11-88F3F2283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0A60573-88D4-4492-BD70-E1CE4CEF4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C8DBCE4F-8FF8-42B0-97CA-1930F0BCD2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35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havaittua myyntiä. Laskelma käyttää vuoden 2025 alustavaa verotettua nestemäärää ja kolmea verkkokaupan vuoden 2026 hintaa. Rajattu tuotejakauma ja poikkeava ajankohta pitävät luottamustason matalana.</a:t>
            </a:r>
          </a:p>
        </p:txBody>
      </p:sp>
    </p:spTree>
    <p:extLst>
      <p:ext uri="{BB962C8B-B14F-4D97-AF65-F5344CB8AC3E}">
        <p14:creationId xmlns:p14="http://schemas.microsoft.com/office/powerpoint/2010/main" val="495000469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61DC0C8-8274-48CB-8BA9-1EABA3731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GLOBAALI MARKKINA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7699394-E108-41EA-8423-C6ECE8640F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Globaalit arviot ovat ristiintarkistus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BF4B4643-CD9B-4115-8E66-A049D22C43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97E9C208-9949-4365-B92F-449168086E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168C270-61A1-409E-8F6A-339A3FA5D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IMARC; GVR; Fortune; European Commission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139EA-EE4A-41D3-BECC-7E64CC9E09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93929523-127E-4FCB-B30F-575770230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0352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2EB2142A-2835-4EBF-88CE-92FD9E5955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26,0 mrd USD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5F48DCD-CFE3-4770-ADBF-8D59E76554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944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IMARC 2025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930808AE-F197-43C6-8E03-52D536A89F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71850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B460D79-AF2C-48DE-BEAE-E29378832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45,7 mrd USD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06035B7-CFFA-4F14-AB5D-A97CBFEA2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6442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GVR 2025</a:t>
            </a:r>
          </a:p>
        </p:txBody>
      </p:sp>
      <p:sp>
        <p:nvSpPr>
          <p:cNvPr id="14" name="Rounded Rectangle 13">
            <a:extLst xmlns:a="http://schemas.openxmlformats.org/drawingml/2006/main">
              <a:ext uri="{FF2B5EF4-FFF2-40B4-BE49-F238E27FC236}">
                <a16:creationId xmlns:a16="http://schemas.microsoft.com/office/drawing/2014/main" id="{720072B5-5501-4917-A319-F68D50DF9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3348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D13456E0-FA1F-4FD6-8C56-3AA75F7C7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F4B942"/>
                </a:solidFill>
                <a:latin typeface="Aptos"/>
                <a:ea typeface="Aptos"/>
                <a:cs typeface="Aptos"/>
              </a:rPr>
              <a:t>46,32 mrd USD</a:t>
            </a:r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9FE4A46D-B6DF-4A7B-A682-F06B6A3BC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7940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Fortune 2025</a:t>
            </a:r>
          </a:p>
        </p:txBody>
      </p:sp>
      <p:sp>
        <p:nvSpPr>
          <p:cNvPr id="17" name="Rounded Rectangle 16">
            <a:extLst xmlns:a="http://schemas.openxmlformats.org/drawingml/2006/main">
              <a:ext uri="{FF2B5EF4-FFF2-40B4-BE49-F238E27FC236}">
                <a16:creationId xmlns:a16="http://schemas.microsoft.com/office/drawing/2014/main" id="{90B3ADDB-EDF3-4A09-8710-4A3BFEED8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4846" y="1719072"/>
            <a:ext cx="2585466" cy="13716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F6F9FA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26A92F13-6CDD-43DD-8E7C-C5E1644EC7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1883664"/>
            <a:ext cx="2256282" cy="53035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100" b="1">
                <a:solidFill>
                  <a:srgbClr val="138A72"/>
                </a:solidFill>
                <a:latin typeface="Aptos"/>
                <a:ea typeface="Aptos"/>
                <a:cs typeface="Aptos"/>
              </a:rPr>
              <a:t>4,99 mrd EUR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A13EF402-4882-43C4-8170-14AD58FCC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19438" y="2468879"/>
            <a:ext cx="2256282" cy="4389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4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EU-komission vertailuarvo 2023</a:t>
            </a:r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2D2194AB-EA88-4611-A7E1-06F30738E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3529584"/>
            <a:ext cx="10927080" cy="7863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5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EU:n vertailuarvo tukee mittaluokan ristiintarkistusta; kaupallinen haarukka on leveä, koska tuoterajaukset ja metodit voivat poiketa.</a:t>
            </a:r>
          </a:p>
        </p:txBody>
      </p:sp>
      <p:sp>
        <p:nvSpPr>
          <p:cNvPr id="2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C10319B7-70CF-4224-9C59-3C5B373994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4535424"/>
            <a:ext cx="10927080" cy="11430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AF3F6"/>
          </a:solidFill>
          <a:ln xmlns:a="http://schemas.openxmlformats.org/drawingml/2006/main">
            <a:solidFill>
              <a:srgbClr val="EAF3F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C29278-8975-436B-8022-98DB9EC2E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81728"/>
            <a:ext cx="1059789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Tulkinta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AD5656CD-6A1B-4DB1-8E07-99C8C2A4C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038344"/>
            <a:ext cx="10597896" cy="521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EU-luku perustuu kaupalliseen Euromonitor 2025 -aineistoon; Kypros, Luxemburg ja Malta puuttuvat. Se ei ole kansallinen luovuttajamarkkina. Arvioita verrataan, ei summata tai käytetä automaattisesti rojaltipohjana.</a:t>
            </a:r>
          </a:p>
        </p:txBody>
      </p:sp>
    </p:spTree>
    <p:extLst>
      <p:ext uri="{BB962C8B-B14F-4D97-AF65-F5344CB8AC3E}">
        <p14:creationId xmlns:p14="http://schemas.microsoft.com/office/powerpoint/2010/main" val="77635289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438B566-AF95-4160-86F8-F6029B97B7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METODI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2712073-6BB6-4FDA-86F5-18F7F2A444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Maailmanestimaatti vaatii vähintään 3 donoria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61FA3A0-01DD-45C2-9D04-CC9E35626E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0359B5F5-7182-4AF4-82B4-F46EBEEA95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2311F93-DFE4-4CCC-9DAA-B4111D456A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Market-values model; Method-route control; Readiness ja donorCandidates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8F3DEF9-7435-443A-8841-5F626A2168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A9F822FD-8CDF-467D-8181-0F76005A5B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1247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Uusi-Seelanti 7/10: D5 hylätty, D8 ja D10 avoinna. Kaikki 5 ehdokasta ovat ulkona; donor-portti 0/3.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77307FD9-CB1A-4424-8E4D-5C58873EC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Uuden-Seelannin tunnistettu AIS/AVP-summa 274,180 milj. NZD (≈153,3 milj. EUR; ECB 2024) jakautuu kulutustarvikkeisiin 189 402 451,96, laitteisiin/hardwareen 84 709 409,85 ja sekajärjestelmiin 68 548,40 NZD.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Viereiset 2 137 085,24 ja ratkaisemattomat 4 367 017,37 NZD rajataan pois. Maa läpäisee 7/10; D5 hylätään sekä D8 ja D10 ovat avoimia.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Erillinen 533,7–731,2 milj. NZD (≈298,5–408,9 milj. EUR; ECB 2024) RPS-herkkyys on tuettu malli, ei havaittu kansallinen arvo. Donor-portti pysyy 0/3:ssa.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DE9D6CA8-E391-4243-BF88-8A0A1DC108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C3245ED5-4103-4A8B-B143-BC399235BD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Vasta sitten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89883692-B30B-4849-A0F8-C103DAD345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Trianguloi kysyntä-, vero-, tulli-, yritys- ja hintamenetelmät. Vertaa tuloksia; älä lisää vaihtoehtoisia arvioita yhteen.</a:t>
            </a:r>
          </a:p>
        </p:txBody>
      </p:sp>
    </p:spTree>
    <p:extLst>
      <p:ext uri="{BB962C8B-B14F-4D97-AF65-F5344CB8AC3E}">
        <p14:creationId xmlns:p14="http://schemas.microsoft.com/office/powerpoint/2010/main" val="1681532591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34113AE1-04D8-4F51-A8D5-A84869AC1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ARVOSILTA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8A0F9472-C3CF-42B6-A3E8-4C2F82D9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Markkinan ja patentin väliin tarvitaan viisi läpinäkyvää suodatinta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44F204E6-D278-4ADF-BE36-02907AB85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07D8CE3-8E79-4313-8262-2B92353AC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9824F8C-7DFE-42C1-962C-1646B089F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WIPO valuation;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B4644E5-C1A1-4C8F-9EC2-7F3B4888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60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60270"/>
                <a:gridCol w="4217670"/>
                <a:gridCol w="4732020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Suodatin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Näyttö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1. Kokonaismarkkina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Tuote- ja mittarirajaus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Osittainen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2. Oikeusalue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Voimassa oleva operative claim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 globaalisti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3. Relevantit 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näyttö: Saksa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4. Relevantti myynti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 × maa × aika × net sales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5. Kassavirta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Rojalti/sovinto − kulut − verot − viive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191C977-4B75-496E-B9DB-F216B71E2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Vain alimman tason kassavirta voi palvella velkaa; ylempi markkina ei sellaisenaan voi.</a:t>
            </a:r>
          </a:p>
        </p:txBody>
      </p:sp>
    </p:spTree>
    <p:extLst>
      <p:ext uri="{BB962C8B-B14F-4D97-AF65-F5344CB8AC3E}">
        <p14:creationId xmlns:p14="http://schemas.microsoft.com/office/powerpoint/2010/main" val="124791091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FDE37B62-7E3A-4D01-AC08-319F2796A3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ASIAKKAAT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C87A47D-9825-4A33-9313-48EFFCC343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Asiakassegmentit ovat vielä hypoteeseja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9380762-C27C-49CD-AB9A-E9F78B33BA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7F646C7B-6BAC-47D8-AF36-8B0A1A908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BEAE1C41-3E3E-4A2D-B895-45AD270B3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WIPO licensing; IP Finance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E032A6E-E742-4194-A6A2-73473A08BA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B0AA256A-75CD-44E4-B50C-5C33DB8173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1554480"/>
            <a:ext cx="6766560" cy="102412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3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Segmentointi johdetaan kaupallistamisreiteistä: valmistajat, teknologiatoimittajat sekä IP-rahoittajat ja ostajat.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31A84A5-557E-4E23-8C89-DB7D1C8DA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" y="2816352"/>
            <a:ext cx="6629400" cy="308152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Valmistajalle arvo voi olla lisenssi, toimintarauha tai sovinto.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Teknologiatoimittajalle arvo voi olla integroitava toiminto tai oikeusasema.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650">
                <a:solidFill>
                  <a:srgbClr val="182935"/>
                </a:solidFill>
                <a:latin typeface="Aptos"/>
                <a:ea typeface="Aptos"/>
                <a:cs typeface="Aptos"/>
              </a:defRPr>
            </a:pPr>
            <a:r>
              <a:t>•  Rahoittajalle arvo on kontrolloitava, realisoitava kassavirta ja downside-suoja.</a:t>
            </a:r>
          </a:p>
        </p:txBody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16B7482D-175E-4F32-9CB8-9F0B22F0D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26679" y="1554480"/>
            <a:ext cx="3886200" cy="4343400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E3F6F3"/>
          </a:solidFill>
          <a:ln xmlns:a="http://schemas.openxmlformats.org/drawingml/2006/main">
            <a:solidFill>
              <a:srgbClr val="E3F6F3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3FC2DD32-D4FC-42D6-A9A1-89F5B2409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1700784"/>
            <a:ext cx="3557016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Validointi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9112299-0E00-4573-AF95-D6CEF4C157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91271" y="2057400"/>
            <a:ext cx="3557016" cy="372160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5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Dokumentoi 10–15 haastattelua, päätöskriteerit, vastalauseet, budjetti ja seuraava askel. Julkinen aineisto ei vielä sisällä näitä.</a:t>
            </a:r>
          </a:p>
        </p:txBody>
      </p:sp>
    </p:spTree>
    <p:extLst>
      <p:ext uri="{BB962C8B-B14F-4D97-AF65-F5344CB8AC3E}">
        <p14:creationId xmlns:p14="http://schemas.microsoft.com/office/powerpoint/2010/main" val="449487208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D868AC0-1579-4712-B496-792446A6D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KILPAILU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E6318A8B-46ED-4F50-A223-9438C3300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Kilpailukartta on rakennettava neljälle rinnakkaiselle tasolle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A329CDC8-293B-47EE-BB7C-70A1F6ECF0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1818C073-2CAB-4F33-897A-1B134E5347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F60ECFF-65C6-4A9E-A4D2-39CA5CBBC3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Register; EPO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76C3C93-3F0C-4C24-BBBA-DB8C14B8C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21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57400"/>
                <a:gridCol w="5452109"/>
                <a:gridCol w="360044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Taso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Analyysi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Tuotos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Tuotteet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Toiminto, arkkitehtuuri, hinta, markkina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Claims, prior art, status, FTO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Patenttilandscape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Kiertoratkaisut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Voiko suorituskyvyn toteuttaa eri tavalla?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Design-around-arvio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83896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Kaupallinen vaihtoehto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Lisenssi, hankinta, oma kehitys, riitely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Buy/build/license/litigate-malli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6BCBD90-2F15-4D1E-B8D1-BEDFEF7B94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Tekninen etu ei ole uskottava ennen kuin vaihtoehdot on kuvattu ja lähteistetty.</a:t>
            </a:r>
          </a:p>
        </p:txBody>
      </p:sp>
    </p:spTree>
    <p:extLst>
      <p:ext uri="{BB962C8B-B14F-4D97-AF65-F5344CB8AC3E}">
        <p14:creationId xmlns:p14="http://schemas.microsoft.com/office/powerpoint/2010/main" val="413198479"/>
      </p:ext>
    </p:extLst>
  </p:cSld>
</p:sld>
</file>

<file path=ppt/slides/slide2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51600CF9-1282-48B5-81EA-D4A58735B1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TEKNINEN VALIDOINTI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B4FE692-525A-4CA0-8CD6-C1DD1F0BC1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Tuotevalidointi tarvitsee katkeamattoman ketjun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4F0770F-B7F6-4832-BD49-45F14B38A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46B9D992-163A-421E-96BC-06A7ABE4C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F3DAE68-7469-466B-A639-248FF1564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EP3032975B2; 7 O 3341/24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4E0FD76-153B-4DCB-A910-482E668BCB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22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449F7BD6-3F10-45DB-A20B-8F51F7065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2F78A2-44B7-489B-B321-CD09541E1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CC8F7C7F-67C0-48D2-9498-69327BC0B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Näyte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8996581-7511-4A8B-9D02-940953FBC3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Osta oikeasta maasta ja ajankohdasta; dokumentoi myyjä, tuoteversio ja sarjatiedot.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4580CF7-BD87-4719-A1E4-4ABDE9AB3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EBF1E82E-19F2-4BF9-92BF-B480DE1B1F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672DCE9-46AA-44A1-A491-7D2FD76DC3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Hallussapitoketju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A9009E24-6A87-4E48-A027-20573601A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Tallenna vastaanotto, säilytys, avaaminen, kuvaus ja tiedostojen hashit.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467D5330-85F7-46EA-A100-4CA5F3A87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1F92640-896B-4040-BE2C-7D0FD134A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674B7756-E6D8-41D8-8D1C-DE2B200A7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Teardown ja testi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8B0C5FA9-C7B4-48CC-8156-B21493835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Tee riippumaton mittausprotokolla, raakadata ja toistettavuustesti.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39F14C9F-540F-4B4B-B7C4-2197864D9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66904E4-7A10-4C4A-9FF2-453492F1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717F86F3-3396-45D2-B484-7FA0A6AD9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Claim chart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8CD1B90-D241-4796-A845-42B6CA008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Mapita jokainen vaatimuspiirre todisteeseen ja asiamiehen johtopäätökseen.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C7C8EE15-6CF3-42E8-9519-F707CA5AA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Markkinamyynti voidaan kohdistaa vasta, kun tuoteidentiteetti ja claim-kytkentä ovat hallittuja.</a:t>
            </a:r>
          </a:p>
        </p:txBody>
      </p:sp>
    </p:spTree>
    <p:extLst>
      <p:ext uri="{BB962C8B-B14F-4D97-AF65-F5344CB8AC3E}">
        <p14:creationId xmlns:p14="http://schemas.microsoft.com/office/powerpoint/2010/main" val="9303557"/>
      </p:ext>
    </p:extLst>
  </p:cSld>
</p:sld>
</file>

<file path=ppt/slides/slide2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C4A1EE17-46E4-4098-8207-27D40D251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76CE631-1075-477E-8A23-D6D786437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Kaupallistaminen aloitetaan kovista porteista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B5E0EC6-6EAF-496F-B68B-E99FD0EE5C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80EBD342-2E28-4D94-9E9D-6BB205C84B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CAC6FE4-CCDD-436D-90E5-8C2B9B4E0C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WIPO dispute resolution; EPO IPscore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56C418B-2D63-435D-8F37-7AFB723A29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23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E7E0863A-6089-452D-AFEC-22978699EF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CDCA5C39-1FA4-446B-8326-A76F18C1E0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E60B9F1-8A18-4DDF-9577-1C62A06F60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oikeus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F1D90FA9-3D41-4517-B03B-E731D7FA5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yhteydenottoa ilman maakohtaista omistusta, voimassaoloa, rasite- ja määräpäivätietoa.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19AAAF60-837E-404F-AD63-2C3870977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56F05B71-BA96-43CD-A21A-6FFE589C86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0AF37D8D-130B-422D-851E-6399E6232F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Vahvista tuote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8D742C95-B6E4-4213-87F1-286A4354C1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Ei väitettä ilman tuotenäytettä, claim chartia ja paikallisen teon dokumentointia.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A42C5F10-3DC8-4A72-9CF7-DFB9BF28C9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17D43DC4-14B5-4535-8C9C-AC730E46B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F3188972-297E-4AF5-815B-5A31142AE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Pisteytä kohde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3CAAF86-5691-4107-862F-98FB1CB5F8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Arvioi myynti, näyttö, vastapuoli, toimivalta, kustannus ja perittävyys.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9D7CA437-2800-48AD-8844-A346C2BE4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371391D3-E8E2-4CA8-93BD-B13F4E098E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FD10B403-AB08-4B9E-8F77-7BF80907B2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Testaa pilotti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7489DC28-BC14-4D36-8D19-692952FEA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Neuvottele lisenssi-, sovinto-, luovutus- tai rahoitusvaihtoehdot kontrolloidusti.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AF0D37CF-21B0-4BBA-92C9-4647207611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40233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Yhteydenottokirje ei automaattisesti katkaise vanhentumista tai todista tiedoksiantoa.</a:t>
            </a:r>
          </a:p>
        </p:txBody>
      </p:sp>
    </p:spTree>
    <p:extLst>
      <p:ext uri="{BB962C8B-B14F-4D97-AF65-F5344CB8AC3E}">
        <p14:creationId xmlns:p14="http://schemas.microsoft.com/office/powerpoint/2010/main" val="1702875129"/>
      </p:ext>
    </p:extLst>
  </p:cSld>
</p:sld>
</file>

<file path=ppt/slides/slide2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76168FF-D08C-47A7-9972-0A906CD7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KAUPALLISTAMINEN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B0E4F8AE-1767-4FB4-87BF-2047B1E75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Kaupallistamisreitit eroavat kassavirran, kontrollin ja riskin suhteen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D1D4BEA2-95A8-423E-BCD7-5A2A399F7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DC80653-6C7A-4287-A8C5-AFC93AD0EA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E585D2DC-D534-4DCB-B928-305143A276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WIPO licensing; IP Finance; TPLF mapping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1CF649-BBF8-4744-8F9B-FA9C9FB64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24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6571"/>
                <a:gridCol w="3995687"/>
                <a:gridCol w="5067701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Reitti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Kassavirta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Keskeinen riski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Lisenssi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 + jatkuva rojalti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Rojaltipohjan auditointi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Sovinto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Kertamaksu / vaiheistus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Ei automaattista ennakkotapausta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Kauppahinta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Luovutetaan tuleva upside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IP-rahoitus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Velka tai revenue share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Vakuusarvo ja kontrollit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Prosessirahoitus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Kuluihin sidottu pääoma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Korkea kustannus ja lopputulosriski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D1C15579-9C93-42EC-9BD0-E6C02E772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Valitse reitti vasta, kun oikeus, vastapuoli, kassavirta ja downside on todennettu.</a:t>
            </a:r>
          </a:p>
        </p:txBody>
      </p:sp>
    </p:spTree>
    <p:extLst>
      <p:ext uri="{BB962C8B-B14F-4D97-AF65-F5344CB8AC3E}">
        <p14:creationId xmlns:p14="http://schemas.microsoft.com/office/powerpoint/2010/main" val="684168858"/>
      </p:ext>
    </p:extLst>
  </p:cSld>
</p:sld>
</file>

<file path=ppt/slides/slide2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617A181-11D0-493E-ADF8-D975A5E1E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TALOUDELLINEN MALLI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13471559-FE2D-4A60-92A6-CBAFE2FE00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Taloudellinen malli alkaa todennettavista syötteistä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690784A4-74D4-4C43-A330-307D4E8F6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8FB1AEF-5A2B-4146-BC43-3AA1533F54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6BF464D-D2DE-40F4-B610-AF546869A1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Register;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2F8CB470-B115-446A-80D4-E38B79A206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25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9" cy="3977634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458761"/>
                <a:gridCol w="5869412"/>
                <a:gridCol w="1781786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Syöte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Lähde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Status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Maakohtainen relevantti myynti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Viranomainen / vastapuolen disclosure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Claim-mapped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Asiamiehen tuotedossier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tai vahinko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 / oikeudellinen analyysi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 ja perittävyys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Prosessi- ja vastapuolianalyysi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 ja verot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Budjetti / veroasiantuntija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897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Diskontto ja downside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Puuttuu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73704FC-3446-40C8-9C77-6501881D67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Nykyisestä julkisesta paketista ei voi johtaa pankkikelpoista NPV:tä.</a:t>
            </a:r>
          </a:p>
        </p:txBody>
      </p:sp>
    </p:spTree>
    <p:extLst>
      <p:ext uri="{BB962C8B-B14F-4D97-AF65-F5344CB8AC3E}">
        <p14:creationId xmlns:p14="http://schemas.microsoft.com/office/powerpoint/2010/main" val="1496260648"/>
      </p:ext>
    </p:extLst>
  </p:cSld>
</p:sld>
</file>

<file path=ppt/slides/slide2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A951CFA9-3219-4100-BF1C-88F5A5787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HERKKYYDET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6FD8A17B-457C-4307-B4CF-704C203ACC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486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Herkkyydet on sidottava todellisiin riskeihin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0157A9F6-EBAA-413B-9222-5C01DB94B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F044952A-CD31-4665-B01C-CE8FD7BB3C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68F1D5F2-CE36-4DC5-B364-A906F295E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WIPO valuation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58DE0C37-4707-45F2-B4CD-4797BDE73F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26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536192"/>
          <a:ext xmlns:a="http://schemas.openxmlformats.org/drawingml/2006/main" cx="11109958" cy="397763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0907"/>
                <a:gridCol w="3514375"/>
                <a:gridCol w="2267338"/>
                <a:gridCol w="2267338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Ajuri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Downside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Base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Upside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Oikeusalueet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vahvistettu maa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Priorisoidut maat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Laajempi varmennettu peitto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Claim-osuvuus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Yksi tuote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Validoitu portfolio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Laaja mutta dokumentoitu osuus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 / korvaus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Asiantuntijan alaraja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Vertailuehdot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Vain todennettu yläraja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Ajoitus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Valitus ja pitkä perintä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Sopimuspolku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Upfront-rakenne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707745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Täysi riitelybudjetti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Rajattu pilotti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Vastapuolen kattamat kulut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F9C1D3FC-0566-4951-B864-CB43D8EC0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Taulukkoon ei syötetä prosentteja ennen lähdetodisteita; tämä dia määrittää skenaarioiden rakenteen.</a:t>
            </a:r>
          </a:p>
        </p:txBody>
      </p:sp>
    </p:spTree>
    <p:extLst>
      <p:ext uri="{BB962C8B-B14F-4D97-AF65-F5344CB8AC3E}">
        <p14:creationId xmlns:p14="http://schemas.microsoft.com/office/powerpoint/2010/main" val="2141756443"/>
      </p:ext>
    </p:extLst>
  </p:cSld>
</p:sld>
</file>

<file path=ppt/slides/slide2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00537BE-8A5A-498C-8527-E836D78D12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TUTKIJAN KYSYMYKSET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50404E77-FAEE-4285-9AFA-F36F7964F7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Viisi kysymystä määrittää pankin seuraavan päätöksen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3394C8E6-8207-4A5D-A6E5-8A6399A19C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E24C4BC4-D5CA-4EEB-A6AD-C01FC7969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9DDA60BB-88F3-4E18-9B80-31B1CDBE93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18C74C50-5B76-4248-A0F0-5C55D37DC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27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9" cy="3794757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627175"/>
                <a:gridCol w="4659015"/>
                <a:gridCol w="5823769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#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Kysymys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Vaadittu vastaus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tarkalleen omistetaan ja missä se on voimassa?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Allekirjoitettu oikeusmatriisi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tuote täyttää mitkä vaatimuspiirteet?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Claim chart + riippumaton testi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Mikä on todennettu relevantti myynti?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Tuote–maa–aika-net sales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Mistä ja milloin velanhoitokassa syntyy?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maksut, ennuste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671169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Mitä vakuus realisoi downside-tilanteessa?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arvo + toteutuspolku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B38D22B-2775-440E-9133-DDC3BBA2C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Jos yksikin vastaus jää olennaisesti auki, rahoitus on rakennettava ehdolliseksi ja vaiheistetuksi.</a:t>
            </a:r>
          </a:p>
        </p:txBody>
      </p:sp>
    </p:spTree>
    <p:extLst>
      <p:ext uri="{BB962C8B-B14F-4D97-AF65-F5344CB8AC3E}">
        <p14:creationId xmlns:p14="http://schemas.microsoft.com/office/powerpoint/2010/main" val="150244188"/>
      </p:ext>
    </p:extLst>
  </p:cSld>
</p:sld>
</file>

<file path=ppt/slides/slide2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B6804EAF-DC6B-4490-A6C3-F7A8D081A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AINEISTOPYYNNÖT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7ABEF70A-BB75-4B25-8A37-62EFC000A3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8046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2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Puuttuva aineisto priorisoituu vaikutuksen, ei helppouden mukaan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C2618DF4-BF90-462F-B9F2-7480BA912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554480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3BB3E04B-0A16-4BAC-8FCD-E8830B17C8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D80405B-66AA-4CDB-81EB-EC1FFF6F84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B6660529-DB4E-46BD-B402-E9ECD5518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28</a:t>
            </a:r>
          </a:p>
        </p:txBody>
      </p:sp>
      <p:graphicFrame>
        <p:nvGraphicFramePr>
          <p:cNvPr id="17" name="Table 7"/>
          <p:cNvGraphicFramePr/>
          <p:nvPr/>
        </p:nvGraphicFramePr>
        <p:xfrm>
          <a:off xmlns:a="http://schemas.openxmlformats.org/drawingml/2006/main" x="530352" y="1719072"/>
          <a:ext xmlns:a="http://schemas.openxmlformats.org/drawingml/2006/main" cx="11109958" cy="3794760"/>
        </p:xfrm>
        <a:graphic xmlns:a="http://schemas.openxmlformats.org/drawingml/2006/main"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49306"/>
                <a:gridCol w="4788775"/>
                <a:gridCol w="5171877"/>
              </a:tblGrid>
              <a:tr h="43891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Prioriteetti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Aineisto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sz="1320" b="1">
                          <a:solidFill>
                            <a:srgbClr val="FFFFFF"/>
                          </a:solidFill>
                          <a:latin typeface="Aptos"/>
                          <a:ea typeface="Aptos"/>
                          <a:cs typeface="Aptos"/>
                        </a:rPr>
                        <a:t>Päätösvaikutus</a:t>
                      </a:r>
                    </a:p>
                  </a:txBody>
                  <a:tcPr marL="73152" marR="73152" marT="45720" marB="45720">
                    <a:solidFill>
                      <a:srgbClr val="071A2B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1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Omistus, siirrot, rasitteet, vuosimaksut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Olemassa oleva ja kontrolloitava oikeus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2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Tuotenäytteet, testit ja claim chartit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Tekninen osuvuus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3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Relevantti myynti ja vastapuolidata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Rojaltipohja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4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Sopimukset, saatavat ja maksut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Velanhoitokyky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5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Tilinpäätös, velat, budjetti ja rahoitustarve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Yhtiö- ja luottoriski</a:t>
                      </a:r>
                    </a:p>
                  </a:txBody>
                  <a:tcPr marL="73152" marR="73152" marT="36576" marB="36576">
                    <a:solidFill>
                      <a:srgbClr val="FFFFFF"/>
                    </a:solidFill>
                  </a:tcPr>
                </a:tc>
              </a:tr>
              <a:tr h="55930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6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Riippumaton IP-/yritysarvonmääritys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sz="1320">
                          <a:solidFill>
                            <a:srgbClr val="182935"/>
                          </a:solidFill>
                          <a:latin typeface="Aptos"/>
                          <a:ea typeface="Aptos"/>
                          <a:cs typeface="Aptos"/>
                        </a:rPr>
                        <a:t>Vakuus ja hinta</a:t>
                      </a:r>
                    </a:p>
                  </a:txBody>
                  <a:tcPr marL="73152" marR="73152" marT="36576" marB="36576">
                    <a:solidFill>
                      <a:srgbClr val="F6F9FA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BF41D35D-07B1-41BD-9169-7874C2C61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504" y="5660136"/>
            <a:ext cx="10881360" cy="5029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7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Julkinen paketti näyttää aukot; luottamuksellinen näyttö kuuluu pääsyrajattuun datahuoneeseen.</a:t>
            </a:r>
          </a:p>
        </p:txBody>
      </p:sp>
    </p:spTree>
    <p:extLst>
      <p:ext uri="{BB962C8B-B14F-4D97-AF65-F5344CB8AC3E}">
        <p14:creationId xmlns:p14="http://schemas.microsoft.com/office/powerpoint/2010/main" val="21876972"/>
      </p:ext>
    </p:extLst>
  </p:cSld>
</p:sld>
</file>

<file path=ppt/slides/slide2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32BEB50-9781-4E92-A102-FDE6512A86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292608"/>
            <a:ext cx="3474720" cy="2560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SEURAAVAT VAIHEET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29C0E032-0A24-4E66-9023-8EC8D4FFA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621792"/>
            <a:ext cx="11109960" cy="591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4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Ensimmäisen donorin 90 päivän sulkemissprintti</a:t>
            </a:r>
          </a:p>
        </p:txBody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97DEC208-3AF8-4D73-A5B9-8C48D455E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" y="1225296"/>
            <a:ext cx="960120" cy="5029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57CC6BC8-069C-4CA5-898B-0AC78F6F1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472" y="6519672"/>
            <a:ext cx="11494008" cy="13716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BD8DE"/>
          </a:solidFill>
          <a:ln xmlns:a="http://schemas.openxmlformats.org/drawingml/2006/main">
            <a:solidFill>
              <a:srgbClr val="CBD8DE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D8E025BC-1FE3-45E5-8A90-E11C6D39B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4048" y="6556248"/>
            <a:ext cx="10835640" cy="20269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85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Julkinen riippumaton evidenssikooste · 2026.07.31-37 · 2026-07-31 · Lähteet: Evidence Register; changelog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8F213A4C-5DD2-470D-8A22-619291956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537960"/>
            <a:ext cx="411480" cy="201168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r">
              <a:buNone/>
            </a:pPr>
            <a:r>
              <a:rPr sz="900" b="0">
                <a:solidFill>
                  <a:srgbClr val="5B6B75"/>
                </a:solidFill>
                <a:latin typeface="Aptos"/>
                <a:ea typeface="Aptos"/>
                <a:cs typeface="Aptos"/>
              </a:rPr>
              <a:t>29</a:t>
            </a:r>
          </a:p>
        </p:txBody>
      </p:sp>
      <p:sp>
        <p:nvSpPr>
          <p:cNvPr id="8" name="Rounded Rectangle 7">
            <a:extLst xmlns:a="http://schemas.openxmlformats.org/drawingml/2006/main">
              <a:ext uri="{FF2B5EF4-FFF2-40B4-BE49-F238E27FC236}">
                <a16:creationId xmlns:a16="http://schemas.microsoft.com/office/drawing/2014/main" id="{529EAA2D-CE8F-4B9D-8AE6-36905B72E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627632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3763D05A-79A7-4B73-9557-B03826CA1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1700784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1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A84F591A-F553-4B97-A9C4-2904DD87B4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1609344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0–30 päivää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EE9DDC1A-C368-45EF-B288-F26B9D553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1609344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Uusi-Seelanti: 7.8. ministeriöseuranta ja riippumaton D10-silta; Stats NZ -tullikontrolli ei ole retail-arvo. Kanada: riippumaton POS-/retail-reitti D5/D7/D10:lle; ei uutta StatCan-seurantaa.</a:t>
            </a:r>
          </a:p>
        </p:txBody>
      </p:sp>
      <p:sp>
        <p:nvSpPr>
          <p:cNvPr id="1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8A64578C-4DAB-4DC3-86BA-F36170A0E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06624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2DFA42B3-3E15-41F8-9CFC-003981A0F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2779776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301343B0-BD79-4E62-B01B-374123A8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2688336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31–60 päivää</a:t>
            </a:r>
          </a:p>
        </p:txBody>
      </p:sp>
      <p:sp>
        <p:nvSpPr>
          <p:cNvPr id="15" name="TextBox 14">
            <a:extLst xmlns:a="http://schemas.openxmlformats.org/drawingml/2006/main">
              <a:ext uri="{FF2B5EF4-FFF2-40B4-BE49-F238E27FC236}">
                <a16:creationId xmlns:a16="http://schemas.microsoft.com/office/drawing/2014/main" id="{715E0318-FAE1-4ED6-B167-FA973EC8F2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2688336"/>
            <a:ext cx="7086600" cy="10485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Puola: virallinen 2020–2023 e-nestevirta ja vuoden 2025 laajan höyrystyslaiteryhmän verosilta. E-sähkötupakka-/lämmitin-/monitoimilaitejako, retail-arvo ja varsinainen donor-kandidaatti puuttuvat.</a:t>
            </a:r>
          </a:p>
        </p:txBody>
      </p:sp>
      <p:sp>
        <p:nvSpPr>
          <p:cNvPr id="16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DC04E0C0-41EC-4483-B293-8D4F45FCE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785615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0A4A6"/>
          </a:solidFill>
          <a:ln xmlns:a="http://schemas.openxmlformats.org/drawingml/2006/main">
            <a:solidFill>
              <a:srgbClr val="00A4A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9EE9D9B5-5669-4CB3-B76C-49DD46969C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3858768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A6C6C63E-FADF-419D-BCD4-470D49304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3767328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61–90 päivää</a:t>
            </a:r>
          </a:p>
        </p:txBody>
      </p:sp>
      <p:sp>
        <p:nvSpPr>
          <p:cNvPr id="19" name="TextBox 18">
            <a:extLst xmlns:a="http://schemas.openxmlformats.org/drawingml/2006/main">
              <a:ext uri="{FF2B5EF4-FFF2-40B4-BE49-F238E27FC236}">
                <a16:creationId xmlns:a16="http://schemas.microsoft.com/office/drawing/2014/main" id="{1F618A86-F3D4-4206-950C-34B6610F0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3767328"/>
            <a:ext cx="708660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31.7.: Kanada D5/D7 hylätty, D8 läpäisty, D10 avoin. NZ:n tullivaiheen kontrollin näyttö vahvistui; 7.8. seuranta valmisteltu eikä lähetetty. Puolan laajan ryhmän verosilta ei ole retail-arvo. Euromonitor pausella 0/6, EI PISTEYTETTY; ei ostoa tai maksua.</a:t>
            </a:r>
          </a:p>
        </p:txBody>
      </p:sp>
      <p:sp>
        <p:nvSpPr>
          <p:cNvPr id="20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232AFB5F-0DB0-4703-815C-EEFDE3250F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864608"/>
            <a:ext cx="566928" cy="566928"/>
          </a:xfrm>
          <a:prstGeom xmlns:a="http://schemas.openxmlformats.org/drawingml/2006/main" prst="roundRect">
            <a:avLst>
              <a:gd name="adj" fmla="val 8000"/>
            </a:avLst>
          </a:prstGeom>
          <a:solidFill xmlns:a="http://schemas.openxmlformats.org/drawingml/2006/main">
            <a:srgbClr val="0D5F86"/>
          </a:solidFill>
          <a:ln xmlns:a="http://schemas.openxmlformats.org/drawingml/2006/main">
            <a:solidFill>
              <a:srgbClr val="0D5F8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6B59767F-7352-4E96-994A-EE89BFBF10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4937760"/>
            <a:ext cx="566928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ctr">
              <a:buNone/>
            </a:pPr>
            <a:r>
              <a:rPr sz="1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E740F775-C30B-456A-AE7B-B97CB5299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81328" y="4846320"/>
            <a:ext cx="2743200" cy="31089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800" b="1">
                <a:solidFill>
                  <a:srgbClr val="071A2B"/>
                </a:solidFill>
                <a:latin typeface="Aptos"/>
                <a:ea typeface="Aptos"/>
                <a:cs typeface="Aptos"/>
              </a:rPr>
              <a:t>Päätösportti</a:t>
            </a:r>
          </a:p>
        </p:txBody>
      </p:sp>
      <p:sp>
        <p:nvSpPr>
          <p:cNvPr id="23" name="TextBox 22">
            <a:extLst xmlns:a="http://schemas.openxmlformats.org/drawingml/2006/main">
              <a:ext uri="{FF2B5EF4-FFF2-40B4-BE49-F238E27FC236}">
                <a16:creationId xmlns:a16="http://schemas.microsoft.com/office/drawing/2014/main" id="{C136661A-55FD-4D08-AB78-42EAF23ECF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46320"/>
            <a:ext cx="7086600" cy="960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0">
                <a:solidFill>
                  <a:srgbClr val="182935"/>
                </a:solidFill>
                <a:latin typeface="Aptos"/>
                <a:ea typeface="Aptos"/>
                <a:cs typeface="Aptos"/>
              </a:rPr>
              <a:t>Hyväksy donor vain, jos kaikki kymmenen ehtoa läpäisevät. Muuten 0/3 ja not_computed säilyvät.</a:t>
            </a:r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B37F4114-AE09-4AA0-80AD-CED7EA2E6B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8368" y="5888736"/>
            <a:ext cx="10652760" cy="56083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600" b="1">
                <a:solidFill>
                  <a:srgbClr val="0D5F86"/>
                </a:solidFill>
                <a:latin typeface="Aptos"/>
                <a:ea typeface="Aptos"/>
                <a:cs typeface="Aptos"/>
              </a:rPr>
              <a:t>Päiväpaketti muodostetaan enintään kerran Asia/Nicosia-kalenteripäivässä; dashboard voi päivittyä päivän aikana.</a:t>
            </a:r>
          </a:p>
        </p:txBody>
      </p:sp>
    </p:spTree>
    <p:extLst>
      <p:ext uri="{BB962C8B-B14F-4D97-AF65-F5344CB8AC3E}">
        <p14:creationId xmlns:p14="http://schemas.microsoft.com/office/powerpoint/2010/main" val="751060554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071A2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8DEC2936-9B33-47FE-AA6D-DA96C64DBE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502920"/>
            <a:ext cx="2743200" cy="2743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200" b="1">
                <a:solidFill>
                  <a:srgbClr val="00A4A6"/>
                </a:solidFill>
                <a:latin typeface="Aptos"/>
                <a:ea typeface="Aptos"/>
                <a:cs typeface="Aptos"/>
              </a:rPr>
              <a:t>PÄÄTÖSKEHYS</a:t>
            </a:r>
          </a:p>
        </p:txBody>
      </p:sp>
      <p:sp>
        <p:nvSpPr>
          <p:cNvPr id="3" name="TextBox 2">
            <a:extLst xmlns:a="http://schemas.openxmlformats.org/drawingml/2006/main">
              <a:ext uri="{FF2B5EF4-FFF2-40B4-BE49-F238E27FC236}">
                <a16:creationId xmlns:a16="http://schemas.microsoft.com/office/drawing/2014/main" id="{ACAAC75E-AA3B-4E07-8E5D-8A754CDFC4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6928" y="1005840"/>
            <a:ext cx="10881360" cy="9144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900" b="1">
                <a:solidFill>
                  <a:srgbClr val="FFFFFF"/>
                </a:solidFill>
                <a:latin typeface="Aptos"/>
                <a:ea typeface="Aptos"/>
                <a:cs typeface="Aptos"/>
              </a:rPr>
              <a:t>Pankkikelpoinen tarina on todennusketju — ei suurin mahdollinen markkinaluku</a:t>
            </a:r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3EEFD31-A01C-4B0A-B32A-DED1ED786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" y="2286000"/>
            <a:ext cx="10012680" cy="324612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27432" tIns="18288" rIns="27432" bIns="18288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Vahva lähtökohta: dokumentoitu patenttiydin ja Saksan virallista oikeusnäyttöä.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Ratkaiseva avoin työ: kansalliset oikeudet, claim-mapped sales, kassavirta ja downside-arvo.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Suositus: ehdollinen 90 päivän diligence, selkeät päätösportit ja pääsyrajattu datahuone.</a:t>
            </a:r>
          </a:p>
          <a:p xmlns:a="http://schemas.openxmlformats.org/drawingml/2006/main">
            <a:pPr>
              <a:lnSpc>
                <a:spcPct val="105000"/>
              </a:lnSpc>
              <a:spcAft>
                <a:spcPts val="1200"/>
              </a:spcAft>
              <a:buNone/>
              <a:defRPr sz="1900">
                <a:solidFill>
                  <a:srgbClr val="FFFFFF"/>
                </a:solidFill>
                <a:latin typeface="Aptos"/>
                <a:ea typeface="Aptos"/>
                <a:cs typeface="Aptos"/>
              </a:defRPr>
            </a:pPr>
            <a:r>
              <a:t>•  Tämä julkinen paketti on tarkistettava evidenssikartta, ei Pixan Oy:n virallinen kanta tai rahoitussuositus.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0AAD7B68-DABF-478D-A7C4-73430C86B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" y="6272784"/>
            <a:ext cx="1024128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36576" tIns="36576" rIns="36576" bIns="36576" anchor="t">
            <a:sp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1000" b="0">
                <a:solidFill>
                  <a:srgbClr val="9DB3C0"/>
                </a:solidFill>
                <a:latin typeface="Aptos"/>
                <a:ea typeface="Aptos"/>
                <a:cs typeface="Aptos"/>
              </a:rPr>
              <a:t>Versio 2026.07.31-37 · 2026-07-31 · 30 / 30</a:t>
            </a:r>
          </a:p>
        </p:txBody>
      </p:sp>
    </p:spTree>
    <p:extLst>
      <p:ext uri="{BB962C8B-B14F-4D97-AF65-F5344CB8AC3E}">
        <p14:creationId xmlns:p14="http://schemas.microsoft.com/office/powerpoint/2010/main" val="1274640332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2026-07-31T08:53:14.6550000Z</dcterms:created>
  <dcterms:modified xsi:type="dcterms:W3CDTF">2026-07-31T08:53:14.6550000Z</dcterms:modified>
</coreProperties>
</file>