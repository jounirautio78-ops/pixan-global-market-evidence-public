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fcc0b4db554418" /><Relationship Type="http://schemas.openxmlformats.org/officeDocument/2006/relationships/extended-properties" Target="/docProps/app.xml" Id="Rb1743e0a8f7542e5" /><Relationship Type="http://schemas.openxmlformats.org/officeDocument/2006/relationships/officeDocument" Target="/ppt/presentation.xml" Id="R5a14379984a84a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68e965bad4c12"/>
  </p:sldMasterIdLst>
  <p:notesMasterIdLst>
    <p:notesMasterId xmlns:r="http://schemas.openxmlformats.org/officeDocument/2006/relationships" r:id="Ref716046e1ca4398"/>
  </p:notesMasterIdLst>
  <p:sldIdLst>
    <p:sldId xmlns:r="http://schemas.openxmlformats.org/officeDocument/2006/relationships" id="256" r:id="Rb54505e7561c4a1b"/>
    <p:sldId xmlns:r="http://schemas.openxmlformats.org/officeDocument/2006/relationships" id="257" r:id="R254d8597f79c4b22"/>
    <p:sldId xmlns:r="http://schemas.openxmlformats.org/officeDocument/2006/relationships" id="258" r:id="Re2117c9dd2be424d"/>
    <p:sldId xmlns:r="http://schemas.openxmlformats.org/officeDocument/2006/relationships" id="259" r:id="R6762e036dc8c4098"/>
    <p:sldId xmlns:r="http://schemas.openxmlformats.org/officeDocument/2006/relationships" id="260" r:id="R4f8f7da720984f21"/>
    <p:sldId xmlns:r="http://schemas.openxmlformats.org/officeDocument/2006/relationships" id="261" r:id="R40a4c8d8b8b8481b"/>
    <p:sldId xmlns:r="http://schemas.openxmlformats.org/officeDocument/2006/relationships" id="262" r:id="R5e486d49cd1b4e1f"/>
    <p:sldId xmlns:r="http://schemas.openxmlformats.org/officeDocument/2006/relationships" id="263" r:id="R58e1bb61ea574c9f"/>
    <p:sldId xmlns:r="http://schemas.openxmlformats.org/officeDocument/2006/relationships" id="264" r:id="Rfc67d61b20714628"/>
    <p:sldId xmlns:r="http://schemas.openxmlformats.org/officeDocument/2006/relationships" id="265" r:id="Re6aaa8865ab24a7c"/>
    <p:sldId xmlns:r="http://schemas.openxmlformats.org/officeDocument/2006/relationships" id="266" r:id="R1b320c9d67d24f0a"/>
    <p:sldId xmlns:r="http://schemas.openxmlformats.org/officeDocument/2006/relationships" id="267" r:id="Rc15c49ac4dfe4e7d"/>
    <p:sldId xmlns:r="http://schemas.openxmlformats.org/officeDocument/2006/relationships" id="268" r:id="R53a61cdcfba2476d"/>
    <p:sldId xmlns:r="http://schemas.openxmlformats.org/officeDocument/2006/relationships" id="269" r:id="R5c9a40d4bb234f95"/>
    <p:sldId xmlns:r="http://schemas.openxmlformats.org/officeDocument/2006/relationships" id="270" r:id="R3d83a13bbc774c55"/>
    <p:sldId xmlns:r="http://schemas.openxmlformats.org/officeDocument/2006/relationships" id="271" r:id="R2bca2e5fed17429b"/>
    <p:sldId xmlns:r="http://schemas.openxmlformats.org/officeDocument/2006/relationships" id="272" r:id="Re85f18f6dd2245a0"/>
    <p:sldId xmlns:r="http://schemas.openxmlformats.org/officeDocument/2006/relationships" id="273" r:id="R0a7cfa1cabf14373"/>
    <p:sldId xmlns:r="http://schemas.openxmlformats.org/officeDocument/2006/relationships" id="274" r:id="Rafa66f1c566147df"/>
    <p:sldId xmlns:r="http://schemas.openxmlformats.org/officeDocument/2006/relationships" id="275" r:id="R0ecd4aafca1945a2"/>
    <p:sldId xmlns:r="http://schemas.openxmlformats.org/officeDocument/2006/relationships" id="276" r:id="R6a08d5b2a94b4f1e"/>
    <p:sldId xmlns:r="http://schemas.openxmlformats.org/officeDocument/2006/relationships" id="277" r:id="R024c280db295481f"/>
    <p:sldId xmlns:r="http://schemas.openxmlformats.org/officeDocument/2006/relationships" id="278" r:id="R3e83b33fbadf4e1e"/>
    <p:sldId xmlns:r="http://schemas.openxmlformats.org/officeDocument/2006/relationships" id="279" r:id="R65daa41560b34bd6"/>
    <p:sldId xmlns:r="http://schemas.openxmlformats.org/officeDocument/2006/relationships" id="280" r:id="Rdbcf69b758b643ce"/>
    <p:sldId xmlns:r="http://schemas.openxmlformats.org/officeDocument/2006/relationships" id="281" r:id="Rb684f02a3f5e4f45"/>
    <p:sldId xmlns:r="http://schemas.openxmlformats.org/officeDocument/2006/relationships" id="282" r:id="R90c5eeb808c34790"/>
    <p:sldId xmlns:r="http://schemas.openxmlformats.org/officeDocument/2006/relationships" id="283" r:id="R5f390b6293784585"/>
    <p:sldId xmlns:r="http://schemas.openxmlformats.org/officeDocument/2006/relationships" id="284" r:id="R1553ea5b19704f8e"/>
    <p:sldId xmlns:r="http://schemas.openxmlformats.org/officeDocument/2006/relationships" id="285" r:id="Rf379fc1c220747fe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5c0d29a48449f" /><Relationship Type="http://schemas.openxmlformats.org/officeDocument/2006/relationships/slideMaster" Target="/ppt/slideMasters/slideMaster1.xml" Id="R6c868e965bad4c12" /><Relationship Type="http://schemas.openxmlformats.org/officeDocument/2006/relationships/notesMaster" Target="/ppt/notesMasters/notesMaster1.xml" Id="Ref716046e1ca4398" /><Relationship Type="http://schemas.openxmlformats.org/officeDocument/2006/relationships/presProps" Target="/ppt/presProps.xml" Id="Rb3afd4565afb4c81" /><Relationship Type="http://schemas.openxmlformats.org/officeDocument/2006/relationships/viewProps" Target="/ppt/viewProps.xml" Id="R6679f5bf1bd0487d" /><Relationship Type="http://schemas.openxmlformats.org/officeDocument/2006/relationships/tableStyles" Target="/ppt/tableStyles.xml" Id="R35738fc77e3343ac" /><Relationship Type="http://schemas.openxmlformats.org/officeDocument/2006/relationships/slide" Target="/ppt/slides/slide1.xml" Id="Rb54505e7561c4a1b" /><Relationship Type="http://schemas.openxmlformats.org/officeDocument/2006/relationships/slide" Target="/ppt/slides/slide2.xml" Id="R254d8597f79c4b22" /><Relationship Type="http://schemas.openxmlformats.org/officeDocument/2006/relationships/slide" Target="/ppt/slides/slide3.xml" Id="Re2117c9dd2be424d" /><Relationship Type="http://schemas.openxmlformats.org/officeDocument/2006/relationships/slide" Target="/ppt/slides/slide4.xml" Id="R6762e036dc8c4098" /><Relationship Type="http://schemas.openxmlformats.org/officeDocument/2006/relationships/slide" Target="/ppt/slides/slide5.xml" Id="R4f8f7da720984f21" /><Relationship Type="http://schemas.openxmlformats.org/officeDocument/2006/relationships/slide" Target="/ppt/slides/slide6.xml" Id="R40a4c8d8b8b8481b" /><Relationship Type="http://schemas.openxmlformats.org/officeDocument/2006/relationships/slide" Target="/ppt/slides/slide7.xml" Id="R5e486d49cd1b4e1f" /><Relationship Type="http://schemas.openxmlformats.org/officeDocument/2006/relationships/slide" Target="/ppt/slides/slide8.xml" Id="R58e1bb61ea574c9f" /><Relationship Type="http://schemas.openxmlformats.org/officeDocument/2006/relationships/slide" Target="/ppt/slides/slide9.xml" Id="Rfc67d61b20714628" /><Relationship Type="http://schemas.openxmlformats.org/officeDocument/2006/relationships/slide" Target="/ppt/slides/slide10.xml" Id="Re6aaa8865ab24a7c" /><Relationship Type="http://schemas.openxmlformats.org/officeDocument/2006/relationships/slide" Target="/ppt/slides/slide11.xml" Id="R1b320c9d67d24f0a" /><Relationship Type="http://schemas.openxmlformats.org/officeDocument/2006/relationships/slide" Target="/ppt/slides/slide12.xml" Id="Rc15c49ac4dfe4e7d" /><Relationship Type="http://schemas.openxmlformats.org/officeDocument/2006/relationships/slide" Target="/ppt/slides/slide13.xml" Id="R53a61cdcfba2476d" /><Relationship Type="http://schemas.openxmlformats.org/officeDocument/2006/relationships/slide" Target="/ppt/slides/slide14.xml" Id="R5c9a40d4bb234f95" /><Relationship Type="http://schemas.openxmlformats.org/officeDocument/2006/relationships/slide" Target="/ppt/slides/slide15.xml" Id="R3d83a13bbc774c55" /><Relationship Type="http://schemas.openxmlformats.org/officeDocument/2006/relationships/slide" Target="/ppt/slides/slide16.xml" Id="R2bca2e5fed17429b" /><Relationship Type="http://schemas.openxmlformats.org/officeDocument/2006/relationships/slide" Target="/ppt/slides/slide17.xml" Id="Re85f18f6dd2245a0" /><Relationship Type="http://schemas.openxmlformats.org/officeDocument/2006/relationships/slide" Target="/ppt/slides/slide18.xml" Id="R0a7cfa1cabf14373" /><Relationship Type="http://schemas.openxmlformats.org/officeDocument/2006/relationships/slide" Target="/ppt/slides/slide19.xml" Id="Rafa66f1c566147df" /><Relationship Type="http://schemas.openxmlformats.org/officeDocument/2006/relationships/slide" Target="/ppt/slides/slide20.xml" Id="R0ecd4aafca1945a2" /><Relationship Type="http://schemas.openxmlformats.org/officeDocument/2006/relationships/slide" Target="/ppt/slides/slide21.xml" Id="R6a08d5b2a94b4f1e" /><Relationship Type="http://schemas.openxmlformats.org/officeDocument/2006/relationships/slide" Target="/ppt/slides/slide22.xml" Id="R024c280db295481f" /><Relationship Type="http://schemas.openxmlformats.org/officeDocument/2006/relationships/slide" Target="/ppt/slides/slide23.xml" Id="R3e83b33fbadf4e1e" /><Relationship Type="http://schemas.openxmlformats.org/officeDocument/2006/relationships/slide" Target="/ppt/slides/slide24.xml" Id="R65daa41560b34bd6" /><Relationship Type="http://schemas.openxmlformats.org/officeDocument/2006/relationships/slide" Target="/ppt/slides/slide25.xml" Id="Rdbcf69b758b643ce" /><Relationship Type="http://schemas.openxmlformats.org/officeDocument/2006/relationships/slide" Target="/ppt/slides/slide26.xml" Id="Rb684f02a3f5e4f45" /><Relationship Type="http://schemas.openxmlformats.org/officeDocument/2006/relationships/slide" Target="/ppt/slides/slide27.xml" Id="R90c5eeb808c34790" /><Relationship Type="http://schemas.openxmlformats.org/officeDocument/2006/relationships/slide" Target="/ppt/slides/slide28.xml" Id="R5f390b6293784585" /><Relationship Type="http://schemas.openxmlformats.org/officeDocument/2006/relationships/slide" Target="/ppt/slides/slide29.xml" Id="R1553ea5b19704f8e" /><Relationship Type="http://schemas.openxmlformats.org/officeDocument/2006/relationships/slide" Target="/ppt/slides/slide30.xml" Id="Rf379fc1c220747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16855b8df9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2c7669cf14abe" /><Relationship Type="http://schemas.openxmlformats.org/officeDocument/2006/relationships/notesMaster" Target="/ppt/notesMasters/notesMaster1.xml" Id="Rd44d2c95995247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61317ddc524211" /><Relationship Type="http://schemas.openxmlformats.org/officeDocument/2006/relationships/notesMaster" Target="/ppt/notesMasters/notesMaster1.xml" Id="R2a41cfa346e943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1bf1b87d6848e7" /><Relationship Type="http://schemas.openxmlformats.org/officeDocument/2006/relationships/notesMaster" Target="/ppt/notesMasters/notesMaster1.xml" Id="R5e129cd3429e45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dee6ea7f1a4920" /><Relationship Type="http://schemas.openxmlformats.org/officeDocument/2006/relationships/notesMaster" Target="/ppt/notesMasters/notesMaster1.xml" Id="R90209ab02cf94f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9963479264d6c" /><Relationship Type="http://schemas.openxmlformats.org/officeDocument/2006/relationships/notesMaster" Target="/ppt/notesMasters/notesMaster1.xml" Id="R9e06410863e046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fcf5165b4a4d8f" /><Relationship Type="http://schemas.openxmlformats.org/officeDocument/2006/relationships/notesMaster" Target="/ppt/notesMasters/notesMaster1.xml" Id="Ra8576b420f5b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13c6e8e4bd4817" /><Relationship Type="http://schemas.openxmlformats.org/officeDocument/2006/relationships/notesMaster" Target="/ppt/notesMasters/notesMaster1.xml" Id="R9924ef170e6146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3bcc030b874cd5" /><Relationship Type="http://schemas.openxmlformats.org/officeDocument/2006/relationships/notesMaster" Target="/ppt/notesMasters/notesMaster1.xml" Id="Rad1af149596048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7081b464b04a3a" /><Relationship Type="http://schemas.openxmlformats.org/officeDocument/2006/relationships/notesMaster" Target="/ppt/notesMasters/notesMaster1.xml" Id="R8ab7c107a4fe4e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58bbb9ba2545ad" /><Relationship Type="http://schemas.openxmlformats.org/officeDocument/2006/relationships/notesMaster" Target="/ppt/notesMasters/notesMaster1.xml" Id="R594beb8fae5242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cdfa273284480c" /><Relationship Type="http://schemas.openxmlformats.org/officeDocument/2006/relationships/notesMaster" Target="/ppt/notesMasters/notesMaster1.xml" Id="R55acede1ebc044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1fad540cf44495" /><Relationship Type="http://schemas.openxmlformats.org/officeDocument/2006/relationships/notesMaster" Target="/ppt/notesMasters/notesMaster1.xml" Id="R73cd5adddc844d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c1863a3e39445a" /><Relationship Type="http://schemas.openxmlformats.org/officeDocument/2006/relationships/notesMaster" Target="/ppt/notesMasters/notesMaster1.xml" Id="R7fbdf2945bd042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2a28db29ab4f80" /><Relationship Type="http://schemas.openxmlformats.org/officeDocument/2006/relationships/notesMaster" Target="/ppt/notesMasters/notesMaster1.xml" Id="R465c2476736a49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84798e84e5415b" /><Relationship Type="http://schemas.openxmlformats.org/officeDocument/2006/relationships/notesMaster" Target="/ppt/notesMasters/notesMaster1.xml" Id="Rb43e46321c0a45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c22c0c6d7e4bd2" /><Relationship Type="http://schemas.openxmlformats.org/officeDocument/2006/relationships/notesMaster" Target="/ppt/notesMasters/notesMaster1.xml" Id="R096d271fc0f84a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f0fa9498a5495e" /><Relationship Type="http://schemas.openxmlformats.org/officeDocument/2006/relationships/notesMaster" Target="/ppt/notesMasters/notesMaster1.xml" Id="Rc281b2a808cf40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e8f64e84d04460" /><Relationship Type="http://schemas.openxmlformats.org/officeDocument/2006/relationships/notesMaster" Target="/ppt/notesMasters/notesMaster1.xml" Id="Ra1ba60bd4ac940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c33505270c48bc" /><Relationship Type="http://schemas.openxmlformats.org/officeDocument/2006/relationships/notesMaster" Target="/ppt/notesMasters/notesMaster1.xml" Id="Rbcda317100b74b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8f3a79171a4660" /><Relationship Type="http://schemas.openxmlformats.org/officeDocument/2006/relationships/notesMaster" Target="/ppt/notesMasters/notesMaster1.xml" Id="R9beb1c98eac243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9aaf4b14cd40be" /><Relationship Type="http://schemas.openxmlformats.org/officeDocument/2006/relationships/notesMaster" Target="/ppt/notesMasters/notesMaster1.xml" Id="Rcadf24b9ae8d48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f71a6a404f4f52" /><Relationship Type="http://schemas.openxmlformats.org/officeDocument/2006/relationships/notesMaster" Target="/ppt/notesMasters/notesMaster1.xml" Id="R5a718b31c80542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2f6f38e7e54155" /><Relationship Type="http://schemas.openxmlformats.org/officeDocument/2006/relationships/notesMaster" Target="/ppt/notesMasters/notesMaster1.xml" Id="Rb797484d2e9441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ce4f7d57c144c8" /><Relationship Type="http://schemas.openxmlformats.org/officeDocument/2006/relationships/notesMaster" Target="/ppt/notesMasters/notesMaster1.xml" Id="Rf62c29aff0f34a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5ad0915d4d482d" /><Relationship Type="http://schemas.openxmlformats.org/officeDocument/2006/relationships/notesMaster" Target="/ppt/notesMasters/notesMaster1.xml" Id="R7b6031a4e75544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dc61ccaa3c455e" /><Relationship Type="http://schemas.openxmlformats.org/officeDocument/2006/relationships/notesMaster" Target="/ppt/notesMasters/notesMaster1.xml" Id="R471d85be6fb342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8e8d4646c864fb5" /><Relationship Type="http://schemas.openxmlformats.org/officeDocument/2006/relationships/notesMaster" Target="/ppt/notesMasters/notesMaster1.xml" Id="Rac5354c8698b4f8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4014e33aa442a6" /><Relationship Type="http://schemas.openxmlformats.org/officeDocument/2006/relationships/notesMaster" Target="/ppt/notesMasters/notesMaster1.xml" Id="R4628b43f94cc4b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ff8efcb8bb48ae" /><Relationship Type="http://schemas.openxmlformats.org/officeDocument/2006/relationships/notesMaster" Target="/ppt/notesMasters/notesMaster1.xml" Id="Ra14c06800222425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9f2aa34f2434bc0" /><Relationship Type="http://schemas.openxmlformats.org/officeDocument/2006/relationships/notesMaster" Target="/ppt/notesMasters/notesMaster1.xml" Id="R111a9e62d08740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197bf909840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2ecca821a47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e0365ebb648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c07ce2f254c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65c3a7c3743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698d95da24a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e346ec2b647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bd2a14bc248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6a47cd4404d6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7c553040c442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4a1f2f52f46f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D5732E-8811-45F4-9A51-F934B87DD6C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ED30905-117E-4B97-870D-AB1BBEB877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9F4D75-0FE5-454F-A9A1-BB4D632DBB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F38B71-21E8-4152-8BF9-D9A77D6FFB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8CD800-CCE6-4795-90ED-B0B3E55ABB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AF44F8-9EBE-4E7B-B297-F7210D87D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96DC753-D2EF-40BB-A9B2-1FDE72EB3C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77C753-2094-4EFA-B48E-D6FB93D6C1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1CAF05-6FA7-4696-A005-C58B8D9E39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87B287-FE8E-420D-A015-7E2AAFA5AF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AA18A0-9B19-46FA-A5C2-9F8ED73BF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24AEE4-9C05-4382-996A-0E6FA52C89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51A08A-9FC1-4E49-828D-C505493D9B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F188CD-7E02-4DF3-9153-C2A499638F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A753A-D6FF-4481-8F2E-BBCC00581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839898-F70C-4D7E-9046-4858AB014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BA74B1-DFEC-42E2-A4D9-0B9D067A8F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D963B4F-A4AD-456A-9EDD-EE047930D79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375BD0-7076-4C02-9503-B015C308D0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320FE1C-2028-4FB8-B4C2-369A058C7B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E3B84CE-1F04-4B1D-990D-3284F95450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F190BC-CDE2-4F3C-A5CF-7A58B3FA80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673DA6-936D-4EA1-976C-75CC11E13B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EF3A6A-A5BF-4677-89D8-880A626CAA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C96358-0CCE-432E-B244-B59B8476BAD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A7CAB66-1066-4654-A857-CC6CE603AFB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026BDD6-4723-4C9E-8B4E-1276D6D1EB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87AD2-3CEC-4A1A-B463-1B2DF9F8BF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CBC7484-BADA-4FF9-9C3D-D816E23F3E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13EF12-CCD1-428D-806D-C1E53F11D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930EDB9-6166-4CC6-983B-7B6BEA79A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FA2D682-E5A9-4108-AC37-EEB2D0B8CD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4507650-9CA8-4F5E-8BE4-CFFBE5BAB7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ACD02D9-27F0-4C69-89F1-A490F4F0A3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7A8D94F-DCEB-44C1-9406-E2D3E907B5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40E9249-0448-4364-B3BE-DDAF326232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0CE080-E6CF-436B-BED8-CD9DA0B37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E921A-C78B-4BB0-BCAB-190F7A4BA1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D07256-4BFF-4DEC-8411-197A7D7C6B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030448-2033-4730-A4D6-850FE37FEB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8BF1DF7-68E6-44F6-BAD6-96C4E3E0D0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1144DB2-2293-4693-92EE-DCDBADE00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36EE24-F758-4012-8A43-C54D73576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3503BAF-DD42-4E73-8CB7-5DA93C1DB13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1EE8281-32C3-40DF-9428-609FA9DEE0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43D3AB-DF4E-437D-A939-CE53911A09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11CC24-6358-4487-A086-BB60D87EED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BACAB65-A4A5-4839-8068-BE12250F54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B285C8-AD5C-4517-871A-D23B1DEE35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D9E3C0-C64D-4953-9CA2-581FD83BD6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A0FF64-637A-46D7-B1FD-42B76AB85C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A9EFA3-5AA4-4C18-8E9C-8C0DF8E5A9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CA4F2E-F2BB-4571-867B-047881070C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EFFF9F1-D457-4CA8-A2A4-876B68DA1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737B0A-EDEE-4EB7-A698-9F66936634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024B38-FAAB-4C9F-939D-3A1EAB40F3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7FA5CA-144B-4764-A859-5303ADB554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AF9B3C-035A-49F3-8D02-6A40618B8C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03338a51a4d92" /><Relationship Type="http://schemas.openxmlformats.org/officeDocument/2006/relationships/slideLayout" Target="/ppt/slideLayouts/slideLayout1.xml" Id="R8b77bb85978c47af" /><Relationship Type="http://schemas.openxmlformats.org/officeDocument/2006/relationships/slideLayout" Target="/ppt/slideLayouts/slideLayout2.xml" Id="R04c3515b3740431d" /><Relationship Type="http://schemas.openxmlformats.org/officeDocument/2006/relationships/slideLayout" Target="/ppt/slideLayouts/slideLayout3.xml" Id="Rbd92103754e44936" /><Relationship Type="http://schemas.openxmlformats.org/officeDocument/2006/relationships/slideLayout" Target="/ppt/slideLayouts/slideLayout4.xml" Id="Rfe496dc3cc884d40" /><Relationship Type="http://schemas.openxmlformats.org/officeDocument/2006/relationships/slideLayout" Target="/ppt/slideLayouts/slideLayout5.xml" Id="Rd013e42b20154a7a" /><Relationship Type="http://schemas.openxmlformats.org/officeDocument/2006/relationships/slideLayout" Target="/ppt/slideLayouts/slideLayout6.xml" Id="R418d2f18f8f84701" /><Relationship Type="http://schemas.openxmlformats.org/officeDocument/2006/relationships/slideLayout" Target="/ppt/slideLayouts/slideLayout7.xml" Id="R7ce9c622931f43d5" /><Relationship Type="http://schemas.openxmlformats.org/officeDocument/2006/relationships/slideLayout" Target="/ppt/slideLayouts/slideLayout8.xml" Id="R645f644819ee43e4" /><Relationship Type="http://schemas.openxmlformats.org/officeDocument/2006/relationships/slideLayout" Target="/ppt/slideLayouts/slideLayout9.xml" Id="Rcbf6871d31404f4e" /><Relationship Type="http://schemas.openxmlformats.org/officeDocument/2006/relationships/slideLayout" Target="/ppt/slideLayouts/slideLayout10.xml" Id="R7432d4b812e14203" /><Relationship Type="http://schemas.openxmlformats.org/officeDocument/2006/relationships/slideLayout" Target="/ppt/slideLayouts/slideLayout11.xml" Id="R07265aeea1f842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3936DFF-26F2-4256-98B6-F1CB02139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ED4FEC-709C-4EBF-9EDD-C2AF05EBBA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343F2C-9803-40BE-8349-C981522C0D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4D0271-E3D3-41D3-8182-A3BF78A2F5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F1FB71-9AAA-4943-9AFE-E9E792E1AF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77bb85978c47af"/>
    <p:sldLayoutId xmlns:r="http://schemas.openxmlformats.org/officeDocument/2006/relationships" id="2147483650" r:id="R04c3515b3740431d"/>
    <p:sldLayoutId xmlns:r="http://schemas.openxmlformats.org/officeDocument/2006/relationships" id="2147483651" r:id="Rbd92103754e44936"/>
    <p:sldLayoutId xmlns:r="http://schemas.openxmlformats.org/officeDocument/2006/relationships" id="2147483652" r:id="Rfe496dc3cc884d40"/>
    <p:sldLayoutId xmlns:r="http://schemas.openxmlformats.org/officeDocument/2006/relationships" id="2147483653" r:id="Rd013e42b20154a7a"/>
    <p:sldLayoutId xmlns:r="http://schemas.openxmlformats.org/officeDocument/2006/relationships" id="2147483654" r:id="R418d2f18f8f84701"/>
    <p:sldLayoutId xmlns:r="http://schemas.openxmlformats.org/officeDocument/2006/relationships" id="2147483655" r:id="R7ce9c622931f43d5"/>
    <p:sldLayoutId xmlns:r="http://schemas.openxmlformats.org/officeDocument/2006/relationships" id="2147483656" r:id="R645f644819ee43e4"/>
    <p:sldLayoutId xmlns:r="http://schemas.openxmlformats.org/officeDocument/2006/relationships" id="2147483657" r:id="Rcbf6871d31404f4e"/>
    <p:sldLayoutId xmlns:r="http://schemas.openxmlformats.org/officeDocument/2006/relationships" id="2147483658" r:id="R7432d4b812e14203"/>
    <p:sldLayoutId xmlns:r="http://schemas.openxmlformats.org/officeDocument/2006/relationships" id="2147483659" r:id="R07265aeea1f842e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63fed730d14f91" /><Relationship Type="http://schemas.openxmlformats.org/officeDocument/2006/relationships/notesSlide" Target="/ppt/notesSlides/notesSlide1.xml" Id="Rfb6da6e3a7fe4e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7d40dea8f4470e" /><Relationship Type="http://schemas.openxmlformats.org/officeDocument/2006/relationships/notesSlide" Target="/ppt/notesSlides/notesSlide2.xml" Id="Rdd32fa8a03c74e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5e2069ee79409e" /><Relationship Type="http://schemas.openxmlformats.org/officeDocument/2006/relationships/notesSlide" Target="/ppt/notesSlides/notesSlide3.xml" Id="Rdecc504234d24b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eea6ff84824819" /><Relationship Type="http://schemas.openxmlformats.org/officeDocument/2006/relationships/notesSlide" Target="/ppt/notesSlides/notesSlide4.xml" Id="R47e8f11e582640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9e38b3e10142c1" /><Relationship Type="http://schemas.openxmlformats.org/officeDocument/2006/relationships/notesSlide" Target="/ppt/notesSlides/notesSlide5.xml" Id="R26b43d00c2a34e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a524a443b04273" /><Relationship Type="http://schemas.openxmlformats.org/officeDocument/2006/relationships/notesSlide" Target="/ppt/notesSlides/notesSlide6.xml" Id="Re96b29502a6d46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92202da34c495f" /><Relationship Type="http://schemas.openxmlformats.org/officeDocument/2006/relationships/notesSlide" Target="/ppt/notesSlides/notesSlide7.xml" Id="R2ce955f4e99849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5567a8c2de44de" /><Relationship Type="http://schemas.openxmlformats.org/officeDocument/2006/relationships/notesSlide" Target="/ppt/notesSlides/notesSlide8.xml" Id="R6602c0a0115b4f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f0279bd87c4507" /><Relationship Type="http://schemas.openxmlformats.org/officeDocument/2006/relationships/notesSlide" Target="/ppt/notesSlides/notesSlide9.xml" Id="Ra2a2f33b10ba47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1efb7ad4bc4943" /><Relationship Type="http://schemas.openxmlformats.org/officeDocument/2006/relationships/notesSlide" Target="/ppt/notesSlides/notesSlide10.xml" Id="Rc6e00e85a8b64c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b8f56f9c7e4625" /><Relationship Type="http://schemas.openxmlformats.org/officeDocument/2006/relationships/notesSlide" Target="/ppt/notesSlides/notesSlide11.xml" Id="R6beac12c5aff4d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89fce3a29d467a" /><Relationship Type="http://schemas.openxmlformats.org/officeDocument/2006/relationships/notesSlide" Target="/ppt/notesSlides/notesSlide12.xml" Id="R66e06eb33d484f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6903ee04134961" /><Relationship Type="http://schemas.openxmlformats.org/officeDocument/2006/relationships/notesSlide" Target="/ppt/notesSlides/notesSlide13.xml" Id="Rd1738b7926b24d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4bd6b18e214111" /><Relationship Type="http://schemas.openxmlformats.org/officeDocument/2006/relationships/notesSlide" Target="/ppt/notesSlides/notesSlide14.xml" Id="Redda05b1fb564d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de218cd52249e7" /><Relationship Type="http://schemas.openxmlformats.org/officeDocument/2006/relationships/notesSlide" Target="/ppt/notesSlides/notesSlide15.xml" Id="Re96e3c50d2304c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1c228bf1684858" /><Relationship Type="http://schemas.openxmlformats.org/officeDocument/2006/relationships/notesSlide" Target="/ppt/notesSlides/notesSlide16.xml" Id="Rb2306297903748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514c94387d450f" /><Relationship Type="http://schemas.openxmlformats.org/officeDocument/2006/relationships/notesSlide" Target="/ppt/notesSlides/notesSlide17.xml" Id="R53d1e1a956394b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bf607093164c3a" /><Relationship Type="http://schemas.openxmlformats.org/officeDocument/2006/relationships/notesSlide" Target="/ppt/notesSlides/notesSlide18.xml" Id="R6634a001a9464b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b20a07e29c4bda" /><Relationship Type="http://schemas.openxmlformats.org/officeDocument/2006/relationships/notesSlide" Target="/ppt/notesSlides/notesSlide19.xml" Id="Rf49152875b7f47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51dce3cb774922" /><Relationship Type="http://schemas.openxmlformats.org/officeDocument/2006/relationships/notesSlide" Target="/ppt/notesSlides/notesSlide20.xml" Id="Ra5fd1cb4ea5641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0bd286c8104e80" /><Relationship Type="http://schemas.openxmlformats.org/officeDocument/2006/relationships/notesSlide" Target="/ppt/notesSlides/notesSlide21.xml" Id="R04bc50b63c2648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0e8daf287343e1" /><Relationship Type="http://schemas.openxmlformats.org/officeDocument/2006/relationships/notesSlide" Target="/ppt/notesSlides/notesSlide22.xml" Id="R86e2b3372d1348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a11c9ebb614005" /><Relationship Type="http://schemas.openxmlformats.org/officeDocument/2006/relationships/notesSlide" Target="/ppt/notesSlides/notesSlide23.xml" Id="R37f9c3e4c1654e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3290918feb42c8" /><Relationship Type="http://schemas.openxmlformats.org/officeDocument/2006/relationships/notesSlide" Target="/ppt/notesSlides/notesSlide24.xml" Id="R2b27cb638a0b4c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3b11ca537c4ac2" /><Relationship Type="http://schemas.openxmlformats.org/officeDocument/2006/relationships/notesSlide" Target="/ppt/notesSlides/notesSlide25.xml" Id="R99e4d5e30dc84b2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4e9004b5cf4b0b" /><Relationship Type="http://schemas.openxmlformats.org/officeDocument/2006/relationships/notesSlide" Target="/ppt/notesSlides/notesSlide26.xml" Id="R0d20f14c931540b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35d90953954fe9" /><Relationship Type="http://schemas.openxmlformats.org/officeDocument/2006/relationships/notesSlide" Target="/ppt/notesSlides/notesSlide27.xml" Id="R53e6a802136b423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79f0404efa4fc1" /><Relationship Type="http://schemas.openxmlformats.org/officeDocument/2006/relationships/notesSlide" Target="/ppt/notesSlides/notesSlide28.xml" Id="Re4c444dea3854fd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60ae5306ca496e" /><Relationship Type="http://schemas.openxmlformats.org/officeDocument/2006/relationships/notesSlide" Target="/ppt/notesSlides/notesSlide29.xml" Id="R4204287b518140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b3b930909d4b27" /><Relationship Type="http://schemas.openxmlformats.org/officeDocument/2006/relationships/notesSlide" Target="/ppt/notesSlides/notesSlide30.xml" Id="Rf2b517c598ac4f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41EDAE-4827-4F97-832C-F236F7B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5F0DBC-4695-42DE-9C94-3F5D69B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JULKINEN EVIDENSSIPAKETTI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6E58AA-CA97-4FDE-BCCB-FF9C357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Patentista pankkikelpoiseksi
todistelupaketiksi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9D65F52-7F5C-4C80-BB20-1B7AD3B3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Laaja 30 dian tutkija- ja rahoituspäätöspaketti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989661E-02F9-4809-A479-C43AE73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E37A3D-2315-4B91-9F90-082B0280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Aineiston tila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D100A11-3051-4A0B-88AF-1508695C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15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2026.07.27-29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79B89B-A798-4514-A3AC-216FB3DE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Päivitetty 2026-07-27</a:t>
            </a:r>
            <a:b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30 diaa · suomeksi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8AEDD3C-1391-4494-B5B8-5C19A5C9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Lähtökohta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C33E46-9613-48CB-8C95-1CEC21F9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Vahvistettu näyttö erotetaan tuetusta tiedosta, oletuksista ja puuttuvasta näytöstä.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18DE64-3A6C-4C6F-BFB5-E96B0BD1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Ei Pixan Oy:n virallinen kanta · ei arvo-, sijoitus-, laina- tai oikeudellinen lausunto</a:t>
            </a:r>
          </a:p>
        </p:txBody>
      </p:sp>
    </p:spTree>
    <p:extLst>
      <p:ext uri="{BB962C8B-B14F-4D97-AF65-F5344CB8AC3E}">
        <p14:creationId xmlns:p14="http://schemas.microsoft.com/office/powerpoint/2010/main" val="17471480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790FFD-7726-4FC4-8061-8E8B4CC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RAHOITUSTEESI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5B19D29-C1FB-46A6-9E26-E3CE12D2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Rahoitettavuus on mahdollisuus, ei johtopäätös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71C942B-F098-4736-B44B-2D4E3F70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B4DCB9-7C30-4B3E-9372-753FBA87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98C6CE5-F85E-418E-8FFA-0929382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EPO; Saksa — viralliset tuomiot;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443C61-C3C5-40A9-A438-689CEE4D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E20DAE7-A9B0-4A45-A83C-07EACDB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Viralliset patentti- ja oikeuslähteet oikeuttavat jatkodiligencen; ne eivät vielä osoita vakuusarvoa tai takaisinmaksua.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80AC47-BBC2-4ABD-8C77-9A9DAD06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EPO:n muutettu EP3032975B2 ja Saksan kaksi virallista ratkaisua muodostavat oikeusnäytön ankkurin.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195 maan pohjassa on 578 WB-havaintoa; Puolan 2020–2023 virta ja 2025 verosilta vahvistavat tutkimuspohjaa, mutta eivät avaa 0/3 donor-porttia.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Rahoitusrakenne tarvitsee kansalliset oikeudet, claim-mapped sales -sillan, kassavirran ja riippumattoman arvonmäärityksen.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3BCEF03-79FA-439F-A4C0-187414BE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34D9EC-8B24-4A1F-ACED-3353C3A4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Suositus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DBF9ED7-36E7-4B3B-AF97-E408537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Avaa 90 päivän ehdollinen diligence, ei lopullista luottopäätöstä.</a:t>
            </a:r>
          </a:p>
        </p:txBody>
      </p:sp>
    </p:spTree>
    <p:extLst>
      <p:ext uri="{BB962C8B-B14F-4D97-AF65-F5344CB8AC3E}">
        <p14:creationId xmlns:p14="http://schemas.microsoft.com/office/powerpoint/2010/main" val="17540953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A737747-E67A-47B8-882C-35105E40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RAHOITUSTEESI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98FC41-AB0E-4460-850A-0E28BA7D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Kolme perustetta jatkaa — ja kolme rajaa olla kiirehtimättä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ABA5271-F4E0-490D-AB6C-71CA8827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064DD6-10C0-4AE9-B81A-DE492007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F0FC15-9490-42B1-81AE-B0DC82FF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EPO;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8558D6C-B36A-4CAF-8EBF-E11CE857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71"/>
                <a:gridCol w="4154944"/>
                <a:gridCol w="4154944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Vahva signaali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Mitä se tukee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Mitä se ei todista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EPO:n keskitetty riitautus päättyi patentin pysyttämiseen muutettuna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Dokumentoitu patenttiydin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Kansallinen voimassaolo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Mitätöintikanne hylättiin; valitus vireillä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Pätevyyden kansallinen signaali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Lainvoima tai globaali pätevyys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Tarkasteltujen tuotteiden todettiin loukkaavan patenttia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Tuote- ja claim-kohtainen signaali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Muu tuote, maa tai maksettu korvaus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2B1E21-4B38-4719-BF4F-CCD19291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Pankin tulee hinnoitella vain se osa näytöstä, jonka omistus, toteutettavuus ja kassavirta on vahvistettu.</a:t>
            </a:r>
          </a:p>
        </p:txBody>
      </p:sp>
    </p:spTree>
    <p:extLst>
      <p:ext uri="{BB962C8B-B14F-4D97-AF65-F5344CB8AC3E}">
        <p14:creationId xmlns:p14="http://schemas.microsoft.com/office/powerpoint/2010/main" val="9450717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F287487-EFB5-4F2E-8C0C-EE35A247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ONGELMA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C97C3BC-CE28-45F4-8334-EAE2541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Todennusketju katkeaa ennen kassavirtaa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AC266A-37CF-4409-9FC6-559B4F90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F4CC99-5008-418F-BE8D-296E8A83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4BDB0D-22BC-4E33-8943-6A617C21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Evidence Register;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0CABE4A-1A7B-456B-BB37-79082E73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97BC45-39AB-404B-9574-DECEB4EC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Patentti → voimassa oleva maaoikeus → relevantti tuote → relevantti myynti → sopimus tai tuomio → maksu → velanhoito.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8B09D97-E739-4687-B438-7E4C194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Ketjun alku on osin vahvistettu virallisilla lähteillä.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Tuote- ja myyntikytkentä on vahvistettu vain rajatusti: Saksa, 7 O 3341/24.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Sopimus-, maksu-, yhtiötalous- ja vakuusarvonäyttö puuttuu julkisesta paketista.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F5B67D6-ACDF-4DCB-9702-66BBA17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6F1274-4EEC-4E6C-A55A-F67D8114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Luottoriski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D7C986B-9A6F-4682-8F73-0FE89004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Yksi vahvistamaton lenkki voi muuttaa nimellisen markkina-arvon nollaksi realisoitavassa downside-skenaariossa.</a:t>
            </a:r>
          </a:p>
        </p:txBody>
      </p:sp>
    </p:spTree>
    <p:extLst>
      <p:ext uri="{BB962C8B-B14F-4D97-AF65-F5344CB8AC3E}">
        <p14:creationId xmlns:p14="http://schemas.microsoft.com/office/powerpoint/2010/main" val="8942299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96110B3-0433-46DA-8160-3BC52401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RATKAISU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DEA30A-D56A-46A6-A6C2-DA7177E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Patentoitu ratkaisu ohjaa tehoa resistanssitiedolla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328410-DFF0-4E46-BF7B-31F8CA8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4913818-7533-4EE5-BCF7-42C29EA8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8043F6-2988-43B9-88CE-7EE3768B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C3A9E4D-8372-4151-841B-19B5F83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4C0A406-D602-4912-BBFB-4D86DAA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Julkaistu patenttiselitys koskee sähkökäyttöisen höyrystimen ohjausta mittaamalla lämmityselementin resistanssi, valitsemalla sitä vastaava teho tallennetusta tiedosta ja ohjaamalla lämmittimelle syötettävää tehoa määritellyissä käyttäjäsäädön rajoissa.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96D2E0E-0B69-40A4-B6C4-B727D21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419856"/>
            <a:ext cx="662940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Mittaus: lämmityselementin resistanssi.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Tieto: tallennetut resistanssi–tehoarvot.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Ohjaus: lämmittimelle syötetty teho ja käyttäjäsäädön rajat.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B546E31-2BD0-4800-B625-77A2136E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E35DEF0-69D5-4ECA-9A21-03ECB30A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Tulkintaraja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EA5553-7035-48A9-809D-B7FFF3F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Yleiskielinen kuvaus ei korvaa maakohtaista claim constructionia tai tuotekohtaista vaatimusanalyysiä.</a:t>
            </a:r>
          </a:p>
        </p:txBody>
      </p:sp>
    </p:spTree>
    <p:extLst>
      <p:ext uri="{BB962C8B-B14F-4D97-AF65-F5344CB8AC3E}">
        <p14:creationId xmlns:p14="http://schemas.microsoft.com/office/powerpoint/2010/main" val="13069845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111E48-4706-4943-A1CA-1305E0D7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PATENTTI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D5F008-A690-4833-9115-FA47EB2F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B2-tekstin yhdeksän vaatimusta ovat arvioinnin lähtöpiste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F613D2-3784-4343-830B-5F50EBF3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4B2B140-D019-489C-A513-9144922E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9884CD-C72B-4E67-BAE8-84236A2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B460144-55B0-4B14-AB6C-949CC2C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13"/>
                <a:gridCol w="5852568"/>
                <a:gridCol w="3075078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Elementti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Julkinen kuvaus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Diligence-testi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Ohjain / menetelmä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Sähköisen höyrystimen hallinta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Mikä tuoteversio ja maa?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Resistanssin mittaus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Lämmityselementin resistanssi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Miten ja milloin mitataan?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Tallennetut arvot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Resistanssi–teho-kytkentä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Missä data sijaitsee?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Ei-proportionaalisuus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Tehosuhteen määritelty luonne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Täyttyykö vaatimuspiirre?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Säätörajat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Minimi ja tallennettu maksimi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Miten käyttöliittymä toteuttaa rajat?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C9F11C4-ABB7-4087-B695-6D28D2D4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Jokainen vaatimuspiirre on osoitettava todisteella; ominaisuusluettelo ei yksin riitä.</a:t>
            </a:r>
          </a:p>
        </p:txBody>
      </p:sp>
    </p:spTree>
    <p:extLst>
      <p:ext uri="{BB962C8B-B14F-4D97-AF65-F5344CB8AC3E}">
        <p14:creationId xmlns:p14="http://schemas.microsoft.com/office/powerpoint/2010/main" val="9750739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67C2AB-54B2-4340-AA93-D498379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PATENTTI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6EDC63-55CB-4571-B16B-B5A9BCA0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IP-historian ydintapahtumat ovat jäljitettävissä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D5FB92-5325-4282-8769-82C1B048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964AA3-08E6-4A04-B093-08178CA9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3A8802-D9A2-4B9D-93BB-00E89422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EPO Register; 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6D89DC-9E4E-4541-8698-0DA2C279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6F1E356-18F2-400A-83FF-7BB4455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B31B09D-1C7E-4DA0-89DA-F722E8AE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14.8.2013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086F92E-E086-4997-9010-2EC55F2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varhaisin prioriteetti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079A243-9DBE-4172-8794-F645537B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FCA476-32F8-4343-8503-39B209F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24.4.2024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76D89EF-8E20-4F7C-B6A0-69A1EC9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B2-julkaisu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1C66C2E-27EC-4E60-BB5D-47E58245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6D14658-6862-46E7-9C7A-752DA46E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60D6ACE-9282-4E67-961B-9A9E98B7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muutettua vaatimusta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A77E03B-8E16-4C3C-8F6B-BBB471E7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EPO:n keskitetty väite- ja valitusmenettely päättynyt; kansallinen myöntämisen jälkeinen tila on erillinen.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C9DFADF-2B0B-4143-97C2-B71DECD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C410D19-4F3E-46D2-9281-59AEA7C8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AE47F4-13B0-4089-9982-94BE999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Kansalliset post-grant-oikeudet elävät erillään EPO:n keskusmenettelystä.</a:t>
            </a:r>
          </a:p>
        </p:txBody>
      </p:sp>
    </p:spTree>
    <p:extLst>
      <p:ext uri="{BB962C8B-B14F-4D97-AF65-F5344CB8AC3E}">
        <p14:creationId xmlns:p14="http://schemas.microsoft.com/office/powerpoint/2010/main" val="18055547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96E9D7A-DE29-430C-AE71-39916958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MAANTIETEELLINEN KATTAVUUS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5B5A74-0B8E-4DD7-BF23-D266B38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Patenttiperhe: 22 julkaisua, maapeitto avoin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AA549A-306B-4DC8-B9E7-D0B591B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DF8145-1543-4A8C-9E09-63FBE8F0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4CDFE5C-3021-413B-98E3-843F78E7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EPO family; kansalliset rekisterit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1EC0F7-60D7-425A-A8C3-7500F33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5E02EFF-A284-4A73-89B0-65AAF7F4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81BE157-15A3-4ADB-A314-4984DA87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9024DD-311F-4EF8-91EC-8DBF8BB4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perhejulkaisutietuetta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2DAC95C-7E0A-4006-9F39-29537422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B090AC-E7FF-404D-8AD7-8BBA745F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DEF50EC-D341-4F27-B78B-2E909014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tunnistettua menettelyä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57F6C85-F1A1-4BBF-9FE3-3F328CDB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9B2D9D-682B-46A7-B33E-2E4BB722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0B63377-C6B1-4318-9C85-DB8E89EA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virallista kansallista rekisteritarkistusta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2501EA8-E792-4708-820F-8DF05C0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1EB734-7F19-4BBB-9660-1D5D63AA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B718710-40FF-49D7-B651-53A2293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täytäntöönpanokelpoista maata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12E441C-D58F-46EB-9A69-A6D84E9B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Julkaisureitti on kartta, ei omistus- tai voimassaolotodistus.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2EA7636-65ED-4FB6-AA15-B1229617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FA9446-0A62-4B46-9381-FCD73DDB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CDD91D2-64F1-42FA-855A-162BE2A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Asiamiehen maamatriisin tulee sisältää haltija, operative claims, vuosimaksu, kuitti, rasitteet, UPC-asema ja seuraava määräpäivä.</a:t>
            </a:r>
          </a:p>
        </p:txBody>
      </p:sp>
    </p:spTree>
    <p:extLst>
      <p:ext uri="{BB962C8B-B14F-4D97-AF65-F5344CB8AC3E}">
        <p14:creationId xmlns:p14="http://schemas.microsoft.com/office/powerpoint/2010/main" val="17233785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C9DC092-7929-4C48-8C9E-607999BF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OIKEUDELLINEN NÄYTTÖ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44410D7-BD39-43F0-9300-C905239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Saksan ratkaisut ovat vahvaa näyttöä tarkasti rajatussa kehyksessä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0445390-0C09-473C-955F-2A0A574D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45D3964-35E2-4AB0-8ED9-23574B2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AB0CAB-8F66-4E3D-A0E0-CAA817A3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Viralliset tuomiot: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3414DF-950E-49A5-A013-7F4A726A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604"/>
                <a:gridCol w="3589371"/>
                <a:gridCol w="4443984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Viite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Virallinen tapahtuma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Rajaus ja lopullisuus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6779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8 Ni 18/24 (EP)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Mitätöintikanne hylättiin; valitus vireillä (14.1.2026)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Virallinen tuomio hylkäsi EP3032975B2:n Saksan osaa koskevan mitättömyyskanteen. Virallinen rekisteri mainitsee valituksen liittovaltion ylimpään tuomioistuimeen asianumerolla X ZR 21/26. Ei lainvoimainen BGH-valituksen ollessa vireillä.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6779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7 O 3341/24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Tarkasteltujen tuotteiden todettiin loukkaavan patenttia (2.4.2026)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Virallinen tuomio katsoi tarkasteltujen tuotteiden loukkaavan vaatimuksia 1 ja 6 välittömästi ja täydentävien osien osalta välillisesti sekä määräsi tuomiossa luetellut oikeusseuraamukset. Virallinen tuomio on saatavilla; valitustilaa, lainvoimaisuutta ja täytäntöönpanoa ei ole tässä julkaisussa riippumattomasti vahvistettu.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9DDFE01-A345-440A-8252-9C88B1EC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Saksan näyttö ei automaattisesti siirry toiseen tuotteeseen, vastapuoleen tai valtioon.</a:t>
            </a:r>
          </a:p>
        </p:txBody>
      </p:sp>
    </p:spTree>
    <p:extLst>
      <p:ext uri="{BB962C8B-B14F-4D97-AF65-F5344CB8AC3E}">
        <p14:creationId xmlns:p14="http://schemas.microsoft.com/office/powerpoint/2010/main" val="9379275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516F80-FCB7-469D-97A0-BAC3369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OIKEUDELLINEN NÄYTTÖ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6066576-FF9C-41B0-940D-3179D331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Kiinan asia ei ole loukkausvoitto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9A5DD5-D21C-4C71-A27F-1BB158C3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E12F345-879B-414C-8CAA-9C2E3766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53465E2-F6CC-412D-A9C6-845C9C59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RPX; CNIPA guidance; EPO family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7E6865F-1FDD-4593-861E-78AB2E41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9BB4A9-BE75-4800-80D2-40763ED8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Julkinen sekundäärinen docket-tieto viittaa hylätyn hakemuksen hakijapuolen uudelleentarkastukseen.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9FC6408-1F83-4760-A584-63C95CB9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Menettely luokitellaan review request -asiaksi.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Virallista päätöstä ja tarkkoja perusteluja ei saatu julkiseen pakettiin.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CN105764365B julkaistiin myöhemmin myönnettynä 4.5.2021.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179D85F-EF34-44FF-8E88-4A983A5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F75E5CC-4642-41D4-8176-1E45099E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Käyttöraja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3E7FD9-A8C9-4ECD-8F8C-0A766CF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Asiaa ei saa kuvata Kiinan loukkausoikeudenkäynniksi, vastapuolen mitätöintiasiaksi tai kassavirtanäytöksi.</a:t>
            </a:r>
          </a:p>
        </p:txBody>
      </p:sp>
    </p:spTree>
    <p:extLst>
      <p:ext uri="{BB962C8B-B14F-4D97-AF65-F5344CB8AC3E}">
        <p14:creationId xmlns:p14="http://schemas.microsoft.com/office/powerpoint/2010/main" val="16554583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D24E61-10B8-4004-90C8-ABD317FB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RISKIT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1B180E4-4196-49C6-8C43-1876130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Neljä ajankohtaista IP-hälytystä vaatii dokumentoidun omistajan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2E5F14-A8B6-4B6F-BF8E-BE68C79D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F84BF6A-0C07-46D0-B939-9986258C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0A72E4-A1DB-4399-B80C-E0257068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IP Australia; PRH; EPO; EPO / UPC; USPTO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3FC659A-3B44-43E8-8E70-4DE6CA6D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600"/>
                <a:gridCol w="1932166"/>
                <a:gridCol w="6859192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Maa / alue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Päivä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Toimi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Australia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14.8.2026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Vahvista Australian seuraava uusiminen heti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Suomi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31.8.2026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Suomen 14. vuosimaksu erääntyy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Eurooppa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7.8.2026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Täsmäytä jokainen eurooppalainen kansallinen oikeus ennen maksukierrosta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Yhdysvallat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4.12.2026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Vahvista ja hoida Yhdysvaltain 7,5 vuoden ylläpitomaksu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ECDE656-FAD6-40B3-9158-6266152F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Määräpäivävalvonta on vakuusarvon operatiivinen kontrolli, ei hallinnollinen sivuseikka.</a:t>
            </a:r>
          </a:p>
        </p:txBody>
      </p:sp>
    </p:spTree>
    <p:extLst>
      <p:ext uri="{BB962C8B-B14F-4D97-AF65-F5344CB8AC3E}">
        <p14:creationId xmlns:p14="http://schemas.microsoft.com/office/powerpoint/2010/main" val="2193305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F5E4F24-81E5-45DF-AF41-7FA300AD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MARKKINA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DDA62F-D09A-4947-A0B6-E8876975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195 maan avoin pohja: 578 WB-havaintoa; ei myyntiä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DD5F43-6C0B-4688-AE00-2EFFC4B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A005E7-4B59-4F33-871A-02DFA141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0D1944A-2FC6-4418-8216-06BDB736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UN; Atlas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3B09644-B90B-410D-8F7B-6DE968BF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13C9BC5-F9F7-4736-94CA-9243F1BA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A426A64-75C1-4459-8E3C-A5A35CAA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7C354A-D62C-492E-A60A-DEE4AA8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A-luokan maata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C2CFD1E-C33D-437A-93AD-4B9FA46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156712-BD69-4BB2-BA35-3C93EB2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90A8ED3-2479-4FBC-8B55-73CAE7A8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B-luokan maata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06D9723-7A8C-4A62-877A-8CBF678D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8888454-AD4E-4AB3-A950-555F1DE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501C508-8D44-4E83-A9C7-80B062EB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C-luokan maata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344375F-DF9F-4155-AC06-9D96CA5F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E1FFF11-A438-4A11-980F-2EE12460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34809E8-CC09-4109-B77B-113A9974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D-luokan maata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DF29638-CC92-4C93-ADA9-219DBC2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37 evidenssimerkintää; universumin YK-osuus on 193 jäsenvaltiota.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BD9E785-18E0-4934-9ABF-E21DD69C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CF6C9D-7474-4FD6-A3AC-812BFEF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3FFA31-2650-4EE9-9FE7-C7CC1E56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Luokat A–D kuvaavat evidenssikypsyyttä, eivät markkinan kokoa tai kaupallista houkuttelevuutta.</a:t>
            </a:r>
          </a:p>
        </p:txBody>
      </p:sp>
    </p:spTree>
    <p:extLst>
      <p:ext uri="{BB962C8B-B14F-4D97-AF65-F5344CB8AC3E}">
        <p14:creationId xmlns:p14="http://schemas.microsoft.com/office/powerpoint/2010/main" val="18116920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F29627-6C62-4AE4-8ACA-3A7E2A99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MARKKINA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A7E5C3-1763-4D1B-84E4-B9EF6C29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79983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39 markkinamittaria + 36 Ruotsin FHM-rekisterilukua; lisäksi 195 maan proxy-pohja (ei myyntiä)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3C13448-3401-4800-B2E2-A370AFC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643D527-8B25-4547-88C1-6CD42996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78BF14-2591-4DEF-B642-BC478D8C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World Bank; Statistics Canada; Health Canada; New Zealand Ministry of Health; Destatis; Vero; Sejm; Puolan valtiovarainministeriö; FHM; FTC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2D1132A-4602-4FF3-BDB3-6017B7E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6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944243"/>
                <a:gridCol w="768438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Vuosi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Virallinen havainto / tuettu malli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Kanada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2019–2025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StatsCan retail 2024: 1,219160 mrd CAD (≈822,6 milj. EUR; ECB 2024) / 822,58 milj. EUR; kuukausireitti +1 000 CAD. Kanada 7/10; D5, D7 ja D10 avoimia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Saksa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2023–2025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1,241 milj. l → 1,518 milj. l verotettua nestettä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Suomi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11 801,062 l; 3,54 milj. EUR valmisteveroa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Uusi-Seelanti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2022–2024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tunnistettu AIS/AVP-vaping-summa 274,180 milj. NZD (≈153,3 milj. EUR; ECB 2024); kulutustarvikkeet 189,402 + laitteet/hardware 84,709 + sekajärjestelmät 0,069 milj. NZD. NZ 7/10; D5 hylätty, D8/D10 avoinna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Puola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2020–2023 / 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e-nestevirta 1 451 529 → 805 441 litraa; verosilta 4 382 500 laitteelle + 62 500 osasarjalle. Ei retail-arvoa tai donoria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Yhdysvallat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2015–2021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FTC: suljettujen järjestelmien ja kertakäyttötuotteiden raportoitu myynti 2,763 mrd USD (≈2,336 mrd EUR; ECB 2021) vuonna 2021; valmistajaraportointia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C360E70-CC6E-4784-87E3-E19FF0D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Litroja, toimitusarvoja ja valmisteveroja ei summata yhdeksi markkinaksi.</a:t>
            </a:r>
          </a:p>
        </p:txBody>
      </p:sp>
    </p:spTree>
    <p:extLst>
      <p:ext uri="{BB962C8B-B14F-4D97-AF65-F5344CB8AC3E}">
        <p14:creationId xmlns:p14="http://schemas.microsoft.com/office/powerpoint/2010/main" val="10254719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59995F6-B334-4867-A999-F2C1207A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KANADA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3E8985-1F79-4BEE-9D12-DC03B7D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Kanada 2024: vahva piste-estimaatti, 7/10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6E06D3-7094-4B11-B0EB-15BF049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D6C2031-A414-4428-ADDE-FF61F914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D6FBF2-058A-406A-9DE9-F5DE478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Statistics Canada; Health Canada 2024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BDBC6C-1306-42E5-A9E6-F484E779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D3316EB-FEA9-4916-AEDD-980148CB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010067-29AA-44F5-8A79-EBBA45B7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1,219160 mrd CAD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9046BDA-C457-4B6C-94F4-0DFAF304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kuluttajavähittäismyynti · ≈822,6 milj. EUR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3E5BC5F-C356-4305-80D8-84199B7C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3D1A88-1E09-4DD0-98F8-79C3FBA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1,160754 mrd CAD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BB12E05-1120-47A0-82B5-4DACADE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toimitukset · ≈783,2 milj. EUR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BBF5B33-1A1A-487B-B8B8-7B76BE09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9B169F-9B83-4452-8FED-FD01B619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1 000 CAD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1381EDA-2126-4679-B32A-E8B4A638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kuukausi–kvartaali-ero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B97FA25-7B02-4878-BF5D-64060696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Retail ylittää toimitukset 58,406 milj. CAD (+5,03 %), mutta jäännös ei ole kate tai markkinahaarukka. D8 on suljettu virallisella veroperustalla.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06357BC-3AE8-4127-8129-DE00CEEC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138EDA3-082E-4748-A957-EA8414B0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2AB530A-23CA-4FDC-BAEA-A936BF0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Kanada läpäisee 7/10. D5: NAICS 459993/459999 -peitto. D7: tarkka vuositason virheraja puuttuu. D10: eri tapahtumatasojen silta on täsmäyttämättä.</a:t>
            </a:r>
          </a:p>
        </p:txBody>
      </p:sp>
    </p:spTree>
    <p:extLst>
      <p:ext uri="{BB962C8B-B14F-4D97-AF65-F5344CB8AC3E}">
        <p14:creationId xmlns:p14="http://schemas.microsoft.com/office/powerpoint/2010/main" val="13063867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E08D9E2-BF45-4D09-9C48-E6F88566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SAKSA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C9A3A3-5F00-4EF5-B52F-21DB649F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Saksan virallinen nestemäärä kasvoi, mutta arvo vaatii hintaoletuksen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959ADCB-FD18-48B4-AF68-754A7A0B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35017F-3231-442D-A63F-E6A24384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8846FA-7DF9-46CD-84DE-B2C88F5F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Destatis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F1C5C5-DB9E-42A1-A9A4-6FF7741B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71"/>
                <a:gridCol w="3362224"/>
                <a:gridCol w="3069857"/>
                <a:gridCol w="2631306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Vuosi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Verotettu neste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Valmistevero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Lopullisuus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1,241 milj. 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201 milj. 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Lopullinen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1,284 milj. l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266 milj. EUR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Lopullinen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11186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1,518 milj. 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404 milj. 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Alustava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446475-06F1-45B0-AD4B-ADBB0AAD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Verotettu nestemäärä ei sisällä laitteita, verotonta tai laitonta kauppaa eikä ole retail-arvo.</a:t>
            </a:r>
          </a:p>
        </p:txBody>
      </p:sp>
    </p:spTree>
    <p:extLst>
      <p:ext uri="{BB962C8B-B14F-4D97-AF65-F5344CB8AC3E}">
        <p14:creationId xmlns:p14="http://schemas.microsoft.com/office/powerpoint/2010/main" val="159014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97B490D-7EA4-4AC9-9A76-E944BC3C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MALLINNUS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600DA4-DA80-43EA-A5A8-6A82A8EE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Saksan malli näyttää herkkyyden, ei myyntiä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46A139-6A7E-424B-B757-501A061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4B97AF-EE27-40E5-8F35-143918E7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77BE91D-E934-4880-B3BF-C6A14CC1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Destatis; inTaste.de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E167D97-F430-4AB4-8CBE-611975EA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00F140A-ABCD-4593-A168-4D6657F0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8162B79-D5C6-46D2-ABC8-88BA5001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667,92 milj. EUR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9AA628-6358-4D25-A288-6F4BE0D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0,44 EUR/ml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2466556-EBE3-47C8-A63E-DF11D54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259800C-C5EE-4F00-B48A-82165526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1 199,22 milj. EUR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DE618DD-8103-412F-9C46-4577D024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0,79 EUR/ml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028BAF5-A646-484F-9604-9D00A842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B89A4F7-C3A4-4A11-A4B0-F0EFAC0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1 654,62 milj. EUR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4B6CDD-D4D8-4B0D-89FB-3101587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1,09 EUR/ml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F5A0309-6A38-4029-8248-132AFCB3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Kaava: volume_litres * 1000 * retail_price_eur_per_ml.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A43D2C2-4A28-4D0C-AEDA-C2174286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E17E32-8B3A-4260-A44B-88375AC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307CB0-5280-446D-ADF4-BDE65488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Ei havaittua myyntiä. Laskelma käyttää vuoden 2025 alustavaa verotettua nestemäärää ja kolmea verkkokaupan vuoden 2026 hintaa. Rajattu tuotejakauma ja poikkeava ajankohta pitävät luottamustason matalana.</a:t>
            </a:r>
          </a:p>
        </p:txBody>
      </p:sp>
    </p:spTree>
    <p:extLst>
      <p:ext uri="{BB962C8B-B14F-4D97-AF65-F5344CB8AC3E}">
        <p14:creationId xmlns:p14="http://schemas.microsoft.com/office/powerpoint/2010/main" val="605334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8E9935-E0FA-4F30-88B7-7CB43128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GLOBAALI MARKKINA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626492-B1F4-40F4-A33B-39E52C04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Globaalit arviot ovat ristiintarkistus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5312C9-0345-4F9B-B674-109AC101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2748AC3-5153-44E8-9E55-05971D3D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CC09BD-7253-434B-8C2B-C9DE77B7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IMARC; GVR; Fortune; European Commission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99CB0F5-0A64-47F4-A1EF-6F70A999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C8F256B-37FB-4160-8806-916DEDDF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FB7FB21-DC15-4EFF-AFB9-7170FDBE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26,0 mrd USD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198FA2-DEC4-4F17-ACDD-54CABDE2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IMARC 2025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D69B19F-F690-4332-98B6-973C40B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E8DFD89-324E-4938-A1E4-4F48132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45,7 mrd USD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0B412D-7FF9-436B-97BC-FF142AA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442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GVR 2025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CE4811F-99F4-4CFF-8C98-3E252B60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C06975C-F87C-4850-86AD-C2A38044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46,32 mrd USD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25D564-2586-411D-8112-58E17F29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Fortune 2025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19B6E44-24D4-4AD9-A129-8D3856D3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1719072"/>
            <a:ext cx="2585466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2F30DD6-FD97-45FA-B6D6-342EA160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1883664"/>
            <a:ext cx="225628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38A72"/>
                </a:solidFill>
                <a:latin typeface="Aptos"/>
                <a:ea typeface="Aptos"/>
                <a:cs typeface="Aptos"/>
              </a:rPr>
              <a:t>4,99 mrd EUR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58D9DA5-DA6C-463D-B205-6F433570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438" y="2468879"/>
            <a:ext cx="225628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EU-komission vertailuarvo 2023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6BD054-ACC4-4B80-ADDE-343D7E9C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EU:n vertailuarvo tukee mittaluokan ristiintarkistusta; kaupallinen haarukka on leveä, koska tuoterajaukset ja metodit voivat poiketa.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927CC22-B64D-4289-B201-FB2B4E4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CCB2B5-5C7D-4067-AF56-F5518594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B0F586-61CD-4816-9922-A14035F3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EU-luku perustuu kaupalliseen Euromonitor 2025 -aineistoon; Kypros, Luxemburg ja Malta puuttuvat. Se ei ole kansallinen luovuttajamarkkina. Arvioita verrataan, ei summata tai käytetä automaattisesti rojaltipohjana.</a:t>
            </a:r>
          </a:p>
        </p:txBody>
      </p:sp>
    </p:spTree>
    <p:extLst>
      <p:ext uri="{BB962C8B-B14F-4D97-AF65-F5344CB8AC3E}">
        <p14:creationId xmlns:p14="http://schemas.microsoft.com/office/powerpoint/2010/main" val="8240718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2421355-594A-412B-8762-3ED1432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METODI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455B25-ED80-4C29-8B3B-54497718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Maailmanestimaatti vaatii vähintään 3 donoria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9E17972-84D0-4AD5-97F6-8A8B30F6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C51978-3FCD-4792-A713-0C37F3F9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C1A838E-924F-4531-AD0C-90AB9BD7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Market-values model; Readiness, donorProtocol ja donorCandidates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AD9EF6-CFEB-4E86-89DE-C51B7DC6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240911-C344-45FF-A724-E372EFAB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Uusi-Seelanti 7/10: D5 hylätty, D8 ja D10 avoinna. Kaikki 5 ehdokasta ovat ulkona; donor-portti 0/3.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D93CBA-9033-49DC-A2F6-38BBD738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Uuden-Seelannin tunnistettu AIS/AVP-summa 274,180 milj. NZD (≈153,3 milj. EUR; ECB 2024) jakautuu kulutustarvikkeisiin 189 402 451,96, laitteisiin/hardwareen 84 709 409,85 ja sekajärjestelmiin 68 548,40 NZD.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Viereiset 2 137 085,24 ja ratkaisemattomat 4 367 017,37 NZD rajataan pois. Maa läpäisee 7/10; D5 hylätään sekä D8 ja D10 ovat avoimia.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Erillinen 533,7–731,2 milj. NZD (≈298,5–408,9 milj. EUR; ECB 2024) RPS-herkkyys on tuettu malli, ei havaittu kansallinen arvo. Donor-portti pysyy 0/3:ssa.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1C09F05-EDF6-4A82-8287-DCB7794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35249D-5711-448F-9706-4A26F3FA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Vasta sitten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0ECE6D-F1B3-4E20-9E4B-9C8CFC0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Trianguloi kysyntä-, vero-, tulli-, yritys- ja hintamenetelmät. Vertaa tuloksia; älä lisää vaihtoehtoisia arvioita yhteen.</a:t>
            </a:r>
          </a:p>
        </p:txBody>
      </p:sp>
    </p:spTree>
    <p:extLst>
      <p:ext uri="{BB962C8B-B14F-4D97-AF65-F5344CB8AC3E}">
        <p14:creationId xmlns:p14="http://schemas.microsoft.com/office/powerpoint/2010/main" val="70160598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4A6E74B-4FE2-428D-8754-D16D9CA4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ARVOSILTA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2268CE4-9A86-4A39-90DB-C90088DF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Markkinan ja patentin väliin tarvitaan viisi läpinäkyvää suodatinta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BE2842-2CAE-404B-9257-76327B55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ABD91CB-14D0-4BCD-AACD-D515ED48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B9173EC-5237-4A8D-AF07-627AC945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WIPO valuation;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7701C5-80E2-413B-923A-A9D0CAF0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60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/>
                <a:gridCol w="4217670"/>
                <a:gridCol w="4732020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Taso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Suodatin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Näyttö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1. Kokonaismarkkina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Tuote- ja mittarirajaus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Osittainen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2. Oikeusalue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Voimassa oleva operative claim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 globaalisti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3. Relevantit tuotteet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chart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Rajattu näyttö: Saksa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4. Relevantti myynti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Tuote × maa × aika × net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5. Kassavirta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Rojalti/sovinto − kulut − verot − viive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E80A3EC-A249-4145-AE3E-1F3D63E2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Vain alimman tason kassavirta voi palvella velkaa; ylempi markkina ei sellaisenaan voi.</a:t>
            </a:r>
          </a:p>
        </p:txBody>
      </p:sp>
    </p:spTree>
    <p:extLst>
      <p:ext uri="{BB962C8B-B14F-4D97-AF65-F5344CB8AC3E}">
        <p14:creationId xmlns:p14="http://schemas.microsoft.com/office/powerpoint/2010/main" val="42127293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A2C71C2-F6B6-4922-A143-B4871F7A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ASIAKKAAT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83FF65-FD45-485C-A70D-74D4E0C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Asiakassegmentit ovat vielä hypoteeseja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CF6A97-B0E5-43BA-A5C7-89AEC278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7F0E29-3D90-4CFF-AE46-846BD71C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2513B6D-17AE-457D-8C8B-C11D7D2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WIPO licensing; IP Finance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E80B8D-7683-4B15-BF85-ACF6E85D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46855-A686-4837-8FEE-56477E18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Segmentointi johdetaan kaupallistamisreiteistä: valmistajat, teknologiatoimittajat sekä IP-rahoittajat ja ostajat.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CC838E-8E7F-4FD6-9B5C-F2CC3FE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Valmistajalle arvo voi olla lisenssi, toimintarauha tai sovinto.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Teknologiatoimittajalle arvo voi olla integroitava toiminto tai oikeusasema.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Rahoittajalle arvo on kontrolloitava, realisoitava kassavirta ja downside-suoja.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1EB7AF8-2A6C-41E9-944F-514114ED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57D2D2-9159-431B-92FC-D4D26950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Validointi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800C1DC-A4B0-478D-8182-3FF975D9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Dokumentoi 10–15 haastattelua, päätöskriteerit, vastalauseet, budjetti ja seuraava askel. Julkinen aineisto ei vielä sisällä näitä.</a:t>
            </a:r>
          </a:p>
        </p:txBody>
      </p:sp>
    </p:spTree>
    <p:extLst>
      <p:ext uri="{BB962C8B-B14F-4D97-AF65-F5344CB8AC3E}">
        <p14:creationId xmlns:p14="http://schemas.microsoft.com/office/powerpoint/2010/main" val="31730720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DEC2FB-82E2-41BB-A0A5-82EC9DB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KILPAILU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8D1B41-CA6C-4EC7-A132-A661C62C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Kilpailukartta on rakennettava neljälle rinnakkaiselle tasolle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7D27C4-4600-42D6-9D8B-1CB2970A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7B20D8C-492B-4711-898C-6129C26B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0559EE-F815-4AEC-9D18-90A0EB1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Evidence Register; EPO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E11426-5EC5-4D76-9876-583C09E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452109"/>
                <a:gridCol w="360044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Taso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Analyysi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Tuotos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Tuotteet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Toiminto, arkkitehtuuri, hinta, markkina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Vertailumatriisi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Patentit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Claims, prior art, status, FTO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Patenttilandscape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Kiertoratkaisut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Voiko suorituskyvyn toteuttaa eri tavalla?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Design-around-arvio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Kaupallinen vaihtoehto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Lisenssi, hankinta, oma kehitys, riitely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Buy/build/license/litigate-malli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6DDBBB-08A6-439A-9984-F51579F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Tekninen etu ei ole uskottava ennen kuin vaihtoehdot on kuvattu ja lähteistetty.</a:t>
            </a:r>
          </a:p>
        </p:txBody>
      </p:sp>
    </p:spTree>
    <p:extLst>
      <p:ext uri="{BB962C8B-B14F-4D97-AF65-F5344CB8AC3E}">
        <p14:creationId xmlns:p14="http://schemas.microsoft.com/office/powerpoint/2010/main" val="169453846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D875F50-1410-4579-9E8A-B8C178CE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TEKNINEN VALIDOINTI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D63B06-C325-4421-91D6-05C9F341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Tuotevalidointi tarvitsee katkeamattoman ketjun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AF361E-B613-4A9A-9CD2-E022FBA9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1ADD83-97D8-4D01-A373-FCEC3894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59398A-A096-449A-A760-0A0907A7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EP3032975B2;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2094B5-EDF3-41D0-8A56-FCE4873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18243CD-5E15-49B6-B70E-D4025EE1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F5606A1-4AE9-484A-BF70-816ED7C9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665901-F1EB-4E0E-B080-38DC4161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Näyte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645ACC-D175-4D1D-91F4-F87BA269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Osta oikeasta maasta ja ajankohdasta; dokumentoi myyjä, tuoteversio ja sarjatiedot.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5F00A9-3FA2-4DE6-A61E-D5683F4F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D183BA4-A85F-4B53-92CB-A3D40E78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399C3D-2E2C-4327-AFC7-6FA2A36F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Hallussapitoketju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8139E27-99EE-4BD0-A1BB-2E7B2C5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Tallenna vastaanotto, säilytys, avaaminen, kuvaus ja tiedostojen hashit.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68C326A-AEA4-4CE5-B1D4-91EF3104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73E6D49-75FD-4989-8F3A-33CDF687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AD3C8F-6815-4008-A789-2E6C1FA2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Teardown ja testi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589B171-31BE-4370-9E38-994B8121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Tee riippumaton mittausprotokolla, raakadata ja toistettavuustesti.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94EDE9B-A69D-45F4-8DD9-1DE5BA2A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862CDC4-402A-4A47-B77E-B7681080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C9CF9A-C063-40C9-B1DB-730C6EB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Claim chart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94A63BE-5013-4065-9678-DDDC5088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Mapita jokainen vaatimuspiirre todisteeseen ja asiamiehen johtopäätökseen.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DE5EEA0-CEAF-4AF7-BB0C-82F347A6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Markkinamyynti voidaan kohdistaa vasta, kun tuoteidentiteetti ja claim-kytkentä ovat hallittuja.</a:t>
            </a:r>
          </a:p>
        </p:txBody>
      </p:sp>
    </p:spTree>
    <p:extLst>
      <p:ext uri="{BB962C8B-B14F-4D97-AF65-F5344CB8AC3E}">
        <p14:creationId xmlns:p14="http://schemas.microsoft.com/office/powerpoint/2010/main" val="165905028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D560CD-2BFF-434A-BF84-BC105FE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KAUPALLISTAMINEN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570C7D-DA22-4EEA-A31A-3A8A5F4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Kaupallistaminen aloitetaan kovista porteista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2B31ACE-9DF3-4C7D-A4D1-8B0363EA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20239F-3167-49DD-A8AB-76D9D8A5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4AC295-166E-4CCD-8782-A1DEE05B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WIPO dispute resolution; EPO IPscore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458D5A-B319-463B-BAA8-58939B2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BEB9B07-FC06-49B0-8CE1-4CA8602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02881C0-EA3F-4475-826E-0415F41F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D25A43F-E938-4320-BF86-E9E1AB55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Vahvista oikeus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D4FB11A-1B1A-45AA-B16F-DFA56FF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Ei yhteydenottoa ilman maakohtaista omistusta, voimassaoloa, rasite- ja määräpäivätietoa.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D20F92B-8F0D-43B6-BFC8-D5AADE2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B6A0E47-F0FD-4EE2-86C6-471B7B91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04FED9D-11CE-4658-8B91-D304C761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Vahvista tuote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158956-04FB-470C-AFC2-BB6028DF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Ei väitettä ilman tuotenäytettä, claim chartia ja paikallisen teon dokumentointia.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2EF6279-5AFB-428A-AEFE-D2667CD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B0BFE25-2820-4727-A681-80D51EA4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72666F2-3A00-4423-A505-FF402E4A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Pisteytä kohde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FAF6BAA-316D-49A5-B4A1-F296674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Arvioi myynti, näyttö, vastapuoli, toimivalta, kustannus ja perittävyys.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99408FB-BD4B-4546-8F5B-FACEB33B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02A4B90-E3B1-48AA-BF78-93519CE5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7F8FF75-EFB1-4DDF-A57F-E08BFBB5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Testaa pilotti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DFAACF2-7781-426A-BD59-75EF947F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Neuvottele lisenssi-, sovinto-, luovutus- tai rahoitusvaihtoehdot kontrolloidusti.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647DC4F-310C-4259-B834-5AD82EF7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Yhteydenottokirje ei automaattisesti katkaise vanhentumista tai todista tiedoksiantoa.</a:t>
            </a:r>
          </a:p>
        </p:txBody>
      </p:sp>
    </p:spTree>
    <p:extLst>
      <p:ext uri="{BB962C8B-B14F-4D97-AF65-F5344CB8AC3E}">
        <p14:creationId xmlns:p14="http://schemas.microsoft.com/office/powerpoint/2010/main" val="164703405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0567EB6-36E8-4D1F-952E-2CA4BB15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KAUPALLISTAMINEN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CC8432D-B80E-496C-A512-A5A5D6DD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Kaupallistamisreitit eroavat kassavirran, kontrollin ja riskin suhteen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7CF3E3C-97F3-457F-ACCC-C204E39F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F20999C-D2AF-425C-BE1E-10A76934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F71682-11B2-4D84-94C9-E80AF00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WIPO licensing; IP Finance; TPLF mapping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1F2EC68-B1CC-42BB-A398-D3EC2BED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571"/>
                <a:gridCol w="3995687"/>
                <a:gridCol w="5067701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Reitti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Kassavirta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Keskeinen riski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Lisenssi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Upfront + jatkuva rojalti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Rojaltipohjan auditointi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Sovinto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Kertamaksu / vaiheistus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Ei automaattista ennakkotapausta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Luovutus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Kauppahinta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Luovutetaan tuleva upside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IP-rahoitus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Velka tai revenue share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Vakuusarvo ja kontrollit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Prosessirahoitus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Kuluihin sidottu pääoma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Korkea kustannus ja lopputulosriski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46113C-DD81-4250-B0B1-418EA4FB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Valitse reitti vasta, kun oikeus, vastapuoli, kassavirta ja downside on todennettu.</a:t>
            </a:r>
          </a:p>
        </p:txBody>
      </p:sp>
    </p:spTree>
    <p:extLst>
      <p:ext uri="{BB962C8B-B14F-4D97-AF65-F5344CB8AC3E}">
        <p14:creationId xmlns:p14="http://schemas.microsoft.com/office/powerpoint/2010/main" val="128781736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34F0842-0708-43E9-8C44-B30DD51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TALOUDELLINEN MALLI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2A2941-754B-4260-9453-34A70E2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Taloudellinen malli alkaa todennettavista syötteistä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4FAEA49-4394-49E2-904D-FC2161D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FAD1BC-231D-4803-9FA6-00A2086A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576EA30-3EE8-45E9-AEBB-339D89B2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Evidence Register; WIPO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598166-4044-4EE8-8843-552A79E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536192"/>
          <a:ext xmlns:a="http://schemas.openxmlformats.org/drawingml/2006/main" cx="11109959" cy="397763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8761"/>
                <a:gridCol w="5869412"/>
                <a:gridCol w="1781786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Syöte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Lähde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Maakohtainen relevantti myynti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Viranomainen / vastapuolen disclosure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Claim-mapped osuus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Asiamiehen tuotedossier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Rojalti tai vahinko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Sopimus / oikeudellinen analyysi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Ajoitus ja perittävyys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Prosessi- ja vastapuolianalyysi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Kulut ja verot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Budjetti / veroasiantuntija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Diskontto ja downside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Riippumaton arvonmääritys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58EC89-D656-4A4E-A195-23364865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Nykyisestä julkisesta paketista ei voi johtaa pankkikelpoista NPV:tä.</a:t>
            </a:r>
          </a:p>
        </p:txBody>
      </p:sp>
    </p:spTree>
    <p:extLst>
      <p:ext uri="{BB962C8B-B14F-4D97-AF65-F5344CB8AC3E}">
        <p14:creationId xmlns:p14="http://schemas.microsoft.com/office/powerpoint/2010/main" val="137303986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25A6838-5D4D-4F65-9AD7-02D6C39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HERKKYYDET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FD01D7-7CC9-4CE4-AAD0-90948739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Herkkyydet on sidottava todellisiin riskeihin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9F69DF-3E07-416E-A5F4-662FF98E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E4700B-F81F-49B5-B289-8F65DCDB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AB16F8-0A0E-42AB-A088-6CFCF6A4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WIPO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CFDB13D-F2B2-45D0-9CC9-1A760B2D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536192"/>
          <a:ext xmlns:a="http://schemas.openxmlformats.org/drawingml/2006/main" cx="11109958" cy="397763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907"/>
                <a:gridCol w="3514375"/>
                <a:gridCol w="2267338"/>
                <a:gridCol w="2267338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Ajuri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Downside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Base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Upside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Oikeusalueet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Vain vahvistettu maa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Priorisoidut maat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Laajempi varmennettu peitto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Claim-osuvuus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Yksi tuote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Validoitu portfolio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Laaja mutta dokumentoitu osuus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Rojalti / korvaus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Asiantuntijan alaraja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Vertailuehdot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Vain todennettu yläraja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Ajoitus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Valitus ja pitkä perintä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Sopimuspolku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Upfront-rakenne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7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Kulut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Täysi riitelybudjetti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Rajattu pilotti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Vastapuolen kattamat kulut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10CC996-F6B8-4B0A-9C26-891CCCE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Taulukkoon ei syötetä prosentteja ennen lähdetodisteita; tämä dia määrittää skenaarioiden rakenteen.</a:t>
            </a:r>
          </a:p>
        </p:txBody>
      </p:sp>
    </p:spTree>
    <p:extLst>
      <p:ext uri="{BB962C8B-B14F-4D97-AF65-F5344CB8AC3E}">
        <p14:creationId xmlns:p14="http://schemas.microsoft.com/office/powerpoint/2010/main" val="127605443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3706093-779D-4737-8641-DDC56207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TUTKIJAN KYSYMYKSET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17C456F-7073-4AAB-99A6-211FA2B9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Viisi kysymystä määrittää pankin seuraavan päätöksen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93B8F8-E021-4055-894C-0480B21D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421BC6-AE5E-42F1-B951-7F9FB510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5F5CB7-5EA7-4B3E-AB01-34B2B0EE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E9324E-994B-4DE4-AC72-CE005C54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175"/>
                <a:gridCol w="4659015"/>
                <a:gridCol w="5823769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Kysymys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Vaadittu vastaus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Mitä tarkalleen omistetaan ja missä se on voimassa?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Allekirjoitettu oikeusmatriisi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Mikä tuote täyttää mitkä vaatimuspiirteet?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 chart + riippumaton testi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Mikä on todennettu relevantti myynti?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Tuote–maa–aika-net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Mistä ja milloin velanhoitokassa syntyy?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Sopimukset, maksut, ennuste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Mitä vakuus realisoi downside-tilanteessa?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Riippumaton arvo + toteutuspolku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DF8130-8B27-4ECC-8985-306A8EDD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Jos yksikin vastaus jää olennaisesti auki, rahoitus on rakennettava ehdolliseksi ja vaiheistetuksi.</a:t>
            </a:r>
          </a:p>
        </p:txBody>
      </p:sp>
    </p:spTree>
    <p:extLst>
      <p:ext uri="{BB962C8B-B14F-4D97-AF65-F5344CB8AC3E}">
        <p14:creationId xmlns:p14="http://schemas.microsoft.com/office/powerpoint/2010/main" val="123835511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90F327-1FB4-4570-8B0E-B0AD3F0D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AINEISTOPYYNNÖT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7BE458-AEEC-4C6C-BD06-8E0C9717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Puuttuva aineisto priorisoituu vaikutuksen, ei helppouden mukaan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E34AD76-0319-4F55-8141-A9E6CDD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CB7B0D-465C-4AE7-A488-61BCF6FD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D5EC5C-C52F-456B-BD40-BBF62C74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36CD66D-D8DD-4755-90D2-757DD58B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306"/>
                <a:gridCol w="4788775"/>
                <a:gridCol w="5171877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Prioriteetti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Aineisto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Päätösvaikutus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Omistus, siirrot, rasitteet, vuosimaksut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Olemassa oleva ja kontrolloitava oikeus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Tuotenäytteet, testit ja claim chartit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Tekninen osuvuus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Relevantti myynti ja vastapuolidata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Rojaltipohja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Sopimukset, saatavat ja maksut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Velanhoitokyky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Tilinpäätös, velat, budjetti ja rahoitustarve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Yhtiö- ja luottoriski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Riippumaton IP-/yritysarvonmääritys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Vakuus ja hinta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AB75E0-61EE-4C96-A1D4-0B4AB1F6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Julkinen paketti näyttää aukot; luottamuksellinen näyttö kuuluu pääsyrajattuun datahuoneeseen.</a:t>
            </a:r>
          </a:p>
        </p:txBody>
      </p:sp>
    </p:spTree>
    <p:extLst>
      <p:ext uri="{BB962C8B-B14F-4D97-AF65-F5344CB8AC3E}">
        <p14:creationId xmlns:p14="http://schemas.microsoft.com/office/powerpoint/2010/main" val="45198700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24EF361-7090-4593-BC32-29F91EC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SEURAAVAT VAIHEET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0A10EEE-6018-499F-A35C-B0A9892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Ensimmäisen donorin sulkemissprintti ohjaa seuraavat 90 päivää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913E2EC-995E-4ED2-A110-90FCE989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9D9BC-DBF6-40BF-B52D-01BC267D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0B234A-FC73-461E-89C4-F532AF0B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2026.07.27-29 · 2026-07-27 · Lähteet: Evidence Register; changelog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ACC420-1B8B-47C3-ADF2-D8CE4EF8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CFA18B-DB26-437C-9198-126D9FAF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BA230F-0D08-499B-9327-797D3C52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8647BA5-F740-48C8-A3AC-7B2CE89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0–30 päivää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6CAE961-1E9C-4A91-961F-36C3E40C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Uusi-Seelanti: ministeriön D5/D8-vahvistus ja riippumaton D10-silta. Kanada: StatCanin D5/D7-vahvistus.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957DD69-B922-4285-AFCE-AE36E32E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EF6B4F-8B8B-4B21-AA50-CEA45704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47229A-2632-4F6E-8183-B3F58CC1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31–60 päivää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96A69A-047E-4318-A40C-CC0B78DF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Puola: 2020–2023 virallinen e-nestevirta ja vuoden 2025 laite-/osasarjaverosilta; retail-arvo ja D1–D10-silta puuttuvat.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6C7FAB9-149B-4D68-A3ED-59C26AE9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8FB36A3-E599-4921-8D42-E85D029F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7FE3D7D-0024-477B-86C6-2B22911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61–90 päivää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B8DFDF6-11D4-4E57-A903-1DD528F2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Euromonitor 0/6 pakollista porttia; oikeuksiltaan selvä retail-data vain hyväksytyn näytteen jälkeen.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2B5C15E-8C36-45E8-99DB-9BC0B8E7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44CCC1E-C598-43D3-BF02-92F6529A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3F53656-415E-40B1-80C0-9B2D7D6D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Päätösportti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C519050-F15C-4EDB-8277-5DB6BA9E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Hyväksy donor vain, jos kaikki kymmenen ehtoa läpäisevät. Muuten 0/3 ja not_computed säilyvät.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3356E17-F581-47CF-8CF3-336958AA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Paketti päivitetään samasta julkisesta lähdedatasta jokaisessa sivustojulkaisussa.</a:t>
            </a:r>
          </a:p>
        </p:txBody>
      </p:sp>
    </p:spTree>
    <p:extLst>
      <p:ext uri="{BB962C8B-B14F-4D97-AF65-F5344CB8AC3E}">
        <p14:creationId xmlns:p14="http://schemas.microsoft.com/office/powerpoint/2010/main" val="10345837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BFC22B2-2865-4489-A183-61492D0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PÄÄTÖSKEHYS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26A6F20-0A0A-4EEF-9697-7A5E3BD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Pankkikelpoinen tarina on todennusketju — ei suurin mahdollinen markkinaluku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AAE729D-1EE7-4196-93ED-0A2E7773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Vahva lähtökohta: dokumentoitu patenttiydin ja Saksan virallista oikeusnäyttöä.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Ratkaiseva avoin työ: kansalliset oikeudet, claim-mapped sales, kassavirta ja downside-arvo.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Suositus: ehdollinen 90 päivän diligence, selkeät päätösportit ja pääsyrajattu datahuone.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Tämä julkinen paketti on tarkistettava evidenssikartta, ei Pixan Oy:n virallinen kanta tai rahoitussuositus.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84720F-33EC-4D5E-9514-429E0864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 2026.07.27-29 · 2026-07-27 · 30 / 30</a:t>
            </a:r>
          </a:p>
        </p:txBody>
      </p:sp>
    </p:spTree>
    <p:extLst>
      <p:ext uri="{BB962C8B-B14F-4D97-AF65-F5344CB8AC3E}">
        <p14:creationId xmlns:p14="http://schemas.microsoft.com/office/powerpoint/2010/main" val="131824302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2026-07-27T14:18:27.4880000Z</dcterms:created>
  <dcterms:modified xsi:type="dcterms:W3CDTF">2026-07-27T14:18:27.4880000Z</dcterms:modified>
</coreProperties>
</file>