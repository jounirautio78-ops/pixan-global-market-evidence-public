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Laaja 30 dian tutkija- ja rahoituspäätöspaketti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30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Rahoitettavuus on mahdollisuus, ei nykyinen johtopäätös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EPO:n muutettu EP3032975B2 ja Saksan kaksi virallista ratkaisua muodostavat oikeusnäytön ankkurin.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Markkina-aineisto kattaa 195 maan tutkimusrungon, mutta yhteismitallisia retail-luovuttajia on 0.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Suositus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Avaa 90 päivän ehdollinen diligence, ei lopullista luottopäätöstä.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Kolme perustetta jatkaa — ja kolme rajaa olla kiirehtimättä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EPO;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Vahva signaali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tukee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Mitä se ei todista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Pankin tulee hinnoitella vain se osa näytöstä, jonka omistus, toteutettavuus ja kassavirta on vahvistettu.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ONGELMA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Todennusketju katkeaa tällä hetkellä ennen kassavirtaa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Ketjun alku on osin vahvistettu virallisilla lähteillä.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Tuote- ja myyntikytkentä on vahvistettu vain rajatusti: Saksa, 7 O 3341/24.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Luottoriski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Yksi vahvistamaton lenkki voi muuttaa nimellisen markkina-arvon nollaksi realisoitavassa downside-skenaariossa.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RATKAISU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Patentoitu ratkaisu ohjaa lämmitystehoa resistanssitiedon avulla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6276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50" b="1">
                <a:solidFill>
                  <a:srgbClr val="0D5F86"/>
                </a:solidFill>
                <a:latin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19856"/>
            <a:ext cx="6629400" cy="2478024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Mittaus: lämmityselementin resistanssi.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Tieto: tallennetut resistanssi–tehoarvot.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Yleiskielinen kuvaus ei korvaa maakohtaista claim constructionia tai tuotekohtaista vaatimusanalyysiä.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B2-tekstin yhdeksän vaatimusta ovat arvioinnin lähtöpiste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EP3032975B2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Elementti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Julkinen kuvaus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Diligence-testi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Jokainen vaatimuspiirre on osoitettava todisteella; ominaisuusluettelo ei yksin riitä.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IP-historian ydintapahtumat ovat virallisesti jäljitettävissä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EPO Register; B2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14.8.2013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varhaisin prioriteetti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24.4.2024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B2-julkaisu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muutettua vaatimusta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Kansalliset post-grant-oikeudet elävät erillään EPO:n keskusmenettelystä.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MAANTIETEELLINEN KATTAVUUS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Perhejulkaisuja on 22 — voimassa olevien maiden määrää ei vielä väitetä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EPO family; kansalliset rekisterit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tunnistettua menettelyä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kansallista rekisteritarkistusta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täytäntöönpanokelpoista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Viralliset tuomiot: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Viite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tapahtuma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Rajaus ja 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769363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Saksan näyttö ei automaattisesti siirry toiseen tuotteeseen, vastapuoleen tai valtioon.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OIKEUDELLINEN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Kiinan asia ei ole loukkausvoitto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RPX; CNIPA guidance; EPO family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Menettely luokitellaan review request -asiaksi.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Virallista päätöstä ja tarkkoja perusteluja ei saatu julkiseen pakettiin.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Käyttöraja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Asiaa ei saa kuvata Kiinan loukkausoikeudenkäynniksi, vastapuolen mitätöintiasiaksi tai kassavirtanäytöksi.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IP Australia; PRH; EPO; EPO / UPC; USPTO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 / alue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Päivä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Toimi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Määräpäivävalvonta on vakuusarvon operatiivinen kontrolli, ei hallinnollinen sivuseikka.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Atlas: 195 maata (UN193+VA+PS); tutkimusrunko ei ole markkina-arvo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UN; Atlas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A-luokan maata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71850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6442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36442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B-luokan maata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77940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7940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C-luokan maata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54846" y="1719072"/>
            <a:ext cx="2585466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19438" y="1883664"/>
            <a:ext cx="2256282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138A72"/>
                </a:solidFill>
                <a:latin typeface="Aptos"/>
              </a:rPr>
              <a:t>158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9438" y="2468879"/>
            <a:ext cx="2256282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D-luokan maata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Luokat A–D kuvaavat evidenssikypsyyttä, eivät markkinan kokoa tai kaupallista houkuttelevuutta.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Viralliset havainnot 5 maasta mittaavat eri asioita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Maa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Virallinen havainto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1,16 mrd CAD toimitusarvo; 1 251 843 l nestettä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 / 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805 441 l; 993,1 milj. PLN valmisteveroa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Ruotsi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26 000 l; 80 milj. SEK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Litroja, toimitusarvoja ja valmisteveroja ei summata yhdeksi markkinaksi.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KANADA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Kanada on vahva toimitusmyynnin ankkuri, ei retail-arvon luovuttaja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Health Canada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1,16 mrd CAD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valmistaja-/maahantuojatoimitukset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118,9 milj. yks.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yksikkömäärää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1,252 milj.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raportoitua nestettä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Virallinen koko vuoden toimitusarvo tukku- tai vähittäismyyjille kaikissa neljässä raportoidussa tuoteryhmässä.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Virallinen koko vuoden toimitusarvo tukku- tai vähittäismyyjille kaikissa neljässä raportoidussa tuoteryhmässä. Kyse ei ole kuluttajien vähittäisostoista, ja Health Canada voi tarkistaa tietoa.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SAKSA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Destatis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Vuosi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Verotettu neste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Valmistevero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Lopullisuus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7957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Verotettu nestemäärä ei sisällä laitteita, verotonta tai laitonta kauppaa eikä ole retail-arvo.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MALLINNUS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Saksan mallihaitari näyttää herkkyyden — ei havaittua myyntiä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Destatis; inTaste.de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667,92 milj. 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0,44 EUR/ml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1 199,22 milj. EUR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0,79 EUR/ml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1 654,62 milj. EUR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1,09 EUR/ml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Kaava: volume_litres * 1000 * retail_price_eur_per_ml.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Ei havaittua myyntiä. Laskelma kertoo vuoden 2025 alustavan verotetun nestemäärän kolmella yksittäisellä saksalaisen verkkokaupan vuoden 2026 hinnalla. Vuosiero, yhden kaupan hintakori, tuotejakauma ja pois rajatut tuoteryhmät tekevät luottamustasosta matalan.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GLOBAALI 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Kaupalliset globaaliarviot ovat sanity check, eivät oma estimaatti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IMARC; GVR; Fortune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26,0 mrd USD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IMARC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45,7 mrd 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GVR 2025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46,32 mrd USD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Fortune 2025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Haarukka on leveä, koska tuoterajaukset ja metodit voivat poiketa.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Arvioita verrataan keskenään. Niitä ei summata, eikä haarukkaa käytetä automaattisesti rojaltipohjana.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METODI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Hyväksyttävä maailmanestimaatti tarvitsee vähintään 3 yhteensopivaa luovuttajaa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Market-values modelReadiness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Nykyinen comparable consumer-retail donor count on 0; hard gate ei täyty.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Sama tuoterajaus ja kalenterivuosi.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Kuluttajavähittäisarvo, ei toimitus-, vero- tai volyymiproxy.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Alue- ja sääntelytyyppien peitto sekä suora validointi suurissa talouksissa.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Vasta sitten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ARVOSILTA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WIPO valuation;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60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Suodatin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Vain alimman tason kassavirta voi palvella velkaa; ylempi markkina ei sellaisenaan voi.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ASIAKKAAT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Mahdolliset asiakkaat ovat hypoteeseja, eivät vielä näyttöä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WIPO licensing; IP Finance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0241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0D5F86"/>
                </a:solidFill>
                <a:latin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2816352"/>
            <a:ext cx="6629400" cy="3081527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Valmistajalle arvo voi olla lisenssi, toimintarauha tai sovinto.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Teknologiatoimittajalle arvo voi olla integroitava toiminto tai oikeusasema.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Validointi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KILPAILU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Kilpailukartta on rakennettava neljälle rinnakkaiselle tasolle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Register; EPO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21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Taso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Analyysi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Tuotos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84681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Tekninen etu ei ole uskottava ennen kuin vaihtoehdot on kuvattu ja lähteistetty.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TEKNINEN VALIDOINTI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Tuotevalidointi rakentuu katkeamattomaksi todisteketjuksi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EP3032975B2;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Näyte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Hallussapitoketju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Teardown ja testi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Claim chart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Markkinamyynti voidaan kohdistaa vasta, kun tuoteidentiteetti ja claim-kytkentä ovat hallittuja.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Kaupallistaminen aloitetaan kovista porteista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WIPO dispute resolution; EPO IPscore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oikeus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Vahvista tuote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Pisteytä kohde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Testaa pilotti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Yhteydenottokirje ei automaattisesti katkaise vanhentumista tai todista tiedoksiantoa.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KAUPALLISTAMINEN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WIPO licensing; IP Finance; TPLF mapping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Reitti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Kassavirta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Keskeinen riski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Valitse reitti vasta, kun oikeus, vastapuoli, kassavirta ja downside on todennettu.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TALOUDELLINEN MALLI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Taloudellinen malli alkaa todennettavista syötteistä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Register;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Syöte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Lähde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Status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Nykyisestä julkisesta paketista ei voi johtaa pankkikelpoista NPV:tä.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HERKKYYDET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Herkkyydet on sidottava todellisiin riskeihin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WIPO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Ajuri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Downside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Base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Upside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Taulukkoon ei syötetä prosentteja ennen lähdetodisteita; tämä dia määrittää skenaarioiden rakenteen.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TUTKIJAN KYSYMYKSET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Viisi kysymystä määrittää pankin seuraavan päätöksen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27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9" cy="39776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#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Kysymys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Vaadittu vastaus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Jos yksikin vastaus jää olennaisesti auki, rahoitus on rakennettava ehdolliseksi ja vaiheistetuksi.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AINEISTOPYYNNÖT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Puuttuva aineisto priorisoituu vaikutuksen, ei helppouden mukaan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28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536192"/>
          <a:ext cx="11109958" cy="39776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Prioriteetti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Aineisto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Päätösvaikutus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Julkinen paketti näyttää aukot; luottamuksellinen näyttö kuuluu pääsyrajattuun datahuoneeseen.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SEURAAVAT VAIHEET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90 päivän ohjelma muuttaa aukot päätöskelpoisiksi kontrolleiksi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2026.07.23-13 · 2026-07-22 · Lähteet: Evidence Register; changelog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700784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609344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0–30 päivää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1609344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Oikeusmatriisi, määräpäivät, omistus- ja rasiteselvitys sekä yhtiöaineiston indeksi.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706624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2779776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81328" y="2688336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31–60 päivää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688336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Tuotedossierit, claim chartit, priorisoitu markkinamyynti ja asiakasvalidointi.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" y="3785615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858768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1328" y="3767328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61–90 päivää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0" y="3767328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Kassavirtamalli, riippumaton arvonmääritys, downside ja term sheet -vaihtoehdot.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8368" y="4864608"/>
            <a:ext cx="566928" cy="566928"/>
          </a:xfrm>
          <a:prstGeom prst="roundRect">
            <a:avLst>
              <a:gd name="adj" fmla="val 8000"/>
            </a:avLst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937760"/>
            <a:ext cx="566928" cy="3291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81328" y="4846320"/>
            <a:ext cx="274320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071A2B"/>
                </a:solidFill>
                <a:latin typeface="Aptos"/>
              </a:rPr>
              <a:t>Päätösportti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0" y="4846320"/>
            <a:ext cx="7086600" cy="9601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182935"/>
                </a:solidFill>
                <a:latin typeface="Aptos"/>
              </a:rPr>
              <a:t>Hyväksy, rajaa, vaiheista tai hylkää rahoitus näkyvillä ehdoilla ja stop-kriteereillä.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5888736"/>
            <a:ext cx="10652760" cy="4023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0D5F86"/>
                </a:solidFill>
                <a:latin typeface="Aptos"/>
              </a:rPr>
              <a:t>Paketti päivitetään samasta julkisesta lähdedatasta jokaisessa sivustojulkaisussa.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Vahva lähtökohta: dokumentoitu patenttiydin ja Saksan virallista oikeusnäyttöä.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Ratkaiseva avoin työ: kansalliset oikeudet, claim-mapped sales, kassavirta ja downside-arvo.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Suositus: ehdollinen 90 päivän diligence, selkeät päätösportit ja pääsyrajattu datahuone.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2026.07.23-13 · 2026-07-22 · 30 / 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laaja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