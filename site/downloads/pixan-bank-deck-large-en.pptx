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b2a1546616a404a" /><Relationship Type="http://schemas.openxmlformats.org/officeDocument/2006/relationships/extended-properties" Target="/docProps/app.xml" Id="R2b4db7ce8b4c4c68" /><Relationship Type="http://schemas.openxmlformats.org/officeDocument/2006/relationships/officeDocument" Target="/ppt/presentation.xml" Id="R228d9b4f16604cb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82082346b314b7b"/>
  </p:sldMasterIdLst>
  <p:notesMasterIdLst>
    <p:notesMasterId xmlns:r="http://schemas.openxmlformats.org/officeDocument/2006/relationships" r:id="R24545de0a53a4e03"/>
  </p:notesMasterIdLst>
  <p:sldIdLst>
    <p:sldId xmlns:r="http://schemas.openxmlformats.org/officeDocument/2006/relationships" id="256" r:id="R207b20129a8c43d2"/>
    <p:sldId xmlns:r="http://schemas.openxmlformats.org/officeDocument/2006/relationships" id="257" r:id="R315829a41631465c"/>
    <p:sldId xmlns:r="http://schemas.openxmlformats.org/officeDocument/2006/relationships" id="258" r:id="Rf2130059913641f0"/>
    <p:sldId xmlns:r="http://schemas.openxmlformats.org/officeDocument/2006/relationships" id="259" r:id="Rd5b002fdb99a4dab"/>
    <p:sldId xmlns:r="http://schemas.openxmlformats.org/officeDocument/2006/relationships" id="260" r:id="R4cd964cd4bf045a7"/>
    <p:sldId xmlns:r="http://schemas.openxmlformats.org/officeDocument/2006/relationships" id="261" r:id="R6797980fc6704f7c"/>
    <p:sldId xmlns:r="http://schemas.openxmlformats.org/officeDocument/2006/relationships" id="262" r:id="R35440c5fed654125"/>
    <p:sldId xmlns:r="http://schemas.openxmlformats.org/officeDocument/2006/relationships" id="263" r:id="R24d3187dd81349d0"/>
    <p:sldId xmlns:r="http://schemas.openxmlformats.org/officeDocument/2006/relationships" id="264" r:id="R867af53c74ce46e3"/>
    <p:sldId xmlns:r="http://schemas.openxmlformats.org/officeDocument/2006/relationships" id="265" r:id="R9eba3f880e8b4d7a"/>
    <p:sldId xmlns:r="http://schemas.openxmlformats.org/officeDocument/2006/relationships" id="266" r:id="R7b7d0cbc0543441d"/>
    <p:sldId xmlns:r="http://schemas.openxmlformats.org/officeDocument/2006/relationships" id="267" r:id="Rb60240a6144e4dc9"/>
    <p:sldId xmlns:r="http://schemas.openxmlformats.org/officeDocument/2006/relationships" id="268" r:id="R766796d8a42b4d62"/>
    <p:sldId xmlns:r="http://schemas.openxmlformats.org/officeDocument/2006/relationships" id="269" r:id="R3c9aa9c029514edd"/>
    <p:sldId xmlns:r="http://schemas.openxmlformats.org/officeDocument/2006/relationships" id="270" r:id="Rcf45afafddcb4a06"/>
    <p:sldId xmlns:r="http://schemas.openxmlformats.org/officeDocument/2006/relationships" id="271" r:id="R61939db307914f1e"/>
    <p:sldId xmlns:r="http://schemas.openxmlformats.org/officeDocument/2006/relationships" id="272" r:id="Rc33cc161a13b4ae8"/>
    <p:sldId xmlns:r="http://schemas.openxmlformats.org/officeDocument/2006/relationships" id="273" r:id="R59c904518397448a"/>
    <p:sldId xmlns:r="http://schemas.openxmlformats.org/officeDocument/2006/relationships" id="274" r:id="Rc38d4e9f751e4c8e"/>
    <p:sldId xmlns:r="http://schemas.openxmlformats.org/officeDocument/2006/relationships" id="275" r:id="Re12176d4d6b1495b"/>
    <p:sldId xmlns:r="http://schemas.openxmlformats.org/officeDocument/2006/relationships" id="276" r:id="Rb6e5280717b34056"/>
    <p:sldId xmlns:r="http://schemas.openxmlformats.org/officeDocument/2006/relationships" id="277" r:id="Rb39c2564657f4068"/>
    <p:sldId xmlns:r="http://schemas.openxmlformats.org/officeDocument/2006/relationships" id="278" r:id="Rf324ed9da6094e75"/>
    <p:sldId xmlns:r="http://schemas.openxmlformats.org/officeDocument/2006/relationships" id="279" r:id="R838c782df93f4992"/>
    <p:sldId xmlns:r="http://schemas.openxmlformats.org/officeDocument/2006/relationships" id="280" r:id="R0e1a061f3e274120"/>
    <p:sldId xmlns:r="http://schemas.openxmlformats.org/officeDocument/2006/relationships" id="281" r:id="R6aa954a19da144c1"/>
    <p:sldId xmlns:r="http://schemas.openxmlformats.org/officeDocument/2006/relationships" id="282" r:id="R1f036369471b42ff"/>
    <p:sldId xmlns:r="http://schemas.openxmlformats.org/officeDocument/2006/relationships" id="283" r:id="Rbfd41a9801184b3a"/>
    <p:sldId xmlns:r="http://schemas.openxmlformats.org/officeDocument/2006/relationships" id="284" r:id="R19745b5b2f8b444e"/>
    <p:sldId xmlns:r="http://schemas.openxmlformats.org/officeDocument/2006/relationships" id="285" r:id="R0e0fa215f4214e0f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705e0d21bf3440f" /><Relationship Type="http://schemas.openxmlformats.org/officeDocument/2006/relationships/slideMaster" Target="/ppt/slideMasters/slideMaster1.xml" Id="Rc82082346b314b7b" /><Relationship Type="http://schemas.openxmlformats.org/officeDocument/2006/relationships/notesMaster" Target="/ppt/notesMasters/notesMaster1.xml" Id="R24545de0a53a4e03" /><Relationship Type="http://schemas.openxmlformats.org/officeDocument/2006/relationships/presProps" Target="/ppt/presProps.xml" Id="R3dad2776bf6d4007" /><Relationship Type="http://schemas.openxmlformats.org/officeDocument/2006/relationships/viewProps" Target="/ppt/viewProps.xml" Id="R8357e646d30a4fce" /><Relationship Type="http://schemas.openxmlformats.org/officeDocument/2006/relationships/tableStyles" Target="/ppt/tableStyles.xml" Id="R080805f7ca174f94" /><Relationship Type="http://schemas.openxmlformats.org/officeDocument/2006/relationships/slide" Target="/ppt/slides/slide1.xml" Id="R207b20129a8c43d2" /><Relationship Type="http://schemas.openxmlformats.org/officeDocument/2006/relationships/slide" Target="/ppt/slides/slide2.xml" Id="R315829a41631465c" /><Relationship Type="http://schemas.openxmlformats.org/officeDocument/2006/relationships/slide" Target="/ppt/slides/slide3.xml" Id="Rf2130059913641f0" /><Relationship Type="http://schemas.openxmlformats.org/officeDocument/2006/relationships/slide" Target="/ppt/slides/slide4.xml" Id="Rd5b002fdb99a4dab" /><Relationship Type="http://schemas.openxmlformats.org/officeDocument/2006/relationships/slide" Target="/ppt/slides/slide5.xml" Id="R4cd964cd4bf045a7" /><Relationship Type="http://schemas.openxmlformats.org/officeDocument/2006/relationships/slide" Target="/ppt/slides/slide6.xml" Id="R6797980fc6704f7c" /><Relationship Type="http://schemas.openxmlformats.org/officeDocument/2006/relationships/slide" Target="/ppt/slides/slide7.xml" Id="R35440c5fed654125" /><Relationship Type="http://schemas.openxmlformats.org/officeDocument/2006/relationships/slide" Target="/ppt/slides/slide8.xml" Id="R24d3187dd81349d0" /><Relationship Type="http://schemas.openxmlformats.org/officeDocument/2006/relationships/slide" Target="/ppt/slides/slide9.xml" Id="R867af53c74ce46e3" /><Relationship Type="http://schemas.openxmlformats.org/officeDocument/2006/relationships/slide" Target="/ppt/slides/slide10.xml" Id="R9eba3f880e8b4d7a" /><Relationship Type="http://schemas.openxmlformats.org/officeDocument/2006/relationships/slide" Target="/ppt/slides/slide11.xml" Id="R7b7d0cbc0543441d" /><Relationship Type="http://schemas.openxmlformats.org/officeDocument/2006/relationships/slide" Target="/ppt/slides/slide12.xml" Id="Rb60240a6144e4dc9" /><Relationship Type="http://schemas.openxmlformats.org/officeDocument/2006/relationships/slide" Target="/ppt/slides/slide13.xml" Id="R766796d8a42b4d62" /><Relationship Type="http://schemas.openxmlformats.org/officeDocument/2006/relationships/slide" Target="/ppt/slides/slide14.xml" Id="R3c9aa9c029514edd" /><Relationship Type="http://schemas.openxmlformats.org/officeDocument/2006/relationships/slide" Target="/ppt/slides/slide15.xml" Id="Rcf45afafddcb4a06" /><Relationship Type="http://schemas.openxmlformats.org/officeDocument/2006/relationships/slide" Target="/ppt/slides/slide16.xml" Id="R61939db307914f1e" /><Relationship Type="http://schemas.openxmlformats.org/officeDocument/2006/relationships/slide" Target="/ppt/slides/slide17.xml" Id="Rc33cc161a13b4ae8" /><Relationship Type="http://schemas.openxmlformats.org/officeDocument/2006/relationships/slide" Target="/ppt/slides/slide18.xml" Id="R59c904518397448a" /><Relationship Type="http://schemas.openxmlformats.org/officeDocument/2006/relationships/slide" Target="/ppt/slides/slide19.xml" Id="Rc38d4e9f751e4c8e" /><Relationship Type="http://schemas.openxmlformats.org/officeDocument/2006/relationships/slide" Target="/ppt/slides/slide20.xml" Id="Re12176d4d6b1495b" /><Relationship Type="http://schemas.openxmlformats.org/officeDocument/2006/relationships/slide" Target="/ppt/slides/slide21.xml" Id="Rb6e5280717b34056" /><Relationship Type="http://schemas.openxmlformats.org/officeDocument/2006/relationships/slide" Target="/ppt/slides/slide22.xml" Id="Rb39c2564657f4068" /><Relationship Type="http://schemas.openxmlformats.org/officeDocument/2006/relationships/slide" Target="/ppt/slides/slide23.xml" Id="Rf324ed9da6094e75" /><Relationship Type="http://schemas.openxmlformats.org/officeDocument/2006/relationships/slide" Target="/ppt/slides/slide24.xml" Id="R838c782df93f4992" /><Relationship Type="http://schemas.openxmlformats.org/officeDocument/2006/relationships/slide" Target="/ppt/slides/slide25.xml" Id="R0e1a061f3e274120" /><Relationship Type="http://schemas.openxmlformats.org/officeDocument/2006/relationships/slide" Target="/ppt/slides/slide26.xml" Id="R6aa954a19da144c1" /><Relationship Type="http://schemas.openxmlformats.org/officeDocument/2006/relationships/slide" Target="/ppt/slides/slide27.xml" Id="R1f036369471b42ff" /><Relationship Type="http://schemas.openxmlformats.org/officeDocument/2006/relationships/slide" Target="/ppt/slides/slide28.xml" Id="Rbfd41a9801184b3a" /><Relationship Type="http://schemas.openxmlformats.org/officeDocument/2006/relationships/slide" Target="/ppt/slides/slide29.xml" Id="R19745b5b2f8b444e" /><Relationship Type="http://schemas.openxmlformats.org/officeDocument/2006/relationships/slide" Target="/ppt/slides/slide30.xml" Id="R0e0fa215f4214e0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e5227af4f9e459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2c615e94b34a44ce" /><Relationship Type="http://schemas.openxmlformats.org/officeDocument/2006/relationships/notesMaster" Target="/ppt/notesMasters/notesMaster1.xml" Id="Re6fb334c8ef54c9d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831733705994f82" /><Relationship Type="http://schemas.openxmlformats.org/officeDocument/2006/relationships/notesMaster" Target="/ppt/notesMasters/notesMaster1.xml" Id="R9e3fcac56a1e4e3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4bbac62e0d646f9" /><Relationship Type="http://schemas.openxmlformats.org/officeDocument/2006/relationships/notesMaster" Target="/ppt/notesMasters/notesMaster1.xml" Id="R2a12b487bf344fb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3fbc636cdd1493f" /><Relationship Type="http://schemas.openxmlformats.org/officeDocument/2006/relationships/notesMaster" Target="/ppt/notesMasters/notesMaster1.xml" Id="R4744f583d05d45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48b2a3426804cf4" /><Relationship Type="http://schemas.openxmlformats.org/officeDocument/2006/relationships/notesMaster" Target="/ppt/notesMasters/notesMaster1.xml" Id="R7ca44d85da3b436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fc83792cecb64fef" /><Relationship Type="http://schemas.openxmlformats.org/officeDocument/2006/relationships/notesMaster" Target="/ppt/notesMasters/notesMaster1.xml" Id="R235ab2e57a5c446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25f4c946974ecb" /><Relationship Type="http://schemas.openxmlformats.org/officeDocument/2006/relationships/notesMaster" Target="/ppt/notesMasters/notesMaster1.xml" Id="R0926b604dc7c4d8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a11ce127d524538" /><Relationship Type="http://schemas.openxmlformats.org/officeDocument/2006/relationships/notesMaster" Target="/ppt/notesMasters/notesMaster1.xml" Id="R040893fc7ba8486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922179c9d134fe2" /><Relationship Type="http://schemas.openxmlformats.org/officeDocument/2006/relationships/notesMaster" Target="/ppt/notesMasters/notesMaster1.xml" Id="Rb9ec9ecda9c74f6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2dc00dec11f46b6" /><Relationship Type="http://schemas.openxmlformats.org/officeDocument/2006/relationships/notesMaster" Target="/ppt/notesMasters/notesMaster1.xml" Id="R31e9077052d2497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6ebbc791bde54787" /><Relationship Type="http://schemas.openxmlformats.org/officeDocument/2006/relationships/notesMaster" Target="/ppt/notesMasters/notesMaster1.xml" Id="R29d257d30f5543e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2c1d0c08d2490e" /><Relationship Type="http://schemas.openxmlformats.org/officeDocument/2006/relationships/notesMaster" Target="/ppt/notesMasters/notesMaster1.xml" Id="R93ded3d1e3864dce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1fd0cff1a5e34d47" /><Relationship Type="http://schemas.openxmlformats.org/officeDocument/2006/relationships/notesMaster" Target="/ppt/notesMasters/notesMaster1.xml" Id="Re6d34a025b97441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ecedd12ad9f4727" /><Relationship Type="http://schemas.openxmlformats.org/officeDocument/2006/relationships/notesMaster" Target="/ppt/notesMasters/notesMaster1.xml" Id="R32f2165cb6aa425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9afe4eb687044a7" /><Relationship Type="http://schemas.openxmlformats.org/officeDocument/2006/relationships/notesMaster" Target="/ppt/notesMasters/notesMaster1.xml" Id="Rfe8eae6f43de437b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388a18c2fba34ee3" /><Relationship Type="http://schemas.openxmlformats.org/officeDocument/2006/relationships/notesMaster" Target="/ppt/notesMasters/notesMaster1.xml" Id="R3d6ce82997b04a7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f8985aac06c44ad3" /><Relationship Type="http://schemas.openxmlformats.org/officeDocument/2006/relationships/notesMaster" Target="/ppt/notesMasters/notesMaster1.xml" Id="R58fb821f85b64581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5a25c27f14d648d7" /><Relationship Type="http://schemas.openxmlformats.org/officeDocument/2006/relationships/notesMaster" Target="/ppt/notesMasters/notesMaster1.xml" Id="R6affe39fcef54d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604fa59fd1c4d72" /><Relationship Type="http://schemas.openxmlformats.org/officeDocument/2006/relationships/notesMaster" Target="/ppt/notesMasters/notesMaster1.xml" Id="R71301f731d32486c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81e9d38ef51b4065" /><Relationship Type="http://schemas.openxmlformats.org/officeDocument/2006/relationships/notesMaster" Target="/ppt/notesMasters/notesMaster1.xml" Id="R832790c4d39e4ce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e5b7232410d4f64" /><Relationship Type="http://schemas.openxmlformats.org/officeDocument/2006/relationships/notesMaster" Target="/ppt/notesMasters/notesMaster1.xml" Id="R72cc56cf21f14d36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c9846e1685f4fa2" /><Relationship Type="http://schemas.openxmlformats.org/officeDocument/2006/relationships/notesMaster" Target="/ppt/notesMasters/notesMaster1.xml" Id="R8081c09afe0a4e5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2bb9dcfa58d14b44" /><Relationship Type="http://schemas.openxmlformats.org/officeDocument/2006/relationships/notesMaster" Target="/ppt/notesMasters/notesMaster1.xml" Id="R76db0677ea8348c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8eb7756131bb4ee3" /><Relationship Type="http://schemas.openxmlformats.org/officeDocument/2006/relationships/notesMaster" Target="/ppt/notesMasters/notesMaster1.xml" Id="Ra4ab3aa473984b9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01c5b06d59147b1" /><Relationship Type="http://schemas.openxmlformats.org/officeDocument/2006/relationships/notesMaster" Target="/ppt/notesMasters/notesMaster1.xml" Id="R5c016224be59440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d1c0657f1594048" /><Relationship Type="http://schemas.openxmlformats.org/officeDocument/2006/relationships/notesMaster" Target="/ppt/notesMasters/notesMaster1.xml" Id="Re6cef5823623453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6404f9ee1bdf41e8" /><Relationship Type="http://schemas.openxmlformats.org/officeDocument/2006/relationships/notesMaster" Target="/ppt/notesMasters/notesMaster1.xml" Id="R430301eaf9774c6f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7d2463e29bd47c5" /><Relationship Type="http://schemas.openxmlformats.org/officeDocument/2006/relationships/notesMaster" Target="/ppt/notesMasters/notesMaster1.xml" Id="R4785f06068c34765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c2204707664447e7" /><Relationship Type="http://schemas.openxmlformats.org/officeDocument/2006/relationships/notesMaster" Target="/ppt/notesMasters/notesMaster1.xml" Id="R9583020e1f97460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be7f218bf1444c2" /><Relationship Type="http://schemas.openxmlformats.org/officeDocument/2006/relationships/notesMaster" Target="/ppt/notesMasters/notesMaster1.xml" Id="R98096dfd81c743e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e9bdd0584d4f1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7c101cf3579473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f9585131a442c9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93217e1edbf43df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c178de2caf4000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f530debc08c4978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d5faf8e760466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9908d39d90b4fe8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2840702c00489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a224f37b1b04c89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62b3e8d9b84ca4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BAABC8D-3D0F-4AE2-ACB0-B6BE56226B40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318EA193-DBAD-4335-B926-42E1827359CD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2807579-33AD-4D7D-8C2E-09AA1F6D8A4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B3005D7-212D-457F-A581-5012EF10575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8CB43B2-E122-4F7F-847E-703807E8613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B58543D-BEEB-4B5F-BD92-AEBF27E317D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7C8CAC14-DD06-403B-98EB-45EF1A2DF131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44DBB64-CFF9-4F28-A8B5-4FDE4F5CAF0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1B8520B3-E6E8-4307-AB13-DA00CF81D63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5D38791-9CF0-4BBB-8067-9D6693BE2E1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64D168E-3D89-46A1-9192-B286A7DEB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93189B9-24AA-4351-A9B9-888EB3CE08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F36CD74-A166-4424-970E-25C192F5E5A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C567363D-2369-4A8F-8AFB-783507FA1BD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FA7206A-73C0-438D-9167-5E2E8345F48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9432C32-C272-4B86-B757-E47BBE0004F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B27DB3-D8E5-4055-880C-613AB9062DD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B92B08F7-360A-4E13-ADA8-4C558585FE51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9F3A50A-94F4-4F9A-974C-DD23073C6CA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EAAA1CC7-6634-4050-8B70-DF1E24C9ECB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4810495-B1F5-42BA-B2EF-43F6F05BB02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1D0DC1A-BD61-42C7-9653-AC2B28EB210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3D431A23-4C43-44CB-BBF3-58AE7C95A10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EA011230-7FE6-4F4E-972C-89F4B90111C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E06913C5-B19C-4164-B33F-C451C9FD8029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FFEB89E8-64AD-4C12-9DE7-11C61F43F97B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A6C103F1-90BA-458D-8045-B40E94B55F55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9C365AA2-DE68-44F2-BD27-388B835CE94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3EB72308-EA4B-430D-9A28-C2E83FE546B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314A15F-8471-432D-96EC-17B538ED653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FCBCFD97-E6FF-453C-918B-C95041FD5D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4633F264-80B1-4FC2-A4EA-F57E1925953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8FD1E70F-E809-4BD2-AFE8-EBE18914F65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9E32F459-5871-4120-949D-132724F7487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9E3D56C7-6C0E-45BF-929E-99D5D24E984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7FB7BC12-5253-4F92-8BAB-AE2147182C6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4AF9D0-A94C-4A96-A494-8F3B8240F02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D3EBF473-15FD-4307-B9C1-77937F3E3DE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7B471F2-1654-48D2-911D-2ED6633190F8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53E52F-C21B-4F06-BDE5-66DF80A872C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0C01EED6-3912-4580-9E3E-D12805D60ED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D0EE1DEE-3D93-45B8-BCA0-52901D13BF9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BAE7B6C-0913-484B-89CE-CB3B869943B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CD4CF749-020E-4C3B-BD86-98DA1AE7B9C6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0D79949E-115C-446E-BBCC-2D6F0144DA0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BCA2923-33A7-4138-AEE4-C930B1610B0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B413189-275F-4183-8407-91A969B683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FD95F6C-D2A0-4D17-801E-AC4D5E1431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A292B62-3179-4CE2-8874-E90BD2E16B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401A5E3-7E11-4A15-A86B-1B57C9D817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ACD97DF-ED6E-42C1-92AC-9DCF1F57762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9724F83-E5E2-435A-9D6C-A51E726F922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8CA2688D-CBE7-454B-9DCE-DA146AE03A8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F06FD5BE-2337-46E0-94AD-1C379283D91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E62DF53-B1D2-450D-B16F-E73B492B01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5766C48-F4A1-4FAF-B4AD-35A563DAD42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EF9D3230-4522-47BA-B0B8-C9B279F67C7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7630D6F-B513-4156-B11E-B15E1B77AE4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95d2affa04e4fee" /><Relationship Type="http://schemas.openxmlformats.org/officeDocument/2006/relationships/slideLayout" Target="/ppt/slideLayouts/slideLayout1.xml" Id="Rbfb3928965ae42b6" /><Relationship Type="http://schemas.openxmlformats.org/officeDocument/2006/relationships/slideLayout" Target="/ppt/slideLayouts/slideLayout2.xml" Id="R93f3faf9816d4945" /><Relationship Type="http://schemas.openxmlformats.org/officeDocument/2006/relationships/slideLayout" Target="/ppt/slideLayouts/slideLayout3.xml" Id="R1004ee174e274589" /><Relationship Type="http://schemas.openxmlformats.org/officeDocument/2006/relationships/slideLayout" Target="/ppt/slideLayouts/slideLayout4.xml" Id="R5b5f6d6d3a264d15" /><Relationship Type="http://schemas.openxmlformats.org/officeDocument/2006/relationships/slideLayout" Target="/ppt/slideLayouts/slideLayout5.xml" Id="Re2ec14f67ac64f65" /><Relationship Type="http://schemas.openxmlformats.org/officeDocument/2006/relationships/slideLayout" Target="/ppt/slideLayouts/slideLayout6.xml" Id="R7e06318573424778" /><Relationship Type="http://schemas.openxmlformats.org/officeDocument/2006/relationships/slideLayout" Target="/ppt/slideLayouts/slideLayout7.xml" Id="Ra8c62f728b37493f" /><Relationship Type="http://schemas.openxmlformats.org/officeDocument/2006/relationships/slideLayout" Target="/ppt/slideLayouts/slideLayout8.xml" Id="R8fb042ceacb14792" /><Relationship Type="http://schemas.openxmlformats.org/officeDocument/2006/relationships/slideLayout" Target="/ppt/slideLayouts/slideLayout9.xml" Id="Rce33cca112ea4e85" /><Relationship Type="http://schemas.openxmlformats.org/officeDocument/2006/relationships/slideLayout" Target="/ppt/slideLayouts/slideLayout10.xml" Id="R2f6d8e92de8c4670" /><Relationship Type="http://schemas.openxmlformats.org/officeDocument/2006/relationships/slideLayout" Target="/ppt/slideLayouts/slideLayout11.xml" Id="Re81733823c934dee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2008837-FA19-415A-9DCE-6B7995F669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AEF4D0CC-0F53-4DE3-96CF-ABE207DBF25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>
              <a:buNone/>
            </a:pPr>
            <a:r>
              <a:t>Click to edit Master text styles</a:t>
            </a:r>
          </a:p>
          <a:p xmlns:a="http://schemas.openxmlformats.org/drawingml/2006/main">
            <a:pPr>
              <a:buNone/>
            </a:pPr>
            <a:r>
              <a:t>Second level</a:t>
            </a:r>
          </a:p>
          <a:p xmlns:a="http://schemas.openxmlformats.org/drawingml/2006/main">
            <a:pPr>
              <a:buNone/>
            </a:pPr>
            <a:r>
              <a:t>Third level</a:t>
            </a:r>
          </a:p>
          <a:p xmlns:a="http://schemas.openxmlformats.org/drawingml/2006/main">
            <a:pPr>
              <a:buNone/>
            </a:pPr>
            <a:r>
              <a:t>Fourth level</a:t>
            </a:r>
          </a:p>
          <a:p xmlns:a="http://schemas.openxmlformats.org/drawingml/2006/main">
            <a:pPr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ACF7C47-0F7F-4FE3-B7A3-3119E21F0E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12AF831-9ABC-4603-8418-37529BFAC47D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D6A8DD6-9E26-4966-A317-4F4A441F4500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fb3928965ae42b6"/>
    <p:sldLayoutId xmlns:r="http://schemas.openxmlformats.org/officeDocument/2006/relationships" id="2147483650" r:id="R93f3faf9816d4945"/>
    <p:sldLayoutId xmlns:r="http://schemas.openxmlformats.org/officeDocument/2006/relationships" id="2147483651" r:id="R1004ee174e274589"/>
    <p:sldLayoutId xmlns:r="http://schemas.openxmlformats.org/officeDocument/2006/relationships" id="2147483652" r:id="R5b5f6d6d3a264d15"/>
    <p:sldLayoutId xmlns:r="http://schemas.openxmlformats.org/officeDocument/2006/relationships" id="2147483653" r:id="Re2ec14f67ac64f65"/>
    <p:sldLayoutId xmlns:r="http://schemas.openxmlformats.org/officeDocument/2006/relationships" id="2147483654" r:id="R7e06318573424778"/>
    <p:sldLayoutId xmlns:r="http://schemas.openxmlformats.org/officeDocument/2006/relationships" id="2147483655" r:id="Ra8c62f728b37493f"/>
    <p:sldLayoutId xmlns:r="http://schemas.openxmlformats.org/officeDocument/2006/relationships" id="2147483656" r:id="R8fb042ceacb14792"/>
    <p:sldLayoutId xmlns:r="http://schemas.openxmlformats.org/officeDocument/2006/relationships" id="2147483657" r:id="Rce33cca112ea4e85"/>
    <p:sldLayoutId xmlns:r="http://schemas.openxmlformats.org/officeDocument/2006/relationships" id="2147483658" r:id="R2f6d8e92de8c4670"/>
    <p:sldLayoutId xmlns:r="http://schemas.openxmlformats.org/officeDocument/2006/relationships" id="2147483659" r:id="Re81733823c934dee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2203e85dafb46f0" /><Relationship Type="http://schemas.openxmlformats.org/officeDocument/2006/relationships/notesSlide" Target="/ppt/notesSlides/notesSlide1.xml" Id="R9e3217ec47ce4f3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c4dfc85f504ecd" /><Relationship Type="http://schemas.openxmlformats.org/officeDocument/2006/relationships/notesSlide" Target="/ppt/notesSlides/notesSlide2.xml" Id="R0b1ee6e0e2964fb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fa74564228e4b93" /><Relationship Type="http://schemas.openxmlformats.org/officeDocument/2006/relationships/notesSlide" Target="/ppt/notesSlides/notesSlide3.xml" Id="R154d0552375c400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78376422a5a43d9" /><Relationship Type="http://schemas.openxmlformats.org/officeDocument/2006/relationships/notesSlide" Target="/ppt/notesSlides/notesSlide4.xml" Id="R021ff3e0e28042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dc799e1c6ec4338" /><Relationship Type="http://schemas.openxmlformats.org/officeDocument/2006/relationships/notesSlide" Target="/ppt/notesSlides/notesSlide5.xml" Id="R6bf8e04f9b0b470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19863cc23d44e40" /><Relationship Type="http://schemas.openxmlformats.org/officeDocument/2006/relationships/notesSlide" Target="/ppt/notesSlides/notesSlide6.xml" Id="R5e6dcb6eda444eb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bc4e84776bf49a1" /><Relationship Type="http://schemas.openxmlformats.org/officeDocument/2006/relationships/notesSlide" Target="/ppt/notesSlides/notesSlide7.xml" Id="Re16d673ef734488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eb665fa3ef94eb0" /><Relationship Type="http://schemas.openxmlformats.org/officeDocument/2006/relationships/notesSlide" Target="/ppt/notesSlides/notesSlide8.xml" Id="R32a419db48004e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b8fbfd26dd42e5" /><Relationship Type="http://schemas.openxmlformats.org/officeDocument/2006/relationships/notesSlide" Target="/ppt/notesSlides/notesSlide9.xml" Id="R51c3733c35854c9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65652a8d7b40a3" /><Relationship Type="http://schemas.openxmlformats.org/officeDocument/2006/relationships/notesSlide" Target="/ppt/notesSlides/notesSlide10.xml" Id="R124a718c1bb94af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9e7e061777d422f" /><Relationship Type="http://schemas.openxmlformats.org/officeDocument/2006/relationships/notesSlide" Target="/ppt/notesSlides/notesSlide11.xml" Id="R10ebe789df384b8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19c969964dc49b2" /><Relationship Type="http://schemas.openxmlformats.org/officeDocument/2006/relationships/notesSlide" Target="/ppt/notesSlides/notesSlide12.xml" Id="Re92945181121443b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9189e2506de483c" /><Relationship Type="http://schemas.openxmlformats.org/officeDocument/2006/relationships/notesSlide" Target="/ppt/notesSlides/notesSlide13.xml" Id="R80c6c38e17704c1a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b84aa5501ce4fae" /><Relationship Type="http://schemas.openxmlformats.org/officeDocument/2006/relationships/notesSlide" Target="/ppt/notesSlides/notesSlide14.xml" Id="R03b607a1d68b477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d1fb59544946dc" /><Relationship Type="http://schemas.openxmlformats.org/officeDocument/2006/relationships/notesSlide" Target="/ppt/notesSlides/notesSlide15.xml" Id="R5a1c87eb5f6845e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17c59c945694531" /><Relationship Type="http://schemas.openxmlformats.org/officeDocument/2006/relationships/notesSlide" Target="/ppt/notesSlides/notesSlide16.xml" Id="R3ae26cdb21094a15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6984a15c60468f" /><Relationship Type="http://schemas.openxmlformats.org/officeDocument/2006/relationships/notesSlide" Target="/ppt/notesSlides/notesSlide17.xml" Id="Re59c416ae1b94fe8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64a4e37a7fe4bed" /><Relationship Type="http://schemas.openxmlformats.org/officeDocument/2006/relationships/notesSlide" Target="/ppt/notesSlides/notesSlide18.xml" Id="R21aa7ff2e76b4f44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e2552d5b5114e44" /><Relationship Type="http://schemas.openxmlformats.org/officeDocument/2006/relationships/notesSlide" Target="/ppt/notesSlides/notesSlide19.xml" Id="Rba62e815873c487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455af3ad7974d45" /><Relationship Type="http://schemas.openxmlformats.org/officeDocument/2006/relationships/notesSlide" Target="/ppt/notesSlides/notesSlide20.xml" Id="R224ee457d5a64fe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4bcadca12fd4d35" /><Relationship Type="http://schemas.openxmlformats.org/officeDocument/2006/relationships/notesSlide" Target="/ppt/notesSlides/notesSlide21.xml" Id="Reffd7e4517c848d1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5c94f134b81442b" /><Relationship Type="http://schemas.openxmlformats.org/officeDocument/2006/relationships/notesSlide" Target="/ppt/notesSlides/notesSlide22.xml" Id="R1e6c01cb9e024412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7ca993d29142f2" /><Relationship Type="http://schemas.openxmlformats.org/officeDocument/2006/relationships/notesSlide" Target="/ppt/notesSlides/notesSlide23.xml" Id="R176fafec8ae749dc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94a4553de254a78" /><Relationship Type="http://schemas.openxmlformats.org/officeDocument/2006/relationships/notesSlide" Target="/ppt/notesSlides/notesSlide24.xml" Id="R75be9e755fec4dd9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c8ca5a3485d4265" /><Relationship Type="http://schemas.openxmlformats.org/officeDocument/2006/relationships/notesSlide" Target="/ppt/notesSlides/notesSlide25.xml" Id="Rd7e939180ccb45f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b4529df988a4a6c" /><Relationship Type="http://schemas.openxmlformats.org/officeDocument/2006/relationships/notesSlide" Target="/ppt/notesSlides/notesSlide26.xml" Id="Redb27340a5fd4d98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2b3b29a6c354214" /><Relationship Type="http://schemas.openxmlformats.org/officeDocument/2006/relationships/notesSlide" Target="/ppt/notesSlides/notesSlide27.xml" Id="R17cfeac5e75d4879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5c13ba8e06e4883" /><Relationship Type="http://schemas.openxmlformats.org/officeDocument/2006/relationships/notesSlide" Target="/ppt/notesSlides/notesSlide28.xml" Id="R13aa395b0852408b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9977367efe74321" /><Relationship Type="http://schemas.openxmlformats.org/officeDocument/2006/relationships/notesSlide" Target="/ppt/notesSlides/notesSlide29.xml" Id="R22dc4d7a47a54fe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1ad419aeb9d4f24" /><Relationship Type="http://schemas.openxmlformats.org/officeDocument/2006/relationships/notesSlide" Target="/ppt/notesSlides/notesSlide30.xml" Id="R91621787b9cc41d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CDFD01A-FAF3-4CD6-A055-E766385F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20DB5EF-5B9A-4A09-85F5-AE9B6FC1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PUBLIC EVIDENCE PACKAGE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6B6EC1D-3281-4BF7-8D0D-CB4BB308D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From patent to a lender-ready</a:t>
            </a:r>
            <a:br/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package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F62F838-FFF3-46EF-A848-C04BD23E7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Extended 30-slide reviewer and financing-decision package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7189FC58-5A0F-4092-9164-A66BE585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8887B36-40AC-4A1E-8BBB-6EC6E6E5F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Evidence status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02BABF0C-2DF7-4A65-8AD0-041E559B5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2026.08.03-43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607AF4-ABB2-405A-A020-46631FFAE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Updated 2026-08-03</a:t>
            </a:r>
            <a:br/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slides · English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468C1F43-0271-4164-9A1A-A683FDB67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Starting point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D52267-8FC4-4F2B-B929-4A2DB74C2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1704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Confirmed evidence is separated from supported information, assumptions and missing evidence.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17B677B-5E50-4C81-8E0F-5BA6A4B8E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Not Pixan Oy's official position · not a valuation, investment, lending or legal opinion</a:t>
            </a:r>
          </a:p>
        </p:txBody>
      </p:sp>
    </p:spTree>
    <p:extLst>
      <p:ext uri="{BB962C8B-B14F-4D97-AF65-F5344CB8AC3E}">
        <p14:creationId xmlns:p14="http://schemas.microsoft.com/office/powerpoint/2010/main" val="472376993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5E73C5D-3689-4500-9D39-5842DC025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6120CE4-A2AF-40BE-A8E5-3B3F673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Financeability remains possible—not yet a conclusion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8127BB5-2397-4C0E-8168-EFD25AFF9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38B06F7-7917-4759-BD14-E712C852C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7CBFFD-DA17-4343-9E14-F255B4545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EPO; Germany — official judgments;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6682363-1F40-47D2-A29D-09E0254388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4D55C3A0-F420-4052-8310-3D75CB71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Official patent and court sources justify further diligence; they do not yet establish collateral value or repayment.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30F6C44-63F6-4A10-87F3-DD70AB6A5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amended EP3032975B2 and two official German decisions anchor the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195-country method control separates 28 reviewed plans, 0 source leads, 15 EU TPD patterns and 152 unscoped proxy routes; none unlocks the 0/3 donor gate.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A financing structure requires national rights, a claim-mapped-sales bridge, cash flow and an independent valuation.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75E9F9C5-2CC0-43BF-81E0-A827064C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91BEE5B-6CFD-4191-8D25-BCFC79B4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Recommendation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EA5030E-57BC-4694-986F-4C60CB6DB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Open a conditional 90-day diligence phase, not a final credit decision.</a:t>
            </a:r>
          </a:p>
        </p:txBody>
      </p:sp>
    </p:spTree>
    <p:extLst>
      <p:ext uri="{BB962C8B-B14F-4D97-AF65-F5344CB8AC3E}">
        <p14:creationId xmlns:p14="http://schemas.microsoft.com/office/powerpoint/2010/main" val="116487260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563B18C-7167-4687-82D3-FEDFE9F08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FINANCING THESIS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8089BAD-99B0-491E-B9BA-5E4DBF5C5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Three reasons to proceed—and three reasons to wait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422DB40-3EE8-4C85-8F5E-56EC457D7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B165788-DD23-4F38-92EA-77C240A17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B97F9D-BDFD-4BCC-B49F-6ACF7C520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480567B-5D0C-4C4B-9D75-132210FB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Strong signal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supports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What it does not prove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central EPO opposition concluded with the patent maintained as amended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Documented patent core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and enforceability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National validity signal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Finality or worldwide validity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Product- and claim-specific signal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Another product, country or paid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B2C97FD-B3E7-4B5D-ABA2-1B4CB49E6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lender should price only the evidence for which title, enforceability and cash flow have been confirmed.</a:t>
            </a:r>
          </a:p>
        </p:txBody>
      </p:sp>
    </p:spTree>
    <p:extLst>
      <p:ext uri="{BB962C8B-B14F-4D97-AF65-F5344CB8AC3E}">
        <p14:creationId xmlns:p14="http://schemas.microsoft.com/office/powerpoint/2010/main" val="64541311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CA5F0DB-F54B-4718-A0A2-E7909C9D3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9226A72-7C04-4052-9686-F148EF6357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evidence chain currently breaks before cash flow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66C91FA-F402-4054-8116-04331798D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D7EB054F-0CE4-4140-8573-0AA39D4C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27BA54-25FF-428E-A4A7-75DC964EC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EA8297E-7C02-456D-9EA5-E5124889A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50BB225-2D96-4D15-9F87-25C245B44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 → enforceable national right → relevant product → relevant sales → contract or judgment → payment → debt service.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8DB80D02-35E5-4108-8B14-681BE7B96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beginning of the chain is partly confirmed by official sources.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product and sales link is confirmed only to a limited extent: Germany,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Evidence of contracts, payments, company finances and collateral value is missing from the public package.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3946D25E-719B-40C5-81FF-23A2A7FF13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1C21B89-0844-4597-8B32-042138C6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Credit risk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D9A4C98-AED7-4C9E-9CD3-DBB6DB096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One unconfirmed link can reduce nominal market value to zero in a realisable downside scenario.</a:t>
            </a:r>
          </a:p>
        </p:txBody>
      </p:sp>
    </p:spTree>
    <p:extLst>
      <p:ext uri="{BB962C8B-B14F-4D97-AF65-F5344CB8AC3E}">
        <p14:creationId xmlns:p14="http://schemas.microsoft.com/office/powerpoint/2010/main" val="928842408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D09C662-D81C-4F56-A729-5E67B9193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SOLUTION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1C3FB55-E561-42EA-A68F-C7FAC7624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Resistance data drives the patented heating control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DF46FA-88B5-4423-9C72-E312520A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22468B1-1730-4837-96F3-B3D57C4F1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5755A1-A114-4C11-A8B6-B3883F49E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5976333-2B5E-4595-BB45-35697BCE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01A1231-6DF9-45FF-AE09-74CEEB18D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published patent specification concerns control of an electrically powered vaporiser by measuring heating-element resistance, selecting the corresponding power from stored data and controlling power delivered to the heater within defined user-adjustment limits.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CCE6305-AF56-4E4E-BB1C-38CEC4804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Measurement: heating-element resistance.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Data: stored resistance–power values.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Control: power delivered to the heater and the user-adjustment limits.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0C9C06-6668-4D9A-9131-F0B37764E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9C7E04D1-8405-4A9B-B6E3-F9DE80BE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Interpretive limit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B5C3B482-C8CE-4874-983D-302FDC4D5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This plain-language description does not replace country-specific claim construction or product-specific claim analysis.</a:t>
            </a:r>
          </a:p>
        </p:txBody>
      </p:sp>
    </p:spTree>
    <p:extLst>
      <p:ext uri="{BB962C8B-B14F-4D97-AF65-F5344CB8AC3E}">
        <p14:creationId xmlns:p14="http://schemas.microsoft.com/office/powerpoint/2010/main" val="199960826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C4A71C-998B-4645-909D-8282CC46D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EB133-7EA9-46E0-85A2-824E225C1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nine B2 claims are the starting point for review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2A5FE8D-D3CB-4448-9229-5815CED64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108B73F-BE9C-40EF-99E3-9923D2E55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2E6CFC-E2F8-4517-9B67-87B7F240B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045E6A2-AD81-447A-808D-A97F9EF7B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Public description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 test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Controller / method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Control of an electric vaporiser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version and country?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 measurement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Heating-element resistance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and when is it measured?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Stored values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Resistance–power mapping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Where is the data stored?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Non-proportional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Defined nature of the power relationship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Is the claim limitation met?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Adjustment limits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Minimum and stored maximum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How does the interface implement the limits?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1AEC4C1-09D2-494D-A6BF-38479ED67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Every claim limitation must be evidenced; a feature list alone is insufficient.</a:t>
            </a:r>
          </a:p>
        </p:txBody>
      </p:sp>
    </p:spTree>
    <p:extLst>
      <p:ext uri="{BB962C8B-B14F-4D97-AF65-F5344CB8AC3E}">
        <p14:creationId xmlns:p14="http://schemas.microsoft.com/office/powerpoint/2010/main" val="1191105292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BCF41E2-6E38-42B1-9B20-BE25328C85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291FA5C-1749-4434-A880-8AC4CB864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Core IP events are traceable to official records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3C1D28F-9A84-41A8-9C17-C70999520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66CB0D4-BE07-4463-9836-4E277B6BCA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824B545-E5ED-4B20-BBA2-3C2BB9DBF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7A0FF63-3482-4A94-A7D1-ADD3DA9B8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4A94A4A-48D0-4801-8EF7-8ABB79AF3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667F6E4-E5D0-4B26-9053-A05EF46B5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 August 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61C101F-FDDC-4012-81F8-E8641389B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earliest priority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C95E02D-E297-4A92-86CE-1B48CDC472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6C8CDC-6B09-4B80-9449-177BE824F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 April 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BAA0222-2351-4334-B45B-D0CFC98D6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 publication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8CD81F4-E35C-43C9-ADF4-84D8EB6D7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1D2B9B4A-92A5-4C1D-B7F5-A10637AF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72DAF87-3224-4AEF-B969-5433D9A0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amended claims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5A4CFBE-40C3-41B5-9030-749B03304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central EPO opposition and appeal proceedings have concluded; national post-grant status remains separate.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09DB08-9D4B-4086-AF49-CDAC794C0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1BD6FF3-F031-4FB3-A28D-0A98B7372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5FB9CD7-0B12-485A-8BBD-4ACA0F18E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National post-grant rights remain separate from the central EPO proceedings.</a:t>
            </a:r>
          </a:p>
        </p:txBody>
      </p:sp>
    </p:spTree>
    <p:extLst>
      <p:ext uri="{BB962C8B-B14F-4D97-AF65-F5344CB8AC3E}">
        <p14:creationId xmlns:p14="http://schemas.microsoft.com/office/powerpoint/2010/main" val="97685634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C66A6E7-5D34-47E5-99EC-2C55D39D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GEOGRAPHIC COVERAGE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10A8E39-DEBC-4BB5-ABE6-3E58694DD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22 family publications do not prove enforceability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D63B8A-2A85-4919-BCE8-EAD60112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947506C-B491-472B-8A9B-BEEA45F35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350FF44A-6D17-402A-8AEE-ADF1D8767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EPO family; national registers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2359063-1E4C-46F1-A99C-7CAF2190FD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9333021-3227-4DAD-B8C4-1ABDB337F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6C956181-15AF-4CA7-B1B2-0052EAE30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7A0DD0D-0D6C-4AA5-BD49-9DDA9085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family-publication records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DBF21192-03C1-4589-B913-45A5D5F8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DD4E3B3D-83FE-4673-9803-E6D99BB61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ACA8A1-325B-4081-8C72-210A281F0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identified proceedings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9F5CD70F-DD4B-4F9E-B6A2-DFCD7184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DA32818-52B5-4D4F-82D8-AFB3F5EE5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8BC3607-63AF-4893-B7EE-BA5562FDB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official national-register checks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7F30BE1E-F553-4E01-8067-83E07FDD5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80F45ED-7783-42D0-8644-3A801D40D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83C444-7287-4EE5-8088-B290A8A2E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enforceable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06872294-A5DA-407F-92EF-692E1707B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publication route is a map, not proof of title or validity.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9D2CE942-4F1E-441C-AAF0-AA0C3F718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9DA1EA-C754-4E7E-89AD-ED8AD5C9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E9292A4-99F2-4643-9E58-71C0DB22A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Counsel's country matrix should include proprietor, operative claims, renewal fee, receipt, encumbrances, UPC position and next deadline.</a:t>
            </a:r>
          </a:p>
        </p:txBody>
      </p:sp>
    </p:spTree>
    <p:extLst>
      <p:ext uri="{BB962C8B-B14F-4D97-AF65-F5344CB8AC3E}">
        <p14:creationId xmlns:p14="http://schemas.microsoft.com/office/powerpoint/2010/main" val="153128097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4FE6-EE9A-48CB-916B-6F2648FA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8B1EBD3-FC5E-4BCB-B57E-B62B17757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 decisions are strong but narrowly scoped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D330D2A-BA67-4537-AC67-6BC303647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BCEE0B8-FCCC-4305-B325-7B8BEA3D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3A8D17E-9B11-4ED9-8237-57434EF41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Official judgments: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43743D7-0FDF-4051-8050-62A926F35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Reference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event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Scope and 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Nullity action dismissed; appeal pending (14 January 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dismissed the nullity action concerning the German part of EP3032975B2. The official register records an appeal to the Federal Court of Justice under case number X ZR 21/26. Not final while the BGH appeal is pending.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products examined were found to infringe the patent (2 April 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The official judgment found that the products examined directly infringed claims 1 and 6 and indirectly infringed them in relation to supplementary components, and ordered the remedies listed in the judgment. The official judgment is available; appeal status, finality and enforcement have not been independently confirmed in this publication.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2B831B5-D0C9-4B91-8EEE-B5AF3E5F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German evidence does not automatically extend to another product, counterparty or country.</a:t>
            </a:r>
          </a:p>
        </p:txBody>
      </p:sp>
    </p:spTree>
    <p:extLst>
      <p:ext uri="{BB962C8B-B14F-4D97-AF65-F5344CB8AC3E}">
        <p14:creationId xmlns:p14="http://schemas.microsoft.com/office/powerpoint/2010/main" val="2013690162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3A14811-3CA7-461E-9190-68F23FA04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LEGAL EVIDENCE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FD4EC16-E4EC-440E-A808-534BFC0C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Chinese matter is not an infringement victory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C5C14D-BD0F-4C8D-8FFE-B4B3382DD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AE4FA61-39A8-4557-9979-CB300E31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08E40EB-FADF-44EC-A46C-0809AB5D0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2DCF191-2539-4D78-9996-E392BAD16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21398F63-9F95-4D65-9730-BA304C00F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Public secondary docket information points to an applicant-side re-examination of a rejected application.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0822FF3-44BA-4C12-9800-7B599495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proceeding is classified as a review-request matter.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official decision and detailed reasons were not obtained for the public package.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was later published as granted on 4 May 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B5B315C8-21CB-4E6E-9C83-5B7CBCF4B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27EA143-66E9-4C8E-90F0-17511E6B1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Use limitation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5BECE4F-721A-4AD9-96A1-2F3639CE4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matter must not be described as Chinese infringement litigation, a counterparty invalidity action or cash-flow evidence.</a:t>
            </a:r>
          </a:p>
        </p:txBody>
      </p:sp>
    </p:spTree>
    <p:extLst>
      <p:ext uri="{BB962C8B-B14F-4D97-AF65-F5344CB8AC3E}">
        <p14:creationId xmlns:p14="http://schemas.microsoft.com/office/powerpoint/2010/main" val="166243878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9A3EB66-B152-4E02-B5CE-CA474EB18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8ADCE89-3D54-46ED-AA21-C5C2745B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Four current IP alerts require a documented owner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5DFA0A9-85C8-4E05-884F-475E6ABA2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AC1ED71-CC76-4875-9C4F-82F939E97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76B0DFA-502A-4D93-98C1-7188118F0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1FEF084-0B34-4B99-8D77-DB8620202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 / region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Deadline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Action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the next Australian renewal immediately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 August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Finland's year-14 renewal fee is due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August 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Reconcile every European national right before the payment cycle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 December 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 and pay the United States 7.5-year maintenance fee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EDDE9CD-E650-42AC-9113-947785222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Deadline monitoring is an operational collateral-value control, not an administrative detail.</a:t>
            </a:r>
          </a:p>
        </p:txBody>
      </p:sp>
    </p:spTree>
    <p:extLst>
      <p:ext uri="{BB962C8B-B14F-4D97-AF65-F5344CB8AC3E}">
        <p14:creationId xmlns:p14="http://schemas.microsoft.com/office/powerpoint/2010/main" val="1252385186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782BC4E-0234-497E-96BF-7DE474207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42B8C711-E067-4D85-AE06-44F52D52B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195-country open base: 578 WB records; method control 28 / 0 / 15 / 152; not sales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C9CCC90-43D0-4FE2-9D3A-B68F208A2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1C30567-BC32-4700-A5E6-4FFC7AE63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7F349D5-C0F7-4295-A37D-384F02C9B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FD92808-C9DA-4C41-9A83-2EA9F1D8E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51CCDE9-85D1-4CD3-9FA9-6FC4294E3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3EECFDE-C575-472D-ADA7-A856E8E390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52AA8A-4530-4AA6-88FA-5D5F6EA8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A countries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0EB8E2A-5312-4332-A767-89FC7C3DA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4044830-D3A2-4A90-AEDA-D5E4C6911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123A0DAE-3061-47E0-A205-9EECEFCA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B countries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F64029E4-185B-4302-B095-8456F866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D3465E9-EDCC-4095-9164-69D10A7FB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CD97560E-DEA0-48B3-8E67-150D3F833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C countries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3AF47778-DA07-4D6B-A934-A32761304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D0273013-769A-478B-B266-7FD676BA1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4B39180-D3EF-495C-8B49-C1FFAA9AD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Grade D countries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D75885E-6444-44EB-8711-99DE325AF6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evidence observations; the UN component of the universe comprises 193 Member States.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7ADA349B-BC46-4C1E-82FF-3EB41D120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2A7021-D53F-4FE2-B5F5-A4207B34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4793CAFE-53DB-44D1-8658-2F9C5BC2A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Grades A–D describe evidence maturity, not market size or commercial attractiveness.</a:t>
            </a:r>
          </a:p>
        </p:txBody>
      </p:sp>
    </p:spTree>
    <p:extLst>
      <p:ext uri="{BB962C8B-B14F-4D97-AF65-F5344CB8AC3E}">
        <p14:creationId xmlns:p14="http://schemas.microsoft.com/office/powerpoint/2010/main" val="952139042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48A344C-3B3F-46BD-A5B3-1ED93A2B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14FF401-79E3-4971-9077-D1802AA1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83517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116 market measures and 36 Swedish FHM register counts; method control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BBEA8B5-0E60-45BD-B43C-2D2095C2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FA7148B-A296-4E21-A4EB-BF6AFA44FE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616604F-77F5-4197-8F79-10BED5C416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E7BFC5B-1DED-45FF-8E07-93C6BBA7B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Country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Official observation / supported model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CAD 1.219160bn (≈EUR 822.6m; ECB 2024) / EUR 822.58m; monthly route +CAD 1,000. Canada 7/10; D5/D7 failed, D10 open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Germany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 → 1.518m l of taxed liquid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11,801.062 l; EUR 3.54m excise tax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New Zealand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identified AIS/AVP vaping subtotal NZD 274.180m (≈EUR 153.3m; ECB 2024): consumables 189.402 + devices/hardware 84.709 + mixed systems 0.069m. NZ 7/10; D5 failed, D8/D10 open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Poland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e-liquid flow 1,451,529 → 805,441 litres; tax bridge for 4,382,500 broad-group devices + 62,500 component sets. Not e-cigarette-only, retail value or a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United States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reported cartridge-system-plus-disposable sales reached USD 2.763bn (≈EUR 2.336bn; ECB 2021) in 2021; manufacturer reporting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78625A3-352C-4FE1-A449-C064BC81B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Litres, shipment values and excise taxes are not summed into one market.</a:t>
            </a:r>
          </a:p>
        </p:txBody>
      </p:sp>
    </p:spTree>
    <p:extLst>
      <p:ext uri="{BB962C8B-B14F-4D97-AF65-F5344CB8AC3E}">
        <p14:creationId xmlns:p14="http://schemas.microsoft.com/office/powerpoint/2010/main" val="1996232712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273BF43-3CF2-4ED5-836B-A4E25F5C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33A6C2-2427-4558-89FA-626DAB1D4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Canada 2024: strong point estimate,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1FFD21B4-6232-4206-9573-985A73876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EA2C7FF-B6B5-4CB2-BC9D-0B5CD6770B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3280670-6BB0-4A2F-9AEA-60348E43C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9C96A6D-90EC-4A0C-840E-A7C96AD10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1CEC7B6F-0B87-41A6-B48A-7DAF1967B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7BC8EE8-0170-483C-8E2A-03D407E6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CAD 1.219160bn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574D5E7-EB77-418F-927C-421EBDC6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consumer retail · ≈EUR 822.6m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74D48C7-EA44-45A6-BA83-3B875DD4C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2DC19C7-4A14-4694-BE01-C8364C09D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CAD 1.160754bn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AD79AA3E-0FBA-4D4A-9625-C98E5912B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shipments · ≈EUR 783.2m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C5F47315-60AF-4AB4-9D5E-8C9A03505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B2EAD98D-2C00-4933-9397-F608CA589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CAD 1,000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8E4E8B6-C110-4EFF-8551-06194E463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monthly–quarterly gap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3FA9A530-4CC9-4CEB-AC56-F69E228C93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is CAD 58.406m, or 5.03%, above shipments. The residual is not margin or a market range; official tax evidence closes D8.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889E8F62-44D0-41FA-953A-4FF916465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8064071-9E81-447B-A55F-A32A00D4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3B027A68-5278-4B38-A0AB-33D119996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Canada passes 7/10. D5 failed: NAICS 459999 is outside the target population. D7 failed: exact product-class quality metrics are unavailable. D10 remains open: transaction stages are unreconciled.</a:t>
            </a:r>
          </a:p>
        </p:txBody>
      </p:sp>
    </p:spTree>
    <p:extLst>
      <p:ext uri="{BB962C8B-B14F-4D97-AF65-F5344CB8AC3E}">
        <p14:creationId xmlns:p14="http://schemas.microsoft.com/office/powerpoint/2010/main" val="1825657669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15FEC82-5D8C-4173-9DE2-AD108BF86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GERMANY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ED0EE92-D7AC-4A3E-91A5-361E22D7E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Germany's liquid volume rose; value needs a price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46A3549-6C4E-4A91-84D1-9A5E0C22A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0322CDA-C7E4-471A-B305-CEF10EEF3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F4142C5-B94B-4E3D-8DFA-9525D8DAC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05A088C-09CC-4029-8671-EA226108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Year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Taxed liquid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Excise tax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Finality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1.241m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201m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1.284m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266m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1.518m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 404m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Provisional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C8CD9E0-BB7E-44B1-8C94-226C21111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Taxed liquid volume excludes devices, tax-free and illicit trade and is not retail value.</a:t>
            </a:r>
          </a:p>
        </p:txBody>
      </p:sp>
    </p:spTree>
    <p:extLst>
      <p:ext uri="{BB962C8B-B14F-4D97-AF65-F5344CB8AC3E}">
        <p14:creationId xmlns:p14="http://schemas.microsoft.com/office/powerpoint/2010/main" val="1307340974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F326A39-6B08-47EA-9CA3-10382719C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MODELLING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7A84515-4112-4BC5-A002-8E112B6B6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Germany blind test: numeric pass, scope still open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11734FA-D9D1-4E82-9271-FF180020A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03DD469-93A3-443F-927C-4BFAEF52C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0F6EC0A-4B30-4507-B389-C921921A7F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84FECAC-E38A-4FFA-B906-E15B7315C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1F5A64C-143F-42A6-B2AF-7C93EC69B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971B765-8DC7-4820-89A9-E9990CEA7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EUR 667.92m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1ED503E-58B0-47FA-A04F-1950F4D750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0.44/ml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225F0DA3-1ADC-4571-96AE-F35A02B85C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6CAD2D9-3A18-4F33-879E-67E7C6E68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EUR 1,199.22m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0FFDBE1-2CA5-4444-BCEC-5795ED8A4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0.79/ml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548F11E-19E8-4C5E-A675-9B5BB7B9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DBEB0C9-0320-4766-8136-B8D1319F0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EUR 1,654.62m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78C7CDDB-4E97-48EA-80D0-EC2F8FB18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EUR 1.09/ml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5733AE15-CBD2-4732-8202-38025F151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Formula: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AC953688-3103-46A4-8CCA-0F0D99CA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C86C9D92-DB41-49EE-8637-AEA703539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AD20889-E12D-426C-BFD3-57C4C2BFA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7589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DE-BLIND-1.0.0: a licensed Germany 2022–2025 extract was received. The frozen private test passed the 2023 and 2024 annual caps and the two-year combined cap. Vendor values and exact deviations remain withheld. Product, tax, channel, event-stage and method bridges remain open; Germany is not a donor.</a:t>
            </a:r>
          </a:p>
        </p:txBody>
      </p:sp>
    </p:spTree>
    <p:extLst>
      <p:ext uri="{BB962C8B-B14F-4D97-AF65-F5344CB8AC3E}">
        <p14:creationId xmlns:p14="http://schemas.microsoft.com/office/powerpoint/2010/main" val="787653407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B213E1D-5D73-4748-8D24-7407C9111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GLOBAL MARKET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0A31B55B-E47E-4842-A628-54F3383C0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Global estimates are checks, not our estimate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5501F89-7B9C-411E-AF06-9B4CB2809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B437512-B305-457D-9CAF-A2B495A80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8964F3-E9DA-4A72-A777-FE988196D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5480599-AB9D-4608-AFF7-FF61DCB2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1AAF22B-8D2F-4550-9AF0-CBA65BFA3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0599198-C694-4D79-8279-E590CCF18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USD 26.0bn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2E31F9C-AE3F-4872-84B1-B92652C89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AF5C0820-3CD1-442D-BD80-2AEF4E786C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7B3D8EB-15FD-4A4C-80F2-6CFE636BC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USD 45.7bn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C5D0FA-F77F-4A42-B5E2-3DD66E862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99B038D-B20B-4381-9017-014CC859A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8378A9E-2431-4CB2-BA86-E164D0A68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USD 46.32bn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83389FC-4060-45DC-BC57-20074954B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A7DEA1E3-D3A4-4E1B-B7C9-9907E53E9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04C5E943-5661-412B-AB9F-D7E452BB1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EUR 4.99bn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2965A9AC-36D4-4CE5-8599-DA040DDD4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 Commission benchmark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64BEAFD-9163-45D3-8EC4-8ABDE0E61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EU benchmark supports a scale cross-check; the commercial range is wide because product scopes and methods may differ.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A39F05F6-2DDE-4327-88ED-8DDFD2492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B1E783A2-9F0E-40ED-A82D-01126B324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Interpretation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3EF856-6CA5-4FC2-ACA8-2AFF76BD2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The EU figure is based on commercial Euromonitor 2025 data; Cyprus, Luxembourg and Malta are missing. It is not a national donor market. The estimates are compared, not summed or used automatically as a royalty base.</a:t>
            </a:r>
          </a:p>
        </p:txBody>
      </p:sp>
    </p:spTree>
    <p:extLst>
      <p:ext uri="{BB962C8B-B14F-4D97-AF65-F5344CB8AC3E}">
        <p14:creationId xmlns:p14="http://schemas.microsoft.com/office/powerpoint/2010/main" val="435969525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D6BA03F-E2CA-40A6-99E6-576D6C87D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METHOD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C8A0B8F4-DE1A-4037-8DED-53E2C9690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 global estimate needs ≥3 comparable markets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6CD8783-A5D0-40A5-A662-10344577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9DD0EEF-65F0-4004-8294-693A9B2C1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3A52E21-30E8-4FDB-B835-667873A7C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Market-values model; Method-route control; Readiness and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7C251A1-2852-40A6-8CAF-98F8D30D7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282C188-0C18-4529-8960-D6B139F30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New Zealand is 7/10: D5 failed; D8 and D10 open. All 5 candidates remain outside; the donor gate is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75EDD0-23CC-4637-9D8E-F229964B8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New Zealand's identified AIS/AVP subtotal of NZD 274.180m (≈EUR 153.3m; ECB 2024) comprises NZD 189,402,451.96 consumables, NZD 84,709,409.85 devices/hardware and NZD 68,548.40 mixed systems.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NZD 2,137,085.24 adjacent and NZD 4,367,017.37 unresolved rows are excluded. New Zealand passes 7/10; D5 fails and D8/D10 remain open.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The separate NZD 533.7–731.2m (≈EUR 298.5–408.9m; ECB 2024) RPS sensitivity remains a supported model, not observed national value. The donor gate remains 0/3.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FC3AB0D8-DC0B-4762-B201-A7E71B8A7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5950B72-ADF6-45C2-A180-36DBD228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Only then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B0A9DA4-2AEE-4661-87AB-F32D78B83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Triangulate demand, tax, customs, company and price methods. Compare results; do not add alternative estimates together.</a:t>
            </a:r>
          </a:p>
        </p:txBody>
      </p:sp>
    </p:spTree>
    <p:extLst>
      <p:ext uri="{BB962C8B-B14F-4D97-AF65-F5344CB8AC3E}">
        <p14:creationId xmlns:p14="http://schemas.microsoft.com/office/powerpoint/2010/main" val="180557304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10CAB-86E0-46DA-B288-2DA498D022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VALUE BRIDGE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99A060-F14F-48C2-B4EB-A8B41CFC3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market-to-patent bridge has five filters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D3221D9-1318-415F-A17F-908A2E9EB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7706AC-88A4-44BC-AA17-3D13B7207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3DBB59B-3B6B-40B7-A085-518B9FAB3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6742D3-9433-4D9E-BB84-EBC87CD84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Filter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Total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and metric scope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Partial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Jurisdiction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Enforceable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 globally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 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evidence: Germany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× country × period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Cash flow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Royalty/settlement − costs − taxes − delay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D58570F-0647-4884-A0ED-349E09704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Only bottom-level cash flow can service debt; the upper-level market cannot do so by itself.</a:t>
            </a:r>
          </a:p>
        </p:txBody>
      </p:sp>
    </p:spTree>
    <p:extLst>
      <p:ext uri="{BB962C8B-B14F-4D97-AF65-F5344CB8AC3E}">
        <p14:creationId xmlns:p14="http://schemas.microsoft.com/office/powerpoint/2010/main" val="407887060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7582266-6625-4705-8B02-A587786E8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CUSTOMERS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C7A6379-6755-4717-B810-86822E290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Potential customers are hypotheses, not yet evidence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87034E8-2FE6-4D6C-A791-4F8D8B9A2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6E93C06-3E55-4C71-B35E-F95F59AEE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F3B3D4E-43E2-47C5-838C-00F1855A0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A32981D-1F30-4F80-9016-1BC7A8774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CF82D21-1220-43D7-B5BD-0C62BC194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Commercialisation routes point to manufacturers, technology providers, and IP financiers or buyers.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15F102A-26A9-47B3-A83C-476D7B355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Manufacturer: licence, freedom to operate or settlement.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Technology provider: integrable function or legal position.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Financier or buyer: controllable, realisable cash flow and downside protection.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A61A1E0B-AB82-4CA0-979C-EB087F544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9019C9-36C7-4F92-A32A-97523475B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3322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Validation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2F1E68D-3EE2-4434-80E4-91D56F3F1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Document 10–15 interviews, decision criteria, objections, budget and next step. The public evidence does not yet include these.</a:t>
            </a:r>
          </a:p>
        </p:txBody>
      </p:sp>
    </p:spTree>
    <p:extLst>
      <p:ext uri="{BB962C8B-B14F-4D97-AF65-F5344CB8AC3E}">
        <p14:creationId xmlns:p14="http://schemas.microsoft.com/office/powerpoint/2010/main" val="823539845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C1F48F-DBDC-4832-A079-4268DE954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COMPETITION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EB71135-1F16-43E4-B80B-7CB164F5AF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competition map must cover four parallel levels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DADEF86-512A-4559-A1A3-E9DA462149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637DA27-2239-46C2-90FC-1B2E8A1A3D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F3188BC-4A95-4152-947E-992EAE377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E71F1C9B-D8DA-4161-9FA4-D5D7B759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Level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Analysis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Output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Function, architecture, price, market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Comparison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 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Can the performance be achieved in a different way?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 assessment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Commercial alternative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Licence, acquisition, in-house development, litigation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 model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04BDD79-6A66-4215-B229-A24C6F6AD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technical advantage is not credible until alternatives have been documented and sourced.</a:t>
            </a:r>
          </a:p>
        </p:txBody>
      </p:sp>
    </p:spTree>
    <p:extLst>
      <p:ext uri="{BB962C8B-B14F-4D97-AF65-F5344CB8AC3E}">
        <p14:creationId xmlns:p14="http://schemas.microsoft.com/office/powerpoint/2010/main" val="774753806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F6875E5-E0B1-4ACC-B90E-29C1FB275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TECHNICAL VALIDATION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28944AE-76E6-4505-AEDD-6B84FCD3F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Product validation needs an unbroken evidence chain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0AA767A-B4D3-457E-BA60-418A5D055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3C25DFD-5989-4174-AFEB-CD49B3569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EF8596F-1522-4CBE-B8C5-4EFDB285A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B94C1A0-0048-4E4C-A834-1CE68515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31D89B-BABA-4270-89EB-99931347F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AA8B664-2BDA-460F-9806-9B462BF2F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B0BE2818-F751-4F2D-A0BA-3A6D5B200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Sample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B44E3C07-E8BE-4672-AD10-6E66670E3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Purchase in the correct country and period; document the seller, product version and serial details.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28E7FCE8-F5F8-4243-866E-74C7B0372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D0E6494D-2C87-4819-B374-3FF020825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82FB0082-B0DF-41FF-8FD3-C08A7CC95A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Chain of custody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CE698EA-44CB-4DEB-B1A8-DCA60757E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Record receipt, storage, opening, imaging and file hashes.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24D3BCDB-5B40-470F-960F-9AC14A1CA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1EA9AED-4612-467D-A8D4-C55D441E8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B552F221-0C87-4486-939E-9DC7D67F4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and testing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62FFA47E-03EF-4A60-93D1-D0E3F2FC5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Produce an independent measurement protocol, raw data and repeatability test.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3AA43B-ACE8-4D93-8F3D-1D1B96637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44AABC2E-1281-48C9-930A-DD1B9230B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B9CEE19-D199-4533-BB80-F15D939FF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391DBA8-CDBE-4B6F-95E7-1295571B8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 every claim limitation to evidence and counsel's conclusion.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9E75A7C6-F5DD-4C7D-BD29-A05A332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Market sales can be attributed only after product identity and claim mapping are controlled.</a:t>
            </a:r>
          </a:p>
        </p:txBody>
      </p:sp>
    </p:spTree>
    <p:extLst>
      <p:ext uri="{BB962C8B-B14F-4D97-AF65-F5344CB8AC3E}">
        <p14:creationId xmlns:p14="http://schemas.microsoft.com/office/powerpoint/2010/main" val="798007136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4E74E92-7E1D-492B-8A91-EF768DAB7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3B47B44-0420-4C8E-A32F-C79B25830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Commercialisation starts with hard gates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4EDF62B-B44F-46C1-8A61-D01FFC92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1DD33C3-9FA9-4E2E-B406-0B0772702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52C85D1D-3A37-4D16-82F9-AB65CA7C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AC2765-8C3B-4ABF-BC86-2DEACF5A1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BA3B966-63E0-4856-B11B-9DCF00389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8DD3F24-29F7-49B3-A872-24765C11D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BAA7383-1C40-4794-B71D-9D2D30BF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right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94BA6F8-628D-4D43-905B-EE4237884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outreach without country-specific title, validity, encumbrance and deadline information.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BD47B64-1E07-4512-AFE5-1668402505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FE1454-DF6E-49B0-83CF-DA13C44B3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3A19E6-36C9-418C-9EF5-084D29AEC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Confirm the product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90CB4D72-38DC-4A92-908B-49A6BFE83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No assertion without a product sample, claim chart and documentation of the local act.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5798E7D-735F-470E-BAB6-77CE24E29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4AE90E0-A99D-488F-BD32-A67E61CBF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949FB17-619C-4340-B8E1-EE3DD208E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Score the target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F26E67B-46BE-449E-94FA-B84001AE1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Assess sales, evidence, counterparty, jurisdiction, cost and recoverability.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690EDBF-5BE1-4D76-8C62-7DE17D0A96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CA3C1DA4-52CF-4B8E-84B1-166910BF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6472916-3865-4B11-A809-9F7EC352E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 a pilot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67BD1E65-2483-4602-9E7C-983388830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Negotiate licence, settlement, assignment or financing options under controlled conditions.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7F53E11-AD05-4B4B-A1CD-7371D9872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An outreach letter does not automatically interrupt limitation or prove service of notice.</a:t>
            </a:r>
          </a:p>
        </p:txBody>
      </p:sp>
    </p:spTree>
    <p:extLst>
      <p:ext uri="{BB962C8B-B14F-4D97-AF65-F5344CB8AC3E}">
        <p14:creationId xmlns:p14="http://schemas.microsoft.com/office/powerpoint/2010/main" val="897283177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840ACC2-9B55-4FEB-87BE-6DA290C81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COMMERCIALISATION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B50B9-1DE3-45CC-B8E7-CE7DE20EF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Routes differ in cash flow, control and risk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374E019-D191-44C2-92B3-BF7305912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8C6B870-6E89-4E30-B0BD-15BF53D8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5A0C9BD-5588-43B1-8080-D74E1AEB5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015199F-A03A-44B1-AD47-92F625412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Route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Cash flow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Key risk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Licence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recurring royalty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Royalty-base audit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Settlement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Lump sum / phased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No automatic precedent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Assignment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Purchase price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Future upside is transferred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 financing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 or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value and controls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Litigation financing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Capital tied to 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High cost and outcome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5603DA1-321E-4576-8578-650BDC31D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Choose a route only after the right, counterparty, cash flow and downside have been verified.</a:t>
            </a:r>
          </a:p>
        </p:txBody>
      </p:sp>
    </p:spTree>
    <p:extLst>
      <p:ext uri="{BB962C8B-B14F-4D97-AF65-F5344CB8AC3E}">
        <p14:creationId xmlns:p14="http://schemas.microsoft.com/office/powerpoint/2010/main" val="1027110735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6BE0EE7-9AF2-4C42-9B30-B55A13944E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FINANCIAL MODEL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0A91FA2-9364-477D-BECC-249C82702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The financial model begins with verifiable inputs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060FF19-5B57-435C-94CA-43CBA3839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16EC863-0A26-4A32-A988-4AF48554E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7A9A2FF-6D6C-440D-A233-3EFFDEC5EB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6245D8E-E56C-47FC-9945-B24B2851E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Input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Source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Country-specific relevant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Authority / counterparty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Counsel-reviewed product 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or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/ legal analysis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 and recoverability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Proceeding and counterparty analysis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and taxes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Budget / tax adviser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Discount rate and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8292C62-DF71-47E5-A6ED-0807C4F3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A lender-ready NPV cannot be derived from the current public package.</a:t>
            </a:r>
          </a:p>
        </p:txBody>
      </p:sp>
    </p:spTree>
    <p:extLst>
      <p:ext uri="{BB962C8B-B14F-4D97-AF65-F5344CB8AC3E}">
        <p14:creationId xmlns:p14="http://schemas.microsoft.com/office/powerpoint/2010/main" val="306396979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B21BE4E-4209-42B4-901C-CAA2E1946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SENSITIVITIES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DFD1891-80D0-4D6A-8BF4-3BD566375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Sensitivities must be tied to real risks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9A0504-21B9-4A6D-98DF-C5D71AC74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7172531-455B-472B-92C7-B4227B024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8718605-213E-4303-8A65-D70F17ECF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E45207E-B68D-4548-9D15-30BD95700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Driver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Jurisdictions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Confirmed country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Prioritised countries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Broader verified coverage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One product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Validated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Broad but documented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/ damages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Expert-supported lower bound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Comparable terms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Verified upper bound only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Timing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Appeal and prolonged collection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 path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structure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Full litigation budget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Limited pilot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Costs covered by counterparty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ABE7E0-E77A-4A8C-ACBE-A52F9E38C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No percentages are entered before source evidence; this slide defines the scenario structure.</a:t>
            </a:r>
          </a:p>
        </p:txBody>
      </p:sp>
    </p:spTree>
    <p:extLst>
      <p:ext uri="{BB962C8B-B14F-4D97-AF65-F5344CB8AC3E}">
        <p14:creationId xmlns:p14="http://schemas.microsoft.com/office/powerpoint/2010/main" val="1877180800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FD3980-4153-4F64-8FD1-436A29028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REVIEWER QUESTIONS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8BCA060-D1AA-4031-83CC-4DAD9E324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Five questions determine the lender's next decision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36A6D5C-AE7B-4AFE-8B11-AB3153BF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5B63B4C-B9E6-4ECA-8254-9AD840CF1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6739B54-953F-4854-9E03-C26510514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1517517-E470-4FED-A1E3-157E3D25A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Question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Required answer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exactly is owned, and where is it enforceable?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Signed rights matrix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Which product satisfies which claim limitations?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independent test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are the verified relevant sales?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Product–country–period 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From where and when does debt-service cash arise?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payments, forecast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What does the collateral realise in a downside case?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value + realisation path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896ACE9-6744-45CC-88A1-7378AB353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If any one answer remains materially open, financing must be conditional and phased.</a:t>
            </a:r>
          </a:p>
        </p:txBody>
      </p:sp>
    </p:spTree>
    <p:extLst>
      <p:ext uri="{BB962C8B-B14F-4D97-AF65-F5344CB8AC3E}">
        <p14:creationId xmlns:p14="http://schemas.microsoft.com/office/powerpoint/2010/main" val="879937939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A2C1441-25D5-40B4-A7E6-E4D8D582F8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EVIDENCE REQUESTS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0D8EAE-E86F-4E1C-A183-D57A5801A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Missing evidence is prioritised by impact, not ease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252A1B3-BF78-4415-B944-D66EA7CA9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6B13001-80A3-4900-B35F-341654C2F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FCD7D367-AA21-4CC9-9C45-162C238EB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3B3ACBEF-AEA4-4DE5-B599-0FBD12173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Priority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Evidence item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Decision impact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Title, transfers, encumbrances, renewal fees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Existing and controllable right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Product samples, tests and claim charts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Technical applicability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 sales and counterparty 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Royalty base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Contracts, receivables and payments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Debt-service capacity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Financial statements, debt, budget and funding need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Company and credit risk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Independent IP/company valuation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Collateral and price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0DB4CD-B239-4F7D-BE31-4EBA89F08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public package shows the gaps; confidential evidence belongs in an access-controlled data room.</a:t>
            </a:r>
          </a:p>
        </p:txBody>
      </p:sp>
    </p:spTree>
    <p:extLst>
      <p:ext uri="{BB962C8B-B14F-4D97-AF65-F5344CB8AC3E}">
        <p14:creationId xmlns:p14="http://schemas.microsoft.com/office/powerpoint/2010/main" val="421166724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2E755CEE-ED7A-497A-B5CF-D9913D63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NEXT STEPS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0EB8F58-19B9-405F-8644-1E67E32CF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First-donor conversion sprint · next 90 days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7E76773-7962-4656-B2CE-EDEB8AF9F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F097734-2B3A-4484-ADA1-DDF8A3D8F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357EC04-21B3-44B6-877F-8C44EB030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Independent public evidence summary · 2026.08.03-43 · 2026-08-03 · Sources: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DABD792A-0781-480E-A6FF-668360CC6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6FBA9487-0B75-43D3-B95A-53DF63C5F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788FAE0-C433-4DB9-9062-424F7B75F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6657DA2-8145-40BA-A2F3-CF62A819D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0–30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C542AB6-D17D-4370-9C28-45F6F6D8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1048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New Zealand: NZD 183.371m/197.070m net border proxies are D10 diagnostics only; a same-boundary retail bridge is required. Canada: NAICS 459999, precision and transaction-stage gaps require an independent POS/retail route.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C267C46-002F-4DF8-9321-D7C889721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175EA92-BD15-46F7-9693-909671758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404C77A5-85F3-4817-A423-660604698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31–60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A580818-E4D3-461E-B56B-4C1D201F4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Poland: official 2020–2023 e-liquid flow and a 2025 broad vaporisation-device-group tax bridge. The e-cigarette/heater/multifunction split, retail value and an actual donor candidate are missing.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E315B5A1-136E-4674-9F05-4157C84F8E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CAFFB8ED-8BE6-4BDF-A598-991DE3E1C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9A56C01F-C3E4-43B5-A1C9-DB33CBC03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Days 61–90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9817C5D-BC78-42E0-86EF-C2DDED39F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3 August: the full Germany extract was audited privately; all three preregistered numerical tests passed and values remain withheld. Euromonitor is 1/6 and NOT SCORED; Germany is not a donor. Wider 25/50/78-country package HOLD.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08D6C6C9-13C2-44AA-B85E-50E1A302D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5EC4B7F9-63AC-49C8-9752-56908EF62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B3DE3E5-D6A4-4B00-908B-33B12B6C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47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Decision gate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BEED5EF7-EA3D-4C75-928F-79EAA0244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Accept a donor only if all ten criteria pass. Otherwise retain 0/3 and not_computed.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2452359A-61C1-43F0-969B-6DF3B6B09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The daily package is generated at most once per Asia/Nicosia calendar day; the dashboard may update intraday.</a:t>
            </a:r>
          </a:p>
        </p:txBody>
      </p:sp>
    </p:spTree>
    <p:extLst>
      <p:ext uri="{BB962C8B-B14F-4D97-AF65-F5344CB8AC3E}">
        <p14:creationId xmlns:p14="http://schemas.microsoft.com/office/powerpoint/2010/main" val="1551291873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D8564C6-F0E5-4F84-A931-488142A5E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DECISION FRAMEWORK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796B407-114A-48D0-90B6-400C3B6F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1261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 lender-ready case is an evidence chain — not the largest possible market number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17762B5-35F7-4EB3-9D7D-DAC6D09871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Strong starting point: a documented patent core and official German legal evidence.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Critical open work: national rights, claim-mapped sales, cash flow and downside value.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Recommendation: conditional 90-day diligence, clear decision gates and an access-controlled data room.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This public package is a reviewable evidence map, not Pixan Oy's official position or a financing recommendation.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B54FC56-275F-4C8A-ABCD-33E9A5306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Version 2026.08.03-43 · 2026-08-03 · 30 / 30</a:t>
            </a:r>
          </a:p>
        </p:txBody>
      </p:sp>
    </p:spTree>
    <p:extLst>
      <p:ext uri="{BB962C8B-B14F-4D97-AF65-F5344CB8AC3E}">
        <p14:creationId xmlns:p14="http://schemas.microsoft.com/office/powerpoint/2010/main" val="101273956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2026-08-03T15:43:54.8730000Z</dcterms:created>
  <dcterms:modified xsi:type="dcterms:W3CDTF">2026-08-03T15:43:54.8730000Z</dcterms:modified>
</coreProperties>
</file>