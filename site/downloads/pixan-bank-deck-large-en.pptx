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fd6df35f06d4f17" /><Relationship Type="http://schemas.openxmlformats.org/officeDocument/2006/relationships/extended-properties" Target="/docProps/app.xml" Id="Re3cfc8b4d81a40b7" /><Relationship Type="http://schemas.openxmlformats.org/officeDocument/2006/relationships/officeDocument" Target="/ppt/presentation.xml" Id="R7ea31e60cc34451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0330a7e13f54953"/>
  </p:sldMasterIdLst>
  <p:notesMasterIdLst>
    <p:notesMasterId xmlns:r="http://schemas.openxmlformats.org/officeDocument/2006/relationships" r:id="R672a702dbe5d4b32"/>
  </p:notesMasterIdLst>
  <p:sldIdLst>
    <p:sldId xmlns:r="http://schemas.openxmlformats.org/officeDocument/2006/relationships" id="256" r:id="R91250c3b95cb4e1d"/>
    <p:sldId xmlns:r="http://schemas.openxmlformats.org/officeDocument/2006/relationships" id="257" r:id="Rdd6379e38add46f9"/>
    <p:sldId xmlns:r="http://schemas.openxmlformats.org/officeDocument/2006/relationships" id="258" r:id="Ra45c50a4c8b84fbc"/>
    <p:sldId xmlns:r="http://schemas.openxmlformats.org/officeDocument/2006/relationships" id="259" r:id="R7ddb70cef5844162"/>
    <p:sldId xmlns:r="http://schemas.openxmlformats.org/officeDocument/2006/relationships" id="260" r:id="R46020c38b0bc467e"/>
    <p:sldId xmlns:r="http://schemas.openxmlformats.org/officeDocument/2006/relationships" id="261" r:id="Rd008f2dbb3ea4e0f"/>
    <p:sldId xmlns:r="http://schemas.openxmlformats.org/officeDocument/2006/relationships" id="262" r:id="R5f6e72d6df6b4924"/>
    <p:sldId xmlns:r="http://schemas.openxmlformats.org/officeDocument/2006/relationships" id="263" r:id="Rbe6ebe7c5f8948b2"/>
    <p:sldId xmlns:r="http://schemas.openxmlformats.org/officeDocument/2006/relationships" id="264" r:id="Rf10bf98b685f4333"/>
    <p:sldId xmlns:r="http://schemas.openxmlformats.org/officeDocument/2006/relationships" id="265" r:id="R7eeab2eecbbc4bdc"/>
    <p:sldId xmlns:r="http://schemas.openxmlformats.org/officeDocument/2006/relationships" id="266" r:id="R02786d441bad4293"/>
    <p:sldId xmlns:r="http://schemas.openxmlformats.org/officeDocument/2006/relationships" id="267" r:id="R0115a8dd31d84e97"/>
    <p:sldId xmlns:r="http://schemas.openxmlformats.org/officeDocument/2006/relationships" id="268" r:id="R23c546e2302d4d32"/>
    <p:sldId xmlns:r="http://schemas.openxmlformats.org/officeDocument/2006/relationships" id="269" r:id="Rb2a5f780b9174b01"/>
    <p:sldId xmlns:r="http://schemas.openxmlformats.org/officeDocument/2006/relationships" id="270" r:id="Rc5bc18eb5c554381"/>
    <p:sldId xmlns:r="http://schemas.openxmlformats.org/officeDocument/2006/relationships" id="271" r:id="R747d04ad50854fe3"/>
    <p:sldId xmlns:r="http://schemas.openxmlformats.org/officeDocument/2006/relationships" id="272" r:id="R128f677e04f04c1f"/>
    <p:sldId xmlns:r="http://schemas.openxmlformats.org/officeDocument/2006/relationships" id="273" r:id="R13ec75747b884711"/>
    <p:sldId xmlns:r="http://schemas.openxmlformats.org/officeDocument/2006/relationships" id="274" r:id="R73c5d30d53a641a4"/>
    <p:sldId xmlns:r="http://schemas.openxmlformats.org/officeDocument/2006/relationships" id="275" r:id="Rb8979943f4ec4fad"/>
    <p:sldId xmlns:r="http://schemas.openxmlformats.org/officeDocument/2006/relationships" id="276" r:id="R9aae54a223f645e6"/>
    <p:sldId xmlns:r="http://schemas.openxmlformats.org/officeDocument/2006/relationships" id="277" r:id="R4304fe970279481c"/>
    <p:sldId xmlns:r="http://schemas.openxmlformats.org/officeDocument/2006/relationships" id="278" r:id="R50a7c08401564e02"/>
    <p:sldId xmlns:r="http://schemas.openxmlformats.org/officeDocument/2006/relationships" id="279" r:id="R445c8dbcb22e452a"/>
    <p:sldId xmlns:r="http://schemas.openxmlformats.org/officeDocument/2006/relationships" id="280" r:id="R7c0dffd105744fcb"/>
    <p:sldId xmlns:r="http://schemas.openxmlformats.org/officeDocument/2006/relationships" id="281" r:id="R4fbb16a5f14e4851"/>
    <p:sldId xmlns:r="http://schemas.openxmlformats.org/officeDocument/2006/relationships" id="282" r:id="Rc041e4eaaa24480a"/>
    <p:sldId xmlns:r="http://schemas.openxmlformats.org/officeDocument/2006/relationships" id="283" r:id="R47f0275a0edf4b1d"/>
    <p:sldId xmlns:r="http://schemas.openxmlformats.org/officeDocument/2006/relationships" id="284" r:id="R4b3f215c1953430e"/>
    <p:sldId xmlns:r="http://schemas.openxmlformats.org/officeDocument/2006/relationships" id="285" r:id="Re27f505ac9814631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a2500937fc24ccb" /><Relationship Type="http://schemas.openxmlformats.org/officeDocument/2006/relationships/slideMaster" Target="/ppt/slideMasters/slideMaster1.xml" Id="R90330a7e13f54953" /><Relationship Type="http://schemas.openxmlformats.org/officeDocument/2006/relationships/notesMaster" Target="/ppt/notesMasters/notesMaster1.xml" Id="R672a702dbe5d4b32" /><Relationship Type="http://schemas.openxmlformats.org/officeDocument/2006/relationships/presProps" Target="/ppt/presProps.xml" Id="Rad15e35b2e114995" /><Relationship Type="http://schemas.openxmlformats.org/officeDocument/2006/relationships/viewProps" Target="/ppt/viewProps.xml" Id="R5fbcbb1076724d34" /><Relationship Type="http://schemas.openxmlformats.org/officeDocument/2006/relationships/tableStyles" Target="/ppt/tableStyles.xml" Id="Rb12370380eb04665" /><Relationship Type="http://schemas.openxmlformats.org/officeDocument/2006/relationships/slide" Target="/ppt/slides/slide1.xml" Id="R91250c3b95cb4e1d" /><Relationship Type="http://schemas.openxmlformats.org/officeDocument/2006/relationships/slide" Target="/ppt/slides/slide2.xml" Id="Rdd6379e38add46f9" /><Relationship Type="http://schemas.openxmlformats.org/officeDocument/2006/relationships/slide" Target="/ppt/slides/slide3.xml" Id="Ra45c50a4c8b84fbc" /><Relationship Type="http://schemas.openxmlformats.org/officeDocument/2006/relationships/slide" Target="/ppt/slides/slide4.xml" Id="R7ddb70cef5844162" /><Relationship Type="http://schemas.openxmlformats.org/officeDocument/2006/relationships/slide" Target="/ppt/slides/slide5.xml" Id="R46020c38b0bc467e" /><Relationship Type="http://schemas.openxmlformats.org/officeDocument/2006/relationships/slide" Target="/ppt/slides/slide6.xml" Id="Rd008f2dbb3ea4e0f" /><Relationship Type="http://schemas.openxmlformats.org/officeDocument/2006/relationships/slide" Target="/ppt/slides/slide7.xml" Id="R5f6e72d6df6b4924" /><Relationship Type="http://schemas.openxmlformats.org/officeDocument/2006/relationships/slide" Target="/ppt/slides/slide8.xml" Id="Rbe6ebe7c5f8948b2" /><Relationship Type="http://schemas.openxmlformats.org/officeDocument/2006/relationships/slide" Target="/ppt/slides/slide9.xml" Id="Rf10bf98b685f4333" /><Relationship Type="http://schemas.openxmlformats.org/officeDocument/2006/relationships/slide" Target="/ppt/slides/slide10.xml" Id="R7eeab2eecbbc4bdc" /><Relationship Type="http://schemas.openxmlformats.org/officeDocument/2006/relationships/slide" Target="/ppt/slides/slide11.xml" Id="R02786d441bad4293" /><Relationship Type="http://schemas.openxmlformats.org/officeDocument/2006/relationships/slide" Target="/ppt/slides/slide12.xml" Id="R0115a8dd31d84e97" /><Relationship Type="http://schemas.openxmlformats.org/officeDocument/2006/relationships/slide" Target="/ppt/slides/slide13.xml" Id="R23c546e2302d4d32" /><Relationship Type="http://schemas.openxmlformats.org/officeDocument/2006/relationships/slide" Target="/ppt/slides/slide14.xml" Id="Rb2a5f780b9174b01" /><Relationship Type="http://schemas.openxmlformats.org/officeDocument/2006/relationships/slide" Target="/ppt/slides/slide15.xml" Id="Rc5bc18eb5c554381" /><Relationship Type="http://schemas.openxmlformats.org/officeDocument/2006/relationships/slide" Target="/ppt/slides/slide16.xml" Id="R747d04ad50854fe3" /><Relationship Type="http://schemas.openxmlformats.org/officeDocument/2006/relationships/slide" Target="/ppt/slides/slide17.xml" Id="R128f677e04f04c1f" /><Relationship Type="http://schemas.openxmlformats.org/officeDocument/2006/relationships/slide" Target="/ppt/slides/slide18.xml" Id="R13ec75747b884711" /><Relationship Type="http://schemas.openxmlformats.org/officeDocument/2006/relationships/slide" Target="/ppt/slides/slide19.xml" Id="R73c5d30d53a641a4" /><Relationship Type="http://schemas.openxmlformats.org/officeDocument/2006/relationships/slide" Target="/ppt/slides/slide20.xml" Id="Rb8979943f4ec4fad" /><Relationship Type="http://schemas.openxmlformats.org/officeDocument/2006/relationships/slide" Target="/ppt/slides/slide21.xml" Id="R9aae54a223f645e6" /><Relationship Type="http://schemas.openxmlformats.org/officeDocument/2006/relationships/slide" Target="/ppt/slides/slide22.xml" Id="R4304fe970279481c" /><Relationship Type="http://schemas.openxmlformats.org/officeDocument/2006/relationships/slide" Target="/ppt/slides/slide23.xml" Id="R50a7c08401564e02" /><Relationship Type="http://schemas.openxmlformats.org/officeDocument/2006/relationships/slide" Target="/ppt/slides/slide24.xml" Id="R445c8dbcb22e452a" /><Relationship Type="http://schemas.openxmlformats.org/officeDocument/2006/relationships/slide" Target="/ppt/slides/slide25.xml" Id="R7c0dffd105744fcb" /><Relationship Type="http://schemas.openxmlformats.org/officeDocument/2006/relationships/slide" Target="/ppt/slides/slide26.xml" Id="R4fbb16a5f14e4851" /><Relationship Type="http://schemas.openxmlformats.org/officeDocument/2006/relationships/slide" Target="/ppt/slides/slide27.xml" Id="Rc041e4eaaa24480a" /><Relationship Type="http://schemas.openxmlformats.org/officeDocument/2006/relationships/slide" Target="/ppt/slides/slide28.xml" Id="R47f0275a0edf4b1d" /><Relationship Type="http://schemas.openxmlformats.org/officeDocument/2006/relationships/slide" Target="/ppt/slides/slide29.xml" Id="R4b3f215c1953430e" /><Relationship Type="http://schemas.openxmlformats.org/officeDocument/2006/relationships/slide" Target="/ppt/slides/slide30.xml" Id="Re27f505ac981463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146b73bb21e4c4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7c7e076f5f84fd6" /><Relationship Type="http://schemas.openxmlformats.org/officeDocument/2006/relationships/notesMaster" Target="/ppt/notesMasters/notesMaster1.xml" Id="Rf4ebfb09ccfc442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3783048c5874e1f" /><Relationship Type="http://schemas.openxmlformats.org/officeDocument/2006/relationships/notesMaster" Target="/ppt/notesMasters/notesMaster1.xml" Id="R05dd4202c9ee480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caeb988b7a2444a" /><Relationship Type="http://schemas.openxmlformats.org/officeDocument/2006/relationships/notesMaster" Target="/ppt/notesMasters/notesMaster1.xml" Id="R40edfd99584a434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0732675352e4763" /><Relationship Type="http://schemas.openxmlformats.org/officeDocument/2006/relationships/notesMaster" Target="/ppt/notesMasters/notesMaster1.xml" Id="R01ba718b4e64428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351f2221563490b" /><Relationship Type="http://schemas.openxmlformats.org/officeDocument/2006/relationships/notesMaster" Target="/ppt/notesMasters/notesMaster1.xml" Id="R1b9c23d93d5c40a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70dfd03dd454c67" /><Relationship Type="http://schemas.openxmlformats.org/officeDocument/2006/relationships/notesMaster" Target="/ppt/notesMasters/notesMaster1.xml" Id="Rf27ed67cdec24db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2cbab73bad8422a" /><Relationship Type="http://schemas.openxmlformats.org/officeDocument/2006/relationships/notesMaster" Target="/ppt/notesMasters/notesMaster1.xml" Id="Rf36ce5eb503a439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0e885befd5649d4" /><Relationship Type="http://schemas.openxmlformats.org/officeDocument/2006/relationships/notesMaster" Target="/ppt/notesMasters/notesMaster1.xml" Id="R35a28c19f22f4b9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d590a15f05345d1" /><Relationship Type="http://schemas.openxmlformats.org/officeDocument/2006/relationships/notesMaster" Target="/ppt/notesMasters/notesMaster1.xml" Id="R77f6041508b447c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a3f31ca8ba04c01" /><Relationship Type="http://schemas.openxmlformats.org/officeDocument/2006/relationships/notesMaster" Target="/ppt/notesMasters/notesMaster1.xml" Id="R163daaff50bb477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4e49ef329214923" /><Relationship Type="http://schemas.openxmlformats.org/officeDocument/2006/relationships/notesMaster" Target="/ppt/notesMasters/notesMaster1.xml" Id="R1c49529e1b86472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88ff1500c5d47ed" /><Relationship Type="http://schemas.openxmlformats.org/officeDocument/2006/relationships/notesMaster" Target="/ppt/notesMasters/notesMaster1.xml" Id="Ra602b400279e407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4cf28dedb624c7f" /><Relationship Type="http://schemas.openxmlformats.org/officeDocument/2006/relationships/notesMaster" Target="/ppt/notesMasters/notesMaster1.xml" Id="R799383d2451d450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02e1065a59740fb" /><Relationship Type="http://schemas.openxmlformats.org/officeDocument/2006/relationships/notesMaster" Target="/ppt/notesMasters/notesMaster1.xml" Id="R1c88792fa4af4c65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ae3d6ab774e483d" /><Relationship Type="http://schemas.openxmlformats.org/officeDocument/2006/relationships/notesMaster" Target="/ppt/notesMasters/notesMaster1.xml" Id="R2143bef35a014f4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b6de59dc64094542" /><Relationship Type="http://schemas.openxmlformats.org/officeDocument/2006/relationships/notesMaster" Target="/ppt/notesMasters/notesMaster1.xml" Id="Rc7275841fca84d89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9e42cdb191f49ea" /><Relationship Type="http://schemas.openxmlformats.org/officeDocument/2006/relationships/notesMaster" Target="/ppt/notesMasters/notesMaster1.xml" Id="R62c6cd73e71a40dc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14e01fd9031c4470" /><Relationship Type="http://schemas.openxmlformats.org/officeDocument/2006/relationships/notesMaster" Target="/ppt/notesMasters/notesMaster1.xml" Id="R21fbebaedc124c3f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9f3b6fb3a1d44b78" /><Relationship Type="http://schemas.openxmlformats.org/officeDocument/2006/relationships/notesMaster" Target="/ppt/notesMasters/notesMaster1.xml" Id="Raabd515bdac64dac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a4af406d15f2483a" /><Relationship Type="http://schemas.openxmlformats.org/officeDocument/2006/relationships/notesMaster" Target="/ppt/notesMasters/notesMaster1.xml" Id="R4a2642600b9749e8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f8f5825176574bd8" /><Relationship Type="http://schemas.openxmlformats.org/officeDocument/2006/relationships/notesMaster" Target="/ppt/notesMasters/notesMaster1.xml" Id="Ra469f601fc6f45aa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574e6519b1134d02" /><Relationship Type="http://schemas.openxmlformats.org/officeDocument/2006/relationships/notesMaster" Target="/ppt/notesMasters/notesMaster1.xml" Id="R7432f114e86a4ec6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e6b0eeba02dd4c07" /><Relationship Type="http://schemas.openxmlformats.org/officeDocument/2006/relationships/notesMaster" Target="/ppt/notesMasters/notesMaster1.xml" Id="Ra6bd1c27beec42bd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ffa86f3524dd41a6" /><Relationship Type="http://schemas.openxmlformats.org/officeDocument/2006/relationships/notesMaster" Target="/ppt/notesMasters/notesMaster1.xml" Id="R128ee7de4ceb488c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f5897cb054a14d7e" /><Relationship Type="http://schemas.openxmlformats.org/officeDocument/2006/relationships/notesMaster" Target="/ppt/notesMasters/notesMaster1.xml" Id="Rc7a8ac68e2484183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c3c1e0f8a18f4743" /><Relationship Type="http://schemas.openxmlformats.org/officeDocument/2006/relationships/notesMaster" Target="/ppt/notesMasters/notesMaster1.xml" Id="R92ed873252ba4034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c6e2cffe71ba44d2" /><Relationship Type="http://schemas.openxmlformats.org/officeDocument/2006/relationships/notesMaster" Target="/ppt/notesMasters/notesMaster1.xml" Id="R762d305808aa4d63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9a52a26a5ba14cb4" /><Relationship Type="http://schemas.openxmlformats.org/officeDocument/2006/relationships/notesMaster" Target="/ppt/notesMasters/notesMaster1.xml" Id="Rdfa7df1411ec423f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33ee19ced5ea4b03" /><Relationship Type="http://schemas.openxmlformats.org/officeDocument/2006/relationships/notesMaster" Target="/ppt/notesMasters/notesMaster1.xml" Id="R70d1ed58caa14663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54654849b80f41bc" /><Relationship Type="http://schemas.openxmlformats.org/officeDocument/2006/relationships/notesMaster" Target="/ppt/notesMasters/notesMaster1.xml" Id="R5cc898b0d0d54be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a7d09983d904fd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7cb88a0c42461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88c20331026408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2f07009e548446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5ced22f4da45ab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15205436bd40af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40a400187314d1b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2c45bd2bd064418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8201c2b7604eca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35c39088c6640a4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c2540105afc4434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BAABC8D-3D0F-4AE2-ACB0-B6BE56226B40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318EA193-DBAD-4335-B926-42E1827359C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2807579-33AD-4D7D-8C2E-09AA1F6D8A4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B3005D7-212D-457F-A581-5012EF10575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8CB43B2-E122-4F7F-847E-703807E861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B58543D-BEEB-4B5F-BD92-AEBF27E317D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C8CAC14-DD06-403B-98EB-45EF1A2DF13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44DBB64-CFF9-4F28-A8B5-4FDE4F5CAF0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B8520B3-E6E8-4307-AB13-DA00CF81D63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5D38791-9CF0-4BBB-8067-9D6693BE2E1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4D168E-3D89-46A1-9192-B286A7DEB94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93189B9-24AA-4351-A9B9-888EB3CE08D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F36CD74-A166-4424-970E-25C192F5E5A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567363D-2369-4A8F-8AFB-783507FA1BD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FA7206A-73C0-438D-9167-5E2E8345F48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9432C32-C272-4B86-B757-E47BBE0004F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4B27DB3-D8E5-4055-880C-613AB9062DD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B92B08F7-360A-4E13-ADA8-4C558585FE51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79F3A50A-94F4-4F9A-974C-DD23073C6CA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AAA1CC7-6634-4050-8B70-DF1E24C9ECB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4810495-B1F5-42BA-B2EF-43F6F05BB02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1D0DC1A-BD61-42C7-9653-AC2B28EB210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D431A23-4C43-44CB-BBF3-58AE7C95A10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EA011230-7FE6-4F4E-972C-89F4B90111C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E06913C5-B19C-4164-B33F-C451C9FD8029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FFEB89E8-64AD-4C12-9DE7-11C61F43F97B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A6C103F1-90BA-458D-8045-B40E94B55F5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C365AA2-DE68-44F2-BD27-388B835CE94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3EB72308-EA4B-430D-9A28-C2E83FE546B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314A15F-8471-432D-96EC-17B538ED65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FCBCFD97-E6FF-453C-918B-C95041FD5D2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4633F264-80B1-4FC2-A4EA-F57E1925953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8FD1E70F-E809-4BD2-AFE8-EBE18914F6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9E32F459-5871-4120-949D-132724F7487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9E3D56C7-6C0E-45BF-929E-99D5D24E984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FB7BC12-5253-4F92-8BAB-AE2147182C6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4AF9D0-A94C-4A96-A494-8F3B8240F02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3EBF473-15FD-4307-B9C1-77937F3E3DE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17B471F2-1654-48D2-911D-2ED6633190F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753E52F-C21B-4F06-BDE5-66DF80A872C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C01EED6-3912-4580-9E3E-D12805D60ED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D0EE1DEE-3D93-45B8-BCA0-52901D13BF9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BAE7B6C-0913-484B-89CE-CB3B869943B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D4CF749-020E-4C3B-BD86-98DA1AE7B9C6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D79949E-115C-446E-BBCC-2D6F0144DA0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BCA2923-33A7-4138-AEE4-C930B1610B0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B413189-275F-4183-8407-91A969B683B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FD95F6C-D2A0-4D17-801E-AC4D5E14310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A292B62-3179-4CE2-8874-E90BD2E16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C401A5E3-7E11-4A15-A86B-1B57C9D8171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ACD97DF-ED6E-42C1-92AC-9DCF1F57762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9724F83-E5E2-435A-9D6C-A51E726F922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CA2688D-CBE7-454B-9DCE-DA146AE03A8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F06FD5BE-2337-46E0-94AD-1C379283D91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1E62DF53-B1D2-450D-B16F-E73B492B011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5766C48-F4A1-4FAF-B4AD-35A563DAD42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F9D3230-4522-47BA-B0B8-C9B279F67C7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7630D6F-B513-4156-B11E-B15E1B77AE4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c22ab2e01104136" /><Relationship Type="http://schemas.openxmlformats.org/officeDocument/2006/relationships/slideLayout" Target="/ppt/slideLayouts/slideLayout1.xml" Id="R8cb0909b719147e7" /><Relationship Type="http://schemas.openxmlformats.org/officeDocument/2006/relationships/slideLayout" Target="/ppt/slideLayouts/slideLayout2.xml" Id="R6cef53c5773643c2" /><Relationship Type="http://schemas.openxmlformats.org/officeDocument/2006/relationships/slideLayout" Target="/ppt/slideLayouts/slideLayout3.xml" Id="Rd5d56ff9be004685" /><Relationship Type="http://schemas.openxmlformats.org/officeDocument/2006/relationships/slideLayout" Target="/ppt/slideLayouts/slideLayout4.xml" Id="Rd000800aa5784fdd" /><Relationship Type="http://schemas.openxmlformats.org/officeDocument/2006/relationships/slideLayout" Target="/ppt/slideLayouts/slideLayout5.xml" Id="R705ebe3cbf0d4e08" /><Relationship Type="http://schemas.openxmlformats.org/officeDocument/2006/relationships/slideLayout" Target="/ppt/slideLayouts/slideLayout6.xml" Id="R4531d8f8bbe54f8e" /><Relationship Type="http://schemas.openxmlformats.org/officeDocument/2006/relationships/slideLayout" Target="/ppt/slideLayouts/slideLayout7.xml" Id="Rd8203013c6754e92" /><Relationship Type="http://schemas.openxmlformats.org/officeDocument/2006/relationships/slideLayout" Target="/ppt/slideLayouts/slideLayout8.xml" Id="R03ebaa6821aa4535" /><Relationship Type="http://schemas.openxmlformats.org/officeDocument/2006/relationships/slideLayout" Target="/ppt/slideLayouts/slideLayout9.xml" Id="R2e7d6d4cb06d470a" /><Relationship Type="http://schemas.openxmlformats.org/officeDocument/2006/relationships/slideLayout" Target="/ppt/slideLayouts/slideLayout10.xml" Id="R4beb182fbd804939" /><Relationship Type="http://schemas.openxmlformats.org/officeDocument/2006/relationships/slideLayout" Target="/ppt/slideLayouts/slideLayout11.xml" Id="R104b599208a348d4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82008837-FA19-415A-9DCE-6B7995F669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EF4D0CC-0F53-4DE3-96CF-ABE207DBF25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ACF7C47-0F7F-4FE3-B7A3-3119E21F0ECB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12AF831-9ABC-4603-8418-37529BFAC47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D6A8DD6-9E26-4966-A317-4F4A441F4500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cb0909b719147e7"/>
    <p:sldLayoutId xmlns:r="http://schemas.openxmlformats.org/officeDocument/2006/relationships" id="2147483650" r:id="R6cef53c5773643c2"/>
    <p:sldLayoutId xmlns:r="http://schemas.openxmlformats.org/officeDocument/2006/relationships" id="2147483651" r:id="Rd5d56ff9be004685"/>
    <p:sldLayoutId xmlns:r="http://schemas.openxmlformats.org/officeDocument/2006/relationships" id="2147483652" r:id="Rd000800aa5784fdd"/>
    <p:sldLayoutId xmlns:r="http://schemas.openxmlformats.org/officeDocument/2006/relationships" id="2147483653" r:id="R705ebe3cbf0d4e08"/>
    <p:sldLayoutId xmlns:r="http://schemas.openxmlformats.org/officeDocument/2006/relationships" id="2147483654" r:id="R4531d8f8bbe54f8e"/>
    <p:sldLayoutId xmlns:r="http://schemas.openxmlformats.org/officeDocument/2006/relationships" id="2147483655" r:id="Rd8203013c6754e92"/>
    <p:sldLayoutId xmlns:r="http://schemas.openxmlformats.org/officeDocument/2006/relationships" id="2147483656" r:id="R03ebaa6821aa4535"/>
    <p:sldLayoutId xmlns:r="http://schemas.openxmlformats.org/officeDocument/2006/relationships" id="2147483657" r:id="R2e7d6d4cb06d470a"/>
    <p:sldLayoutId xmlns:r="http://schemas.openxmlformats.org/officeDocument/2006/relationships" id="2147483658" r:id="R4beb182fbd804939"/>
    <p:sldLayoutId xmlns:r="http://schemas.openxmlformats.org/officeDocument/2006/relationships" id="2147483659" r:id="R104b599208a348d4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3ccc1fd605d432e" /><Relationship Type="http://schemas.openxmlformats.org/officeDocument/2006/relationships/notesSlide" Target="/ppt/notesSlides/notesSlide1.xml" Id="R964ee959b00f495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f86319c6b554d6e" /><Relationship Type="http://schemas.openxmlformats.org/officeDocument/2006/relationships/notesSlide" Target="/ppt/notesSlides/notesSlide2.xml" Id="R6798c4f2aa9848a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2505a6504494d99" /><Relationship Type="http://schemas.openxmlformats.org/officeDocument/2006/relationships/notesSlide" Target="/ppt/notesSlides/notesSlide3.xml" Id="R8d05ede06b2a491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2bf1dc633514424" /><Relationship Type="http://schemas.openxmlformats.org/officeDocument/2006/relationships/notesSlide" Target="/ppt/notesSlides/notesSlide4.xml" Id="R88e3b041fbbc412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42ebce3c811481a" /><Relationship Type="http://schemas.openxmlformats.org/officeDocument/2006/relationships/notesSlide" Target="/ppt/notesSlides/notesSlide5.xml" Id="R6c4b7f7cd1f64db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b4d682f7f4a47b7" /><Relationship Type="http://schemas.openxmlformats.org/officeDocument/2006/relationships/notesSlide" Target="/ppt/notesSlides/notesSlide6.xml" Id="R33a886bdbc864a6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e1d71d76da742d0" /><Relationship Type="http://schemas.openxmlformats.org/officeDocument/2006/relationships/notesSlide" Target="/ppt/notesSlides/notesSlide7.xml" Id="R2ca4ad7fdc6245f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b3f665ed6f848d9" /><Relationship Type="http://schemas.openxmlformats.org/officeDocument/2006/relationships/notesSlide" Target="/ppt/notesSlides/notesSlide8.xml" Id="R20a58870380c43b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45c085dacb54808" /><Relationship Type="http://schemas.openxmlformats.org/officeDocument/2006/relationships/notesSlide" Target="/ppt/notesSlides/notesSlide9.xml" Id="R4f0785b1d2bb4cc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c70d1945a1b4461" /><Relationship Type="http://schemas.openxmlformats.org/officeDocument/2006/relationships/notesSlide" Target="/ppt/notesSlides/notesSlide10.xml" Id="Rf35e6d11dc9b48f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62f620986f240cb" /><Relationship Type="http://schemas.openxmlformats.org/officeDocument/2006/relationships/notesSlide" Target="/ppt/notesSlides/notesSlide11.xml" Id="Refb1bb93de2844f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02d28961cc8476e" /><Relationship Type="http://schemas.openxmlformats.org/officeDocument/2006/relationships/notesSlide" Target="/ppt/notesSlides/notesSlide12.xml" Id="R78d892adae9d4b9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b874382b2384657" /><Relationship Type="http://schemas.openxmlformats.org/officeDocument/2006/relationships/notesSlide" Target="/ppt/notesSlides/notesSlide13.xml" Id="R92bffe4958b64ba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d32eafffd094a58" /><Relationship Type="http://schemas.openxmlformats.org/officeDocument/2006/relationships/notesSlide" Target="/ppt/notesSlides/notesSlide14.xml" Id="R677c246af080464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9af1e6241cf4e0f" /><Relationship Type="http://schemas.openxmlformats.org/officeDocument/2006/relationships/notesSlide" Target="/ppt/notesSlides/notesSlide15.xml" Id="Rfbc553adc10040b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0e729687c764873" /><Relationship Type="http://schemas.openxmlformats.org/officeDocument/2006/relationships/notesSlide" Target="/ppt/notesSlides/notesSlide16.xml" Id="R8e7914ced32945c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1ec18e539ab4c5a" /><Relationship Type="http://schemas.openxmlformats.org/officeDocument/2006/relationships/notesSlide" Target="/ppt/notesSlides/notesSlide17.xml" Id="Re90a9f7a9f644b64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2144ca5dba340a9" /><Relationship Type="http://schemas.openxmlformats.org/officeDocument/2006/relationships/notesSlide" Target="/ppt/notesSlides/notesSlide18.xml" Id="R864b88a2e2f64add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c64ad69fa7b408c" /><Relationship Type="http://schemas.openxmlformats.org/officeDocument/2006/relationships/notesSlide" Target="/ppt/notesSlides/notesSlide19.xml" Id="R80f0ff541cdc4aaa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af6b0ff774e48bd" /><Relationship Type="http://schemas.openxmlformats.org/officeDocument/2006/relationships/notesSlide" Target="/ppt/notesSlides/notesSlide20.xml" Id="R7c2ca966650e4d1c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6bee88bb68f4253" /><Relationship Type="http://schemas.openxmlformats.org/officeDocument/2006/relationships/notesSlide" Target="/ppt/notesSlides/notesSlide21.xml" Id="R8454ee8b43a0485b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2e7c4caa44a417b" /><Relationship Type="http://schemas.openxmlformats.org/officeDocument/2006/relationships/notesSlide" Target="/ppt/notesSlides/notesSlide22.xml" Id="R71a3b50ec13d413a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9c41a1484224c17" /><Relationship Type="http://schemas.openxmlformats.org/officeDocument/2006/relationships/notesSlide" Target="/ppt/notesSlides/notesSlide23.xml" Id="R88b2bc41f12948f7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986760486fa4867" /><Relationship Type="http://schemas.openxmlformats.org/officeDocument/2006/relationships/notesSlide" Target="/ppt/notesSlides/notesSlide24.xml" Id="R37d1cb31c72f4bf8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ef56283c5134fca" /><Relationship Type="http://schemas.openxmlformats.org/officeDocument/2006/relationships/notesSlide" Target="/ppt/notesSlides/notesSlide25.xml" Id="R6b90ebfbe6f540e1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0d2f960371a4ce8" /><Relationship Type="http://schemas.openxmlformats.org/officeDocument/2006/relationships/notesSlide" Target="/ppt/notesSlides/notesSlide26.xml" Id="Rbdc083e86bd845e1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13e62217173455c" /><Relationship Type="http://schemas.openxmlformats.org/officeDocument/2006/relationships/notesSlide" Target="/ppt/notesSlides/notesSlide27.xml" Id="Rb4c0478d7844499d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d4a00313f7345e5" /><Relationship Type="http://schemas.openxmlformats.org/officeDocument/2006/relationships/notesSlide" Target="/ppt/notesSlides/notesSlide28.xml" Id="Re6dd79adc24042ae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b0f48d666804357" /><Relationship Type="http://schemas.openxmlformats.org/officeDocument/2006/relationships/notesSlide" Target="/ppt/notesSlides/notesSlide29.xml" Id="R7ff97dd58a8c442c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744ff74d63f4943" /><Relationship Type="http://schemas.openxmlformats.org/officeDocument/2006/relationships/notesSlide" Target="/ppt/notesSlides/notesSlide30.xml" Id="R81ba87feb32645f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CDFD01A-FAF3-4CD6-A055-E766385FA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20DB5EF-5B9A-4A09-85F5-AE9B6FC15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PUBLIC EVIDENCE PACKAGE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6B6EC1D-3281-4BF7-8D0D-CB4BB308D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From patent to a lender-ready</a:t>
            </a:r>
            <a:br/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package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F62F838-FFF3-46EF-A848-C04BD23E7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Extended 30-slide reviewer and financing-decision package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7189FC58-5A0F-4092-9164-A66BE5857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8887B36-40AC-4A1E-8BBB-6EC6E6E5F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status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2BABF0C-2DF7-4A65-8AD0-041E559B5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2026.07.26-25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B607AF4-ABB2-405A-A020-46631FFAE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Updated 2026-07-26</a:t>
            </a:r>
            <a:br/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30 slides · English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68C1F43-0271-4164-9A1A-A683FDB67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Starting point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CD52267-8FC4-4F2B-B929-4A2DB74C2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1704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Confirmed evidence is separated from supported information, assumptions and missing evidence.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17B677B-5E50-4C81-8E0F-5BA6A4B8E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Not Pixan Oy's official position · not a valuation, investment, lending or legal opinion</a:t>
            </a:r>
          </a:p>
        </p:txBody>
      </p:sp>
    </p:spTree>
    <p:extLst>
      <p:ext uri="{BB962C8B-B14F-4D97-AF65-F5344CB8AC3E}">
        <p14:creationId xmlns:p14="http://schemas.microsoft.com/office/powerpoint/2010/main" val="47237699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5E73C5D-3689-4500-9D39-5842DC025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6120CE4-A2AF-40BE-A8E5-3B3F673B3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Financeability remains possible—not yet a conclusion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8127BB5-2397-4C0E-8168-EFD25AFF9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38B06F7-7917-4759-BD14-E712C852C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37CBFFD-DA17-4343-9E14-F255B4545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2026.07.26-25 · 2026-07-26 · Sources: EPO; Germany — official judgments;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6682363-1F40-47D2-A29D-09E025438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D55C3A0-F420-4052-8310-3D75CB711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Official patent and court sources justify further diligence; they do not yet establish collateral value or repayment.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30F6C44-63F6-4A10-87F3-DD70AB6A5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amended EP3032975B2 and two official German decisions anchor the legal evidence.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New Zealand's reproducible AIS/AVP subtotal is NZD 274,180,410.21; it passes 7/10, but D5 fails and D8/D10 remain open. The donor gate remains 0/3.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financing structure requires national rights, a claim-mapped-sales bridge, cash flow and an independent valuation.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75E9F9C5-2CC0-43BF-81E0-A827064C1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91BEE5B-6CFD-4191-8D25-BCFC79B4F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Recommendation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EA5030E-57BC-4694-986F-4C60CB6DB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Open a conditional 90-day diligence phase, not a final credit decision.</a:t>
            </a:r>
          </a:p>
        </p:txBody>
      </p:sp>
    </p:spTree>
    <p:extLst>
      <p:ext uri="{BB962C8B-B14F-4D97-AF65-F5344CB8AC3E}">
        <p14:creationId xmlns:p14="http://schemas.microsoft.com/office/powerpoint/2010/main" val="116487260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563B18C-7167-4687-82D3-FEDFE9F08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8089BAD-99B0-491E-B9BA-5E4DBF5C5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Three reasons to proceed—and three reasons to wait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422DB40-3EE8-4C85-8F5E-56EC457D7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B165788-DD23-4F38-92EA-77C240A17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FB97F9D-BDFD-4BCC-B49F-6ACF7C520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2026.07.26-25 · 2026-07-26 · Sources: EPO;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480567B-5D0C-4C4B-9D75-132210FBB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71"/>
                <a:gridCol w="4154944"/>
                <a:gridCol w="415494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Strong signal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it supports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it does not prove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central EPO opposition concluded with the patent maintained as amended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Documented patent core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validity and enforceability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Nullity action dismissed; appeal pending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validity signal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Finality or worldwide validity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products examined were found to infringe the patent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Product- and claim-specific signal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Another product, country or paid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B2C97FD-B3E7-4B5D-ABA2-1B4CB49E6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lender should price only the evidence for which title, enforceability and cash flow have been confirmed.</a:t>
            </a:r>
          </a:p>
        </p:txBody>
      </p:sp>
    </p:spTree>
    <p:extLst>
      <p:ext uri="{BB962C8B-B14F-4D97-AF65-F5344CB8AC3E}">
        <p14:creationId xmlns:p14="http://schemas.microsoft.com/office/powerpoint/2010/main" val="64541311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CA5F0DB-F54B-4718-A0A2-E7909C9D3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9226A72-7C04-4052-9686-F148EF635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evidence chain currently breaks before cash flow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66C91FA-F402-4054-8116-04331798D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7EB054F-0CE4-4140-8573-0AA39D4C3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E27BA54-25FF-428E-A4A7-75DC964EC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2026.07.26-25 · 2026-07-26 · Sources: Evidence Register;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EA8297E-7C02-456D-9EA5-E5124889A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50BB225-2D96-4D15-9F87-25C245B44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Patent → enforceable national right → relevant product → relevant sales → contract or judgment → payment → debt service.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DB80D02-35E5-4108-8B14-681BE7B96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beginning of the chain is partly confirmed by official sources.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product and sales link is confirmed only to a limited extent: Germany, 7 O 3341/24.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Evidence of contracts, payments, company finances and collateral value is missing from the public package.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3946D25E-719B-40C5-81FF-23A2A7FF1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1C21B89-0844-4597-8B32-042138C6F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Credit risk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D9A4C98-AED7-4C9E-9CD3-DBB6DB096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One unconfirmed link can reduce nominal market value to zero in a realisable downside scenario.</a:t>
            </a:r>
          </a:p>
        </p:txBody>
      </p:sp>
    </p:spTree>
    <p:extLst>
      <p:ext uri="{BB962C8B-B14F-4D97-AF65-F5344CB8AC3E}">
        <p14:creationId xmlns:p14="http://schemas.microsoft.com/office/powerpoint/2010/main" val="92884240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D09C662-D81C-4F56-A729-5E67B9193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SOLUTION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1C3FB55-E561-42EA-A68F-C7FAC7624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Resistance data drives the patented heating control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2DF46FA-88B5-4423-9C72-E312520A8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22468B1-1730-4837-96F3-B3D57C4F1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85755A1-A114-4C11-A8B6-B3883F49E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2026.07.26-25 · 2026-07-26 · Sources: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5976333-2B5E-4595-BB45-35697BCE8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01A1231-6DF9-45FF-AE09-74CEEB18D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627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published patent specification concerns control of an electrically powered vaporiser by measuring heating-element resistance, selecting the corresponding power from stored data and controlling power delivered to the heater within defined user-adjustment limits.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CCE6305-AF56-4E4E-BB1C-38CEC4804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419856"/>
            <a:ext cx="6629400" cy="2478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Measurement: heating-element resistance.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Data: stored resistance–power values.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Control: power delivered to the heater and the user-adjustment limits.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030C9C06-6668-4D9A-9131-F0B37764E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C7E04D1-8405-4A9B-B6E3-F9DE80BE9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Interpretive limit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5C3B482-C8CE-4874-983D-302FDC4D5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This plain-language description does not replace country-specific claim construction or product-specific claim analysis.</a:t>
            </a:r>
          </a:p>
        </p:txBody>
      </p:sp>
    </p:spTree>
    <p:extLst>
      <p:ext uri="{BB962C8B-B14F-4D97-AF65-F5344CB8AC3E}">
        <p14:creationId xmlns:p14="http://schemas.microsoft.com/office/powerpoint/2010/main" val="199960826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BC4A71C-998B-4645-909D-8282CC46D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79EB133-7EA9-46E0-85A2-824E225C1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nine B2 claims are the starting point for review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2A5FE8D-D3CB-4448-9229-5815CED64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108B73F-BE9C-40EF-99E3-9923D2E55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82E6CFC-E2F8-4517-9B67-87B7F240B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2026.07.26-25 · 2026-07-26 · Sources: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045E6A2-AD81-447A-808D-A97F9EF7B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2313"/>
                <a:gridCol w="5852568"/>
                <a:gridCol w="307507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Element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Public description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Diligence test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Controller / method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Control of an electric vaporiser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Which product version and country?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Resistance measurement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Heating-element resistance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How and when is it measured?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Stored values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Resistance–power mapping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Where is the data stored?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Non-proportional relationship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Defined nature of the power relationship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Is the claim limitation met?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Adjustment limits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Minimum and stored maximum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How does the interface implement the limits?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1AEC4C1-09D2-494D-A6BF-38479ED67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Every claim limitation must be evidenced; a feature list alone is insufficient.</a:t>
            </a:r>
          </a:p>
        </p:txBody>
      </p:sp>
    </p:spTree>
    <p:extLst>
      <p:ext uri="{BB962C8B-B14F-4D97-AF65-F5344CB8AC3E}">
        <p14:creationId xmlns:p14="http://schemas.microsoft.com/office/powerpoint/2010/main" val="119110529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BCF41E2-6E38-42B1-9B20-BE25328C8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291FA5C-1749-4434-A880-8AC4CB864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Core IP events are traceable to official records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3C1D28F-9A84-41A8-9C17-C70999520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66CB0D4-BE07-4463-9836-4E277B6BC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824B545-E5ED-4B20-BBA2-3C2BB9DBF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2026.07.26-25 · 2026-07-26 · Sources: EPO Register; 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7A0FF63-3482-4A94-A7D1-ADD3DA9B8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B4A94A4A-48D0-4801-8EF7-8ABB79AF3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667F6E4-E5D0-4B26-9053-A05EF46B5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14 August 2013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961C101F-FDDC-4012-81F8-E8641389B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earliest priority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AC95E02D-E297-4A92-86CE-1B48CDC47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56C8CDC-6B09-4B80-9449-177BE824F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24 April 2024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BAA0222-2351-4334-B45B-D0CFC98D6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B2 publication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88CD81F4-E35C-43C9-ADF4-84D8EB6D7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1D2B9B4A-92A5-4C1D-B7F5-A10637AF1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472DAF87-3224-4AEF-B969-5433D9A0D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amended claims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95A4CFBE-40C3-41B5-9030-749B03304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central EPO opposition and appeal proceedings have concluded; national post-grant status remains separate.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8809DB08-9D4B-4086-AF49-CDAC794C0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31BD6FF3-F031-4FB3-A28D-0A98B7372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D5FB9CD7-0B12-485A-8BBD-4ACA0F18E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National post-grant rights remain separate from the central EPO proceedings.</a:t>
            </a:r>
          </a:p>
        </p:txBody>
      </p:sp>
    </p:spTree>
    <p:extLst>
      <p:ext uri="{BB962C8B-B14F-4D97-AF65-F5344CB8AC3E}">
        <p14:creationId xmlns:p14="http://schemas.microsoft.com/office/powerpoint/2010/main" val="97685634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C66A6E7-5D34-47E5-99EC-2C55D39DA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GEOGRAPHIC COVERAGE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10A8E39-DEBC-4BB5-ABE6-3E58694DD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22 family publications do not prove enforceability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1D63B8A-2A85-4919-BCE8-EAD601126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947506C-B491-472B-8A9B-BEEA45F35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50FF44A-6D17-402A-8AEE-ADF1D8767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2026.07.26-25 · 2026-07-26 · Sources: EPO family; national registers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359063-1E4C-46F1-A99C-7CAF2190F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69333021-3227-4DAD-B8C4-1ABDB337F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C956181-15AF-4CA7-B1B2-0052EAE30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7A0DD0D-0D6C-4AA5-BD49-9DDA90859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family-publication records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DBF21192-03C1-4589-B913-45A5D5F87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D4E3B3D-83FE-4673-9803-E6D99BB61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1ACA8A1-325B-4081-8C72-210A281F0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identified proceedings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9F5CD70F-DD4B-4F9E-B6A2-DFCD71849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EDA32818-52B5-4D4F-82D8-AFB3F5EE5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88BC3607-63AF-4893-B7EE-BA5562FDB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official national-register checks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7F30BE1E-F553-4E01-8067-83E07FDD5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680F45ED-7783-42D0-8644-3A801D40D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?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8B83C444-7287-4EE5-8088-B290A8A2E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enforceable countries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06872294-A5DA-407F-92EF-692E1707B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publication route is a map, not proof of title or validity.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9D2CE942-4F1E-441C-AAF0-AA0C3F718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E79DA1EA-C754-4E7E-89AD-ED8AD5C9B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DE9292A4-99F2-4643-9E58-71C0DB22A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Counsel's country matrix should include proprietor, operative claims, renewal fee, receipt, encumbrances, UPC position and next deadline.</a:t>
            </a:r>
          </a:p>
        </p:txBody>
      </p:sp>
    </p:spTree>
    <p:extLst>
      <p:ext uri="{BB962C8B-B14F-4D97-AF65-F5344CB8AC3E}">
        <p14:creationId xmlns:p14="http://schemas.microsoft.com/office/powerpoint/2010/main" val="1531280974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B294FE6-EE9A-48CB-916B-6F2648FAB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LEGAL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8B1EBD3-FC5E-4BCB-B57E-B62B17757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 decisions are strong but narrowly scoped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D330D2A-BA67-4537-AC67-6BC303647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BCEE0B8-FCCC-4305-B325-7B8BEA3DA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3A8D17E-9B11-4ED9-8237-57434EF41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2026.07.26-25 · 2026-07-26 · Sources: Official judgments: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43743D7-0FDF-4051-8050-62A926F35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6604"/>
                <a:gridCol w="3589371"/>
                <a:gridCol w="444398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Reference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Official event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Scope and finality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6779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8 Ni 18/24 (EP)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Nullity action dismissed; appeal pending (14 January 2026)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official judgment dismissed the nullity action concerning the German part of EP3032975B2. The official register records an appeal to the Federal Court of Justice under case number X ZR 21/26. Not final while the BGH appeal is pending.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6779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 O 3341/24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products examined were found to infringe the patent (2 April 2026)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official judgment found that the products examined directly infringed claims 1 and 6 and indirectly infringed them in relation to supplementary components, and ordered the remedies listed in the judgment. The official judgment is available; appeal status, finality and enforcement have not been independently confirmed in this publication.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2B831B5-D0C9-4B91-8EEE-B5AF3E5F8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German evidence does not automatically extend to another product, counterparty or country.</a:t>
            </a:r>
          </a:p>
        </p:txBody>
      </p:sp>
    </p:spTree>
    <p:extLst>
      <p:ext uri="{BB962C8B-B14F-4D97-AF65-F5344CB8AC3E}">
        <p14:creationId xmlns:p14="http://schemas.microsoft.com/office/powerpoint/2010/main" val="2013690162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3A14811-3CA7-461E-9190-68F23FA04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LEGAL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FD4EC16-E4EC-440E-A808-534BFC0CE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Chinese matter is not an infringement victory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2C5C14D-BD0F-4C8D-8FFE-B4B3382DD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AE4FA61-39A8-4557-9979-CB300E318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08E40EB-FADF-44EC-A46C-0809AB5D0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2026.07.26-25 · 2026-07-26 · Sources: RPX; CNIPA guidance; EPO family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2DCF191-2539-4D78-9996-E392BAD16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1398F63-9F95-4D65-9730-BA304C00F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Public secondary docket information points to an applicant-side re-examination of a rejected application.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0822FF3-44BA-4C12-9800-7B5994958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proceeding is classified as a review-request matter.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official decision and detailed reasons were not obtained for the public package.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CN105764365B was later published as granted on 4 May 2021.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B5B315C8-21CB-4E6E-9C83-5B7CBCF4B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27EA143-66E9-4C8E-90F0-17511E6B1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Use limitation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5BECE4F-721A-4AD9-96A1-2F3639CE4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matter must not be described as Chinese infringement litigation, a counterparty invalidity action or cash-flow evidence.</a:t>
            </a:r>
          </a:p>
        </p:txBody>
      </p:sp>
    </p:spTree>
    <p:extLst>
      <p:ext uri="{BB962C8B-B14F-4D97-AF65-F5344CB8AC3E}">
        <p14:creationId xmlns:p14="http://schemas.microsoft.com/office/powerpoint/2010/main" val="166243878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9A3EB66-B152-4E02-B5CE-CA474EB18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8ADCE89-3D54-46ED-AA21-C5C2745B9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Four current IP alerts require a documented owner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5DFA0A9-85C8-4E05-884F-475E6ABA2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AC1ED71-CC76-4875-9C4F-82F939E97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76B0DFA-502A-4D93-98C1-7188118F0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2026.07.26-25 · 2026-07-26 · Sources: IP Australia; PRH; EPO; EPO / UPC; USPTO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1FEF084-0B34-4B99-8D77-DB8620202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8600"/>
                <a:gridCol w="1932166"/>
                <a:gridCol w="6859192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Country / region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Deadline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Action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Australia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14 August 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 the next Australian renewal immediately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31 August 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Finland's year-14 renewal fee is due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Europe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 August 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Reconcile every European national right before the payment cycle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United States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 December 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 and pay the United States 7.5-year maintenance fee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EDDE9CD-E650-42AC-9113-947785222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Deadline monitoring is an operational collateral-value control, not an administrative detail.</a:t>
            </a:r>
          </a:p>
        </p:txBody>
      </p:sp>
    </p:spTree>
    <p:extLst>
      <p:ext uri="{BB962C8B-B14F-4D97-AF65-F5344CB8AC3E}">
        <p14:creationId xmlns:p14="http://schemas.microsoft.com/office/powerpoint/2010/main" val="1252385186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782BC4E-0234-497E-96BF-7DE474207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2B8C711-E067-4D85-AE06-44F52D52B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Atlas: 195 countries—not a market value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C9CCC90-43D0-4FE2-9D3A-B68F208A2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1C30567-BC32-4700-A5E6-4FFC7AE63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7F349D5-C0F7-4295-A37D-384F02C9B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2026.07.26-25 · 2026-07-26 · Sources: UN; Atlas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FD92808-C9DA-4C41-9A83-2EA9F1D8E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351CCDE9-85D1-4CD3-9FA9-6FC4294E3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3EECFDE-C575-472D-ADA7-A856E8E39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652AA8A-4530-4AA6-88FA-5D5F6EA8E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A countries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20EB8E2A-5312-4332-A767-89FC7C3DA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4044830-D3A2-4A90-AEDA-D5E4C6911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23A0DAE-3061-47E0-A205-9EECEFCAD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B countries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F64029E4-185B-4302-B095-8456F8666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3D3465E9-EDCC-4095-9164-69D10A7FB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CD97560E-DEA0-48B3-8E67-150D3F833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C countries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3AF47778-DA07-4D6B-A934-A32761304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D0273013-769A-478B-B266-7FD676BA1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158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34B39180-D3EF-495C-8B49-C1FFAA9AD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D countries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7D75885E-6444-44EB-8711-99DE325AF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37 evidence observations; the UN component of the universe comprises 193 Member States.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7ADA349B-BC46-4C1E-82FF-3EB41D120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E72A7021-D53F-4FE2-B5F5-A4207B347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4793CAFE-53DB-44D1-8658-2F9C5BC2A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Grades A–D describe evidence maturity, not market size or commercial attractiveness.</a:t>
            </a:r>
          </a:p>
        </p:txBody>
      </p:sp>
    </p:spTree>
    <p:extLst>
      <p:ext uri="{BB962C8B-B14F-4D97-AF65-F5344CB8AC3E}">
        <p14:creationId xmlns:p14="http://schemas.microsoft.com/office/powerpoint/2010/main" val="952139042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48A344C-3B3F-46BD-A5B3-1ED93A2BC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14FF401-79E3-4971-9077-D1802AA1D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9875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34 market measures + 36 Swedish FHM register counts (not sales)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BBEA8B5-0E60-45BD-B43C-2D2095C2B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FA7148B-A296-4E21-A4EB-BF6AFA44F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616604F-77F5-4197-8F79-10BED5C41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2026.07.26-25 · 2026-07-26 · Sources: Statistics Canada; Health Canada; New Zealand Ministry of Health; Destatis; Vero; Sejm; FHM; FTC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E7BFC5B-1DED-45FF-8E07-93C6BBA7B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60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1944243"/>
                <a:gridCol w="768438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Country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Year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Official observation / supported model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Canada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2019–2025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StatsCan retail 2024: CAD 1.219160bn (≈EUR 822.6m; ECB 2024) / EUR 822.58m; monthly route +CAD 1,000. Canada 7/10; D5, D7 and D10 open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Germany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2023–2025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1.241m l → 1.518m l of taxed liquid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11,801.062 l; EUR 3.54m excise tax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New Zealand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2022–2024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identified AIS/AVP vaping subtotal NZD 274.180m (≈EUR 153.3m; ECB 2024): consumables 189.402 + devices/hardware 84.709 + mixed systems 0.069m. NZ 7/10; D5 failed, D8/D10 open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Poland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 / 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805,441 l; PLN 993.1m excise tax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United States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2015–2021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FTC: reported cartridge-system-plus-disposable sales reached USD 2.763bn (≈EUR 2.336bn; ECB 2021) in 2021; manufacturer reporting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78625A3-352C-4FE1-A449-C064BC81B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Litres, shipment values and excise taxes are not summed into one market.</a:t>
            </a:r>
          </a:p>
        </p:txBody>
      </p:sp>
    </p:spTree>
    <p:extLst>
      <p:ext uri="{BB962C8B-B14F-4D97-AF65-F5344CB8AC3E}">
        <p14:creationId xmlns:p14="http://schemas.microsoft.com/office/powerpoint/2010/main" val="1996232712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273BF43-3CF2-4ED5-836B-A4E25F5C4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CANADA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033A6C2-2427-4558-89FA-626DAB1D4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Canada 2024: strong point estimate, 7/10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FFD21B4-6232-4206-9573-985A73876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EA2C7FF-B6B5-4CB2-BC9D-0B5CD6770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3280670-6BB0-4A2F-9AEA-60348E43C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2026.07.26-25 · 2026-07-26 · Sources: Statistics Canada; Health Canada 2024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9C96A6D-90EC-4A0C-840E-A7C96AD10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1CEC7B6F-0B87-41A6-B48A-7DAF1967B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7BC8EE8-0170-483C-8E2A-03D407E62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CAD 1.219160bn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574D5E7-EB77-418F-927C-421EBDC6C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consumer retail · ≈EUR 822.6m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574D48C7-EA44-45A6-BA83-3B875DD4C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2DC19C7-4A14-4694-BE01-C8364C09D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CAD 1.160754bn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AD79AA3E-0FBA-4D4A-9625-C98E5912B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shipments · ≈EUR 783.2m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C5F47315-60AF-4AB4-9D5E-8C9A03505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2EAD98D-2C00-4933-9397-F608CA589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CAD 1,000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A8E4E8B6-C110-4EFF-8551-06194E463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monthly–quarterly gap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3FA9A530-4CC9-4CEB-AC56-F69E228C9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Retail is CAD 58.406m (+5.03%) above shipments. The residual is not margin or a market range; official tax evidence closes D8.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889E8F62-44D0-41FA-953A-4FF916465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F8064071-9E81-447B-A55F-A32A00D4F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3B027A68-5278-4B38-A0AB-33D119996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Canada passes 7/10. D5: NAICS 459993/459999 coverage. D7: exact annual error boundary missing. D10: different transaction stages remain unreconciled.</a:t>
            </a:r>
          </a:p>
        </p:txBody>
      </p:sp>
    </p:spTree>
    <p:extLst>
      <p:ext uri="{BB962C8B-B14F-4D97-AF65-F5344CB8AC3E}">
        <p14:creationId xmlns:p14="http://schemas.microsoft.com/office/powerpoint/2010/main" val="1825657669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15FEC82-5D8C-4173-9DE2-AD108BF86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GERMANY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ED0EE92-D7AC-4A3E-91A5-361E22D7E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Germany's liquid volume rose; value needs a price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46A3549-6C4E-4A91-84D1-9A5E0C22A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0322CDA-C7E4-471A-B305-CEF10EEF3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F4142C5-B94B-4E3D-8DFA-9525D8DAC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2026.07.26-25 · 2026-07-26 · Sources: Destatis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05A088C-09CC-4029-8671-EA2261082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362224"/>
                <a:gridCol w="3069857"/>
                <a:gridCol w="263130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Year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Taxed liquid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Excise tax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Finality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1.241m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201m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1.284m 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266m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1.518m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404m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Provisional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C8CD9E0-BB7E-44B1-8C94-226C21111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Taxed liquid volume excludes devices, tax-free and illicit trade and is not retail value.</a:t>
            </a:r>
          </a:p>
        </p:txBody>
      </p:sp>
    </p:spTree>
    <p:extLst>
      <p:ext uri="{BB962C8B-B14F-4D97-AF65-F5344CB8AC3E}">
        <p14:creationId xmlns:p14="http://schemas.microsoft.com/office/powerpoint/2010/main" val="1307340974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F326A39-6B08-47EA-9CA3-10382719C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MODELLING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7A84515-4112-4BC5-A002-8E112B6B6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Germany's range is modelled—not observed sales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11734FA-D9D1-4E82-9271-FF180020A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03DD469-93A3-443F-927C-4BFAEF52C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0F6EC0A-4B30-4507-B389-C921921A7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2026.07.26-25 · 2026-07-26 · Sources: Destatis; inTaste.de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84FECAC-E38A-4FFA-B906-E15B7315C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F1F5A64C-143F-42A6-B2AF-7C93EC69B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971B765-8DC7-4820-89A9-E9990CEA7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EUR 667.92m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1ED503E-58B0-47FA-A04F-1950F4D75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0.44/ml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225F0DA3-1ADC-4571-96AE-F35A02B85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6CAD2D9-3A18-4F33-879E-67E7C6E68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EUR 1,199.22m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00FFDBE1-2CA5-4444-BCEC-5795ED8A4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0.79/ml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5548F11E-19E8-4C5E-A675-9B5BB7B9C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7DBEB0C9-0320-4766-8136-B8D1319F0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EUR 1,654.62m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78C7CDDB-4E97-48EA-80D0-EC2F8FB18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1.09/ml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5733AE15-CBD2-4732-8202-38025F151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Formula: volume_litres * 1000 * retail_price_eur_per_ml.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AC953688-3103-46A4-8CCA-0F0D99CAA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C86C9D92-DB41-49EE-8637-AEA703539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2AD20889-E12D-426C-BFD3-57C4C2BFA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Not observed sales. The provisional 2025 taxed-liquid volume is multiplied by three 2026 prices from one German online shop. The year mismatch, single-shop basket, product mix and excluded categories make confidence low.</a:t>
            </a:r>
          </a:p>
        </p:txBody>
      </p:sp>
    </p:spTree>
    <p:extLst>
      <p:ext uri="{BB962C8B-B14F-4D97-AF65-F5344CB8AC3E}">
        <p14:creationId xmlns:p14="http://schemas.microsoft.com/office/powerpoint/2010/main" val="787653407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B213E1D-5D73-4748-8D24-7407C9111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GLOBAL 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A31B55B-E47E-4842-A628-54F3383C0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Global estimates are checks, not our estimate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5501F89-7B9C-411E-AF06-9B4CB2809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B437512-B305-457D-9CAF-A2B495A80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C8964F3-E9DA-4A72-A777-FE988196D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2026.07.26-25 · 2026-07-26 · Sources: IMARC; GVR; Fortune; European Commission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5480599-AB9D-4608-AFF7-FF61DCB23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91AAF22B-8D2F-4550-9AF0-CBA65BFA3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0599198-C694-4D79-8279-E590CCF18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USD 26.0bn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2E31F9C-AE3F-4872-84B1-B92652C89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IMARC 2025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AF5C0820-3CD1-442D-BD80-2AEF4E786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7B3D8EB-15FD-4A4C-80F2-6CFE636BC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USD 45.7bn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9BC5D0FA-F77F-4A42-B5E2-3DD66E862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GVR 2025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599B038D-B20B-4381-9017-014CC859A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A8378A9E-2431-4CB2-BA86-E164D0A68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USD 46.32bn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B83389FC-4060-45DC-BC57-20074954B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Fortune 2025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A7DEA1E3-D3A4-4E1B-B7C9-9907E53E9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04C5E943-5661-412B-AB9F-D7E452BB1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EUR 4.99bn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2965A9AC-36D4-4CE5-8599-DA040DDD4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 Commission benchmark 2023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F64BEAFD-9163-45D3-8EC4-8ABDE0E61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EU benchmark supports a scale cross-check; the commercial range is wide because product scopes and methods may differ.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A39F05F6-2DDE-4327-88ED-8DDFD2492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B1E783A2-9F0E-40ED-A82D-01126B324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D43EF856-6CA5-4FC2-ACA8-2AFF76BD2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EU figure is based on commercial Euromonitor 2025 data; Cyprus, Luxembourg and Malta are missing. It is not a national donor market. The estimates are compared, not summed or used automatically as a royalty base.</a:t>
            </a:r>
          </a:p>
        </p:txBody>
      </p:sp>
    </p:spTree>
    <p:extLst>
      <p:ext uri="{BB962C8B-B14F-4D97-AF65-F5344CB8AC3E}">
        <p14:creationId xmlns:p14="http://schemas.microsoft.com/office/powerpoint/2010/main" val="435969525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D6BA03F-E2CA-40A6-99E6-576D6C87D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METHOD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8A0B8F4-DE1A-4037-8DED-53E2C9690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 global estimate needs ≥3 comparable markets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6CD8783-A5D0-40A5-A662-103445777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9DD0EEF-65F0-4004-8294-693A9B2C1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3A52E21-30E8-4FDB-B835-667873A7C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2026.07.26-25 · 2026-07-26 · Sources: Market-values model; Readiness, donorProtocol and donorCandidates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7C251A1-2852-40A6-8CAF-98F8D30D7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282C188-0C18-4529-8960-D6B139F30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New Zealand is 7/10: D5 failed; D8 and D10 open. All 5 candidates remain outside; the donor gate is 0/3.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575EDD0-23CC-4637-9D8E-F229964B8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New Zealand's identified AIS/AVP subtotal of NZD 274.180m (≈EUR 153.3m; ECB 2024) comprises NZD 189,402,451.96 consumables, NZD 84,709,409.85 devices/hardware and NZD 68,548.40 mixed systems.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NZD 2,137,085.24 adjacent and NZD 4,367,017.37 unresolved rows are excluded. New Zealand passes 7/10; D5 fails and D8/D10 remain open.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separate NZD 533.7–731.2m (≈EUR 298.5–408.9m; ECB 2024) RPS sensitivity remains a supported model, not observed national value. The donor gate remains 0/3.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FC3AB0D8-DC0B-4762-B201-A7E71B8A7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5950B72-ADF6-45C2-A180-36DBD228E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Only then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B0A9DA4-2AEE-4661-87AB-F32D78B83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Triangulate demand, tax, customs, company and price methods. Compare results; do not add alternative estimates together.</a:t>
            </a:r>
          </a:p>
        </p:txBody>
      </p:sp>
    </p:spTree>
    <p:extLst>
      <p:ext uri="{BB962C8B-B14F-4D97-AF65-F5344CB8AC3E}">
        <p14:creationId xmlns:p14="http://schemas.microsoft.com/office/powerpoint/2010/main" val="1805573048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5710CAB-86E0-46DA-B288-2DA498D02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VALUE BRIDGE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799A060-F14F-48C2-B4EB-A8B41CFC3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market-to-patent bridge has five filters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D3221D9-1318-415F-A17F-908A2E9EB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E7706AC-88A4-44BC-AA17-3D13B7207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3DBB59B-3B6B-40B7-A085-518B9FAB3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2026.07.26-25 · 2026-07-26 · Sources: WIPO valuation;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06742D3-9433-4D9E-BB84-EBC87CD84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60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270"/>
                <a:gridCol w="4217670"/>
                <a:gridCol w="4732020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Level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Filter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Evidence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 Total market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and metric scope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Partial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2. Jurisdiction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Enforceable operative claim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 globally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3. Relevant products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Limited evidence: Germany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4. Relevant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× country × period × net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5. Cash flow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Royalty/settlement − costs − taxes − delay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D58570F-0647-4884-A0ED-349E09704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Only bottom-level cash flow can service debt; the upper-level market cannot do so by itself.</a:t>
            </a:r>
          </a:p>
        </p:txBody>
      </p:sp>
    </p:spTree>
    <p:extLst>
      <p:ext uri="{BB962C8B-B14F-4D97-AF65-F5344CB8AC3E}">
        <p14:creationId xmlns:p14="http://schemas.microsoft.com/office/powerpoint/2010/main" val="40788706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7582266-6625-4705-8B02-A587786E8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CUSTOMERS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C7A6379-6755-4717-B810-86822E290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Potential customers are hypotheses, not yet evidence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87034E8-2FE6-4D6C-A791-4F8D8B9A2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6E93C06-3E55-4C71-B35E-F95F59AEE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F3B3D4E-43E2-47C5-838C-00F1855A0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2026.07.26-25 · 2026-07-26 · Sources: WIPO licensing; IP Finance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A32981D-1F30-4F80-9016-1BC7A8774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CF82D21-1220-43D7-B5BD-0C62BC194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Commercialisation routes point to manufacturers, technology providers, and IP financiers or buyers.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15F102A-26A9-47B3-A83C-476D7B355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For a manufacturer, value may be a licence, freedom to operate or settlement.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For a technology provider, value may be an integrable function or legal position.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For a financier, value is controllable, realisable cash flow and downside protection.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A61A1E0B-AB82-4CA0-979C-EB087F544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59019C9-36C7-4F92-A32A-97523475B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Validation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2F1E68D-3EE2-4434-80E4-91D56F3F1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Document 10–15 interviews, decision criteria, objections, budget and next step. The public evidence does not yet include these.</a:t>
            </a:r>
          </a:p>
        </p:txBody>
      </p:sp>
    </p:spTree>
    <p:extLst>
      <p:ext uri="{BB962C8B-B14F-4D97-AF65-F5344CB8AC3E}">
        <p14:creationId xmlns:p14="http://schemas.microsoft.com/office/powerpoint/2010/main" val="823539845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DC1F48F-DBDC-4832-A079-4268DE954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COMPETITION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EB71135-1F16-43E4-B80B-7CB164F5A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competition map must cover four parallel levels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DADEF86-512A-4559-A1A3-E9DA46214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637DA27-2239-46C2-90FC-1B2E8A1A3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F3188BC-4A95-4152-947E-992EAE377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2026.07.26-25 · 2026-07-26 · Sources: Evidence Register; EPO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71F1C9B-D8DA-4161-9FA4-D5D7B7590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5452109"/>
                <a:gridCol w="360044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Level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Analysis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Output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Function, architecture, price, market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Comparison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Claims, prior art, status, FTO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 landscape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Design-arounds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Can the performance be achieved in a different way?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Design-around assessment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Commercial alternative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Licence, acquisition, in-house development, litigation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Buy/build/license/litigate model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04BDD79-6A66-4215-B229-A24C6F6AD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A technical advantage is not credible until alternatives have been documented and sourced.</a:t>
            </a:r>
          </a:p>
        </p:txBody>
      </p:sp>
    </p:spTree>
    <p:extLst>
      <p:ext uri="{BB962C8B-B14F-4D97-AF65-F5344CB8AC3E}">
        <p14:creationId xmlns:p14="http://schemas.microsoft.com/office/powerpoint/2010/main" val="774753806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F6875E5-E0B1-4ACC-B90E-29C1FB275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TECHNICAL VALIDATION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28944AE-76E6-4505-AEDD-6B84FCD3F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Product validation needs an unbroken evidence chain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0AA767A-B4D3-457E-BA60-418A5D055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3C25DFD-5989-4174-AFEB-CD49B3569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EF8596F-1522-4CBE-B8C5-4EFDB285A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2026.07.26-25 · 2026-07-26 · Sources: EP3032975B2;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B94C1A0-0048-4E4C-A834-1CE685157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E731D89B-BABA-4270-89EB-99931347F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AA8B664-2BDA-460F-9806-9B462BF2F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B0BE2818-F751-4F2D-A0BA-3A6D5B200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Sample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44E3C07-E8BE-4672-AD10-6E66670E3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Purchase in the correct country and period; document the seller, product version and serial details.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28E7FCE8-F5F8-4243-866E-74C7B0372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D0E6494D-2C87-4819-B374-3FF020825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82FB0082-B0DF-41FF-8FD3-C08A7CC95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Chain of custody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2CE698EA-44CB-4DEB-B1A8-DCA60757E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Record receipt, storage, opening, imaging and file hashes.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24D3BCDB-5B40-470F-960F-9AC14A1CA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A1EA9AED-4612-467D-A8D4-C55D441E8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B552F221-0C87-4486-939E-9DC7D67F4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Teardown and testing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62FFA47E-03EF-4A60-93D1-D0E3F2FC5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Produce an independent measurement protocol, raw data and repeatability test.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083AA43B-ACE8-4D93-8F3D-1D1B96637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44AABC2E-1281-48C9-930A-DD1B9230B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5B9CEE19-D199-4533-BB80-F15D939FF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Claim chart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2391DBA8-CDBE-4B6F-95E7-1295571B8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Map every claim limitation to evidence and counsel's conclusion.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9E75A7C6-F5DD-4C7D-BD29-A05A33250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Market sales can be attributed only after product identity and claim mapping are controlled.</a:t>
            </a:r>
          </a:p>
        </p:txBody>
      </p:sp>
    </p:spTree>
    <p:extLst>
      <p:ext uri="{BB962C8B-B14F-4D97-AF65-F5344CB8AC3E}">
        <p14:creationId xmlns:p14="http://schemas.microsoft.com/office/powerpoint/2010/main" val="798007136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4E74E92-7E1D-492B-8A91-EF768DAB7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COMMERCIALISATION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3B47B44-0420-4C8E-A32F-C79B25830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Commercialisation starts with hard gates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4EDF62B-B44F-46C1-8A61-D01FFC92E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1DD33C3-9FA9-4E2E-B406-0B0772702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2C85D1D-3A37-4D16-82F9-AB65CA7CD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2026.07.26-25 · 2026-07-26 · Sources: WIPO dispute resolution; EPO IPscore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BAC2765-8C3B-4ABF-BC86-2DEACF5A1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5BA3B966-63E0-4856-B11B-9DCF00389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8DD3F24-29F7-49B3-A872-24765C11D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BAA7383-1C40-4794-B71D-9D2D30BF7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Confirm the right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94BA6F8-628D-4D43-905B-EE4237884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No outreach without country-specific title, validity, encumbrance and deadline information.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7BD47B64-1E07-4512-AFE5-166840250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50FE1454-DF6E-49B0-83CF-DA13C44B3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63A19E6-36C9-418C-9EF5-084D29AEC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Confirm the product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0CB4D72-38DC-4A92-908B-49A6BFE83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No assertion without a product sample, claim chart and documentation of the local act.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05798E7D-735F-470E-BAB6-77CE24E29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84AE90E0-A99D-488F-BD32-A67E61CBF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1949FB17-619C-4340-B8E1-EE3DD208E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Score the target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EF26E67B-46BE-449E-94FA-B84001AE1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Assess sales, evidence, counterparty, jurisdiction, cost and recoverability.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3690EDBF-5BE1-4D76-8C62-7DE17D0A9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CA3C1DA4-52CF-4B8E-84B1-166910BFC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A6472916-3865-4B11-A809-9F7EC352E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Test a pilot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67BD1E65-2483-4602-9E7C-983388830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Negotiate licence, settlement, assignment or financing options under controlled conditions.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27F53E11-AD05-4B4B-A1CD-7371D9872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An outreach letter does not automatically interrupt limitation or prove service of notice.</a:t>
            </a:r>
          </a:p>
        </p:txBody>
      </p:sp>
    </p:spTree>
    <p:extLst>
      <p:ext uri="{BB962C8B-B14F-4D97-AF65-F5344CB8AC3E}">
        <p14:creationId xmlns:p14="http://schemas.microsoft.com/office/powerpoint/2010/main" val="897283177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840ACC2-9B55-4FEB-87BE-6DA290C81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COMMERCIALISATION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34B50B9-1DE3-45CC-B8E7-CE7DE20EF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Routes differ in cash flow, control and risk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374E019-D191-44C2-92B3-BF7305912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8C6B870-6E89-4E30-B0BD-15BF53D8D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5A0C9BD-5588-43B1-8080-D74E1AEB5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2026.07.26-25 · 2026-07-26 · Sources: WIPO licensing; IP Finance; TPLF mapping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015199F-A03A-44B1-AD47-92F625412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995687"/>
                <a:gridCol w="506770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Route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Cash flow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Key risk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Licence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 + recurring royalty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Royalty-base audit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Settlement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Lump sum / phased payments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No automatic precedent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Assignment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Purchase price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Future upside is transferred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IP financing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Debt or revenue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Collateral value and controls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Litigation financing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Capital tied to costs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High cost and outcome risk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5603DA1-321E-4576-8578-650BDC31D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Choose a route only after the right, counterparty, cash flow and downside have been verified.</a:t>
            </a:r>
          </a:p>
        </p:txBody>
      </p:sp>
    </p:spTree>
    <p:extLst>
      <p:ext uri="{BB962C8B-B14F-4D97-AF65-F5344CB8AC3E}">
        <p14:creationId xmlns:p14="http://schemas.microsoft.com/office/powerpoint/2010/main" val="1027110735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6BE0EE7-9AF2-4C42-9B30-B55A13944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FINANCIAL MODEL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0A91FA2-9364-477D-BECC-249C82702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financial model begins with verifiable inputs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060FF19-5B57-435C-94CA-43CBA3839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16EC863-0A26-4A32-A988-4AF48554E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7A9A2FF-6D6C-440D-A233-3EFFDEC5E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2026.07.26-25 · 2026-07-26 · Sources: Evidence Register;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6245D8E-E56C-47FC-9945-B24B2851E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4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8761"/>
                <a:gridCol w="5869412"/>
                <a:gridCol w="178178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Input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Source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Status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Country-specific relevant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Authority / counterparty disclosure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Claim-mapped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Counsel-reviewed product dossier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or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 / legal analysis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Timing and recoverability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Proceeding and counterparty analysis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 and taxes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Budget / tax adviser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Discount rate and downside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8292C62-DF71-47E5-A6ED-0807C4F37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A lender-ready NPV cannot be derived from the current public package.</a:t>
            </a:r>
          </a:p>
        </p:txBody>
      </p:sp>
    </p:spTree>
    <p:extLst>
      <p:ext uri="{BB962C8B-B14F-4D97-AF65-F5344CB8AC3E}">
        <p14:creationId xmlns:p14="http://schemas.microsoft.com/office/powerpoint/2010/main" val="306396979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B21BE4E-4209-42B4-901C-CAA2E1946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SENSITIVITIES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DFD1891-80D0-4D6A-8BF4-3BD566375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Sensitivities must be tied to real risks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29A0504-21B9-4A6D-98DF-C5D71AC74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7172531-455B-472B-92C7-B4227B024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8718605-213E-4303-8A65-D70F17ECF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2026.07.26-25 · 2026-07-26 · Sources: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E45207E-B68D-4548-9D15-30BD95700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907"/>
                <a:gridCol w="3514375"/>
                <a:gridCol w="2267338"/>
                <a:gridCol w="226733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Driver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Downside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Base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Upside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Jurisdictions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Confirmed country only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Prioritised countries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Broader verified coverage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applicability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One product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Validated portfolio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Broad but documented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/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Expert-supported lower bound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Comparable terms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Verified upper bound only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Timing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Appeal and prolonged collection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 path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 structure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Full litigation budget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Limited pilot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 covered by counterparty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5ABE7E0-E77A-4A8C-ACBE-A52F9E38C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No percentages are entered before source evidence; this slide defines the scenario structure.</a:t>
            </a:r>
          </a:p>
        </p:txBody>
      </p:sp>
    </p:spTree>
    <p:extLst>
      <p:ext uri="{BB962C8B-B14F-4D97-AF65-F5344CB8AC3E}">
        <p14:creationId xmlns:p14="http://schemas.microsoft.com/office/powerpoint/2010/main" val="187718080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0FD3980-4153-4F64-8FD1-436A29028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REVIEWER QUESTIONS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8BCA060-D1AA-4031-83CC-4DAD9E324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Five questions determine the lender's next decision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36A6D5C-AE7B-4AFE-8B11-AB3153BFC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5B63B4C-B9E6-4ECA-8254-9AD840CF1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6739B54-953F-4854-9E03-C26510514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2026.07.26-25 · 2026-07-26 · Sources: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1517517-E470-4FED-A1E3-157E3D25A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7175"/>
                <a:gridCol w="4659015"/>
                <a:gridCol w="582376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#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Question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Required answer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exactly is owned, and where is it enforceable?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Signed rights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Which product satisfies which claim limitations?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 + independent test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are the verified relevant sales?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Product–country–period net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From where and when does debt-service cash arise?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payments, forecast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does the collateral realise in a downside case?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value + realisation path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896ACE9-6744-45CC-88A1-7378AB353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If any one answer remains materially open, financing must be conditional and phased.</a:t>
            </a:r>
          </a:p>
        </p:txBody>
      </p:sp>
    </p:spTree>
    <p:extLst>
      <p:ext uri="{BB962C8B-B14F-4D97-AF65-F5344CB8AC3E}">
        <p14:creationId xmlns:p14="http://schemas.microsoft.com/office/powerpoint/2010/main" val="879937939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A2C1441-25D5-40B4-A7E6-E4D8D582F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EVIDENCE REQUESTS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70D8EAE-E86F-4E1C-A183-D57A5801A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Missing evidence is prioritised by impact, not ease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252A1B3-BF78-4415-B944-D66EA7CA9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6B13001-80A3-4900-B35F-341654C2F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CD7D367-AA21-4CC9-9C45-162C238EB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2026.07.26-25 · 2026-07-26 · Sources: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B3ACBEF-AEA4-4DE5-B599-0FBD12173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9306"/>
                <a:gridCol w="4788775"/>
                <a:gridCol w="5171877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Priority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Evidence item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Decision impact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Title, transfers, encumbrances, renewal fees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Existing and controllable right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samples, tests and claim charts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Technical applicability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Relevant sales and counterparty data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base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receivables and payments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Debt-service capacity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Financial statements, debt, budget and funding need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Company and credit risk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IP/company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Collateral and price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C0DB4CD-B239-4F7D-BE31-4EBA89F08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public package shows the gaps; confidential evidence belongs in an access-controlled data room.</a:t>
            </a:r>
          </a:p>
        </p:txBody>
      </p:sp>
    </p:spTree>
    <p:extLst>
      <p:ext uri="{BB962C8B-B14F-4D97-AF65-F5344CB8AC3E}">
        <p14:creationId xmlns:p14="http://schemas.microsoft.com/office/powerpoint/2010/main" val="421166724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E755CEE-ED7A-497A-B5CF-D9913D631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NEXT STEPS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0EB8F58-19B9-405F-8644-1E67E32CF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 90-day programme turns gaps into controls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7E76773-7962-4656-B2CE-EDEB8AF9F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F097734-2B3A-4484-ADA1-DDF8A3D8F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357EC04-21B3-44B6-877F-8C44EB030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2026.07.26-25 · 2026-07-26 · Sources: Evidence Register; changelog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ABD792A-0781-480E-A6FF-668360CC6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6FBA9487-0B75-43D3-B95A-53DF63C5F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788FAE0-C433-4DB9-9062-424F7B75F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6657DA2-8145-40BA-A2F3-CF62A819D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0–30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C542AB6-D17D-4370-9C28-45F6F6D86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Rights matrix, deadlines, title and encumbrance review, and an index of company materials.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4C267C46-002F-4DF8-9321-D7C889721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175EA92-BD15-46F7-9693-909671758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404C77A5-85F3-4817-A423-660604698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31–60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AA580818-E4D3-461E-B56B-4C1D201F4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Product dossiers, claim charts, prioritised market sales and customer validation.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E315B5A1-136E-4674-9F05-4157C84F8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AFFB8ED-8BE6-4BDF-A598-991DE3E1C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9A56C01F-C3E4-43B5-A1C9-DB33CBC03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61–90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9817C5D-BC78-42E0-86EF-C2DDED39F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Cash-flow model, independent valuation, downside and term-sheet options.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08D6C6C9-13C2-44AA-B85E-50E1A302D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5EC4B7F9-63AC-49C8-9752-56908EF62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8B3DE3E5-D6A4-4B00-908B-33B12B6C8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Decision gate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BEED5EF7-EA3D-4C75-928F-79EAA0244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Approve, limit, phase or decline financing using explicit conditions and stop criteria.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2452359A-61C1-43F0-969B-6DF3B6B09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package is refreshed from the same public source data in every site release.</a:t>
            </a:r>
          </a:p>
        </p:txBody>
      </p:sp>
    </p:spTree>
    <p:extLst>
      <p:ext uri="{BB962C8B-B14F-4D97-AF65-F5344CB8AC3E}">
        <p14:creationId xmlns:p14="http://schemas.microsoft.com/office/powerpoint/2010/main" val="1551291873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D8564C6-F0E5-4F84-A931-488142A5E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DECISION FRAMEWORK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796B407-114A-48D0-90B6-400C3B6F1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1261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 lender-ready case is an evidence chain — not the largest possible market number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17762B5-35F7-4EB3-9D7D-DAC6D0987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Strong starting point: a documented patent core and official German legal evidence.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Critical open work: national rights, claim-mapped sales, cash flow and downside value.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Recommendation: conditional 90-day diligence, clear decision gates and an access-controlled data room.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This public package is a reviewable evidence map, not Pixan Oy's official position or a financing recommendation.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B54FC56-275F-4C8A-ABCD-33E9A5306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Version 2026.07.26-25 · 2026-07-26 · 30 / 30</a:t>
            </a:r>
          </a:p>
        </p:txBody>
      </p:sp>
    </p:spTree>
    <p:extLst>
      <p:ext uri="{BB962C8B-B14F-4D97-AF65-F5344CB8AC3E}">
        <p14:creationId xmlns:p14="http://schemas.microsoft.com/office/powerpoint/2010/main" val="101273956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2026-07-26T08:57:16.4190000Z</dcterms:created>
  <dcterms:modified xsi:type="dcterms:W3CDTF">2026-07-26T08:57:16.4190000Z</dcterms:modified>
</coreProperties>
</file>