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d34f92ad6b045f4" /><Relationship Type="http://schemas.openxmlformats.org/officeDocument/2006/relationships/extended-properties" Target="/docProps/app.xml" Id="Rcb57be9431da4922" /><Relationship Type="http://schemas.openxmlformats.org/officeDocument/2006/relationships/officeDocument" Target="/ppt/presentation.xml" Id="R989058386ce24ea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1b26c5546a644ec"/>
  </p:sldMasterIdLst>
  <p:notesMasterIdLst>
    <p:notesMasterId xmlns:r="http://schemas.openxmlformats.org/officeDocument/2006/relationships" r:id="Rd38e78ff0da6429d"/>
  </p:notesMasterIdLst>
  <p:sldIdLst>
    <p:sldId xmlns:r="http://schemas.openxmlformats.org/officeDocument/2006/relationships" id="256" r:id="R43d40e6248094fa6"/>
    <p:sldId xmlns:r="http://schemas.openxmlformats.org/officeDocument/2006/relationships" id="257" r:id="Rc330756853a64776"/>
    <p:sldId xmlns:r="http://schemas.openxmlformats.org/officeDocument/2006/relationships" id="258" r:id="R4e153b0151e54694"/>
    <p:sldId xmlns:r="http://schemas.openxmlformats.org/officeDocument/2006/relationships" id="259" r:id="R0ffb2bc732a64cc5"/>
    <p:sldId xmlns:r="http://schemas.openxmlformats.org/officeDocument/2006/relationships" id="260" r:id="R75aa3b4eaeae4cbf"/>
    <p:sldId xmlns:r="http://schemas.openxmlformats.org/officeDocument/2006/relationships" id="261" r:id="R1982831b419043c7"/>
    <p:sldId xmlns:r="http://schemas.openxmlformats.org/officeDocument/2006/relationships" id="262" r:id="R363ab280bbcd440d"/>
    <p:sldId xmlns:r="http://schemas.openxmlformats.org/officeDocument/2006/relationships" id="263" r:id="R18683e7b80f44565"/>
    <p:sldId xmlns:r="http://schemas.openxmlformats.org/officeDocument/2006/relationships" id="264" r:id="R998231dfbc7e4699"/>
    <p:sldId xmlns:r="http://schemas.openxmlformats.org/officeDocument/2006/relationships" id="265" r:id="R1d2c485bb16d4179"/>
    <p:sldId xmlns:r="http://schemas.openxmlformats.org/officeDocument/2006/relationships" id="266" r:id="R1a27c3e88cd243bd"/>
    <p:sldId xmlns:r="http://schemas.openxmlformats.org/officeDocument/2006/relationships" id="267" r:id="R82d6082e0c8e4df2"/>
    <p:sldId xmlns:r="http://schemas.openxmlformats.org/officeDocument/2006/relationships" id="268" r:id="R175dbed174824354"/>
    <p:sldId xmlns:r="http://schemas.openxmlformats.org/officeDocument/2006/relationships" id="269" r:id="Rb181dbf3a6ed436d"/>
    <p:sldId xmlns:r="http://schemas.openxmlformats.org/officeDocument/2006/relationships" id="270" r:id="R466b3652a22449d3"/>
    <p:sldId xmlns:r="http://schemas.openxmlformats.org/officeDocument/2006/relationships" id="271" r:id="Rac4e909281ee4064"/>
    <p:sldId xmlns:r="http://schemas.openxmlformats.org/officeDocument/2006/relationships" id="272" r:id="R144e0e0f7f9a4c7b"/>
    <p:sldId xmlns:r="http://schemas.openxmlformats.org/officeDocument/2006/relationships" id="273" r:id="R5ad58b13583a414f"/>
    <p:sldId xmlns:r="http://schemas.openxmlformats.org/officeDocument/2006/relationships" id="274" r:id="R4958b706ac8748cd"/>
    <p:sldId xmlns:r="http://schemas.openxmlformats.org/officeDocument/2006/relationships" id="275" r:id="Rd9f090e2933f42b7"/>
    <p:sldId xmlns:r="http://schemas.openxmlformats.org/officeDocument/2006/relationships" id="276" r:id="R4e8aebf06d5749a5"/>
    <p:sldId xmlns:r="http://schemas.openxmlformats.org/officeDocument/2006/relationships" id="277" r:id="Rb5f4438db20f462c"/>
    <p:sldId xmlns:r="http://schemas.openxmlformats.org/officeDocument/2006/relationships" id="278" r:id="Rc1ac7b1ab2954e1e"/>
    <p:sldId xmlns:r="http://schemas.openxmlformats.org/officeDocument/2006/relationships" id="279" r:id="R4c936c5ab2294e9c"/>
    <p:sldId xmlns:r="http://schemas.openxmlformats.org/officeDocument/2006/relationships" id="280" r:id="R1f9b1a7abca9406c"/>
    <p:sldId xmlns:r="http://schemas.openxmlformats.org/officeDocument/2006/relationships" id="281" r:id="R184c41cadb834872"/>
    <p:sldId xmlns:r="http://schemas.openxmlformats.org/officeDocument/2006/relationships" id="282" r:id="R9a7ec6fb7b054f48"/>
    <p:sldId xmlns:r="http://schemas.openxmlformats.org/officeDocument/2006/relationships" id="283" r:id="R9676aaa60a7c4408"/>
    <p:sldId xmlns:r="http://schemas.openxmlformats.org/officeDocument/2006/relationships" id="284" r:id="Rd8424a512a2f4185"/>
    <p:sldId xmlns:r="http://schemas.openxmlformats.org/officeDocument/2006/relationships" id="285" r:id="R664a768538a24c59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dd4b303ab1a4525" /><Relationship Type="http://schemas.openxmlformats.org/officeDocument/2006/relationships/slideMaster" Target="/ppt/slideMasters/slideMaster1.xml" Id="R81b26c5546a644ec" /><Relationship Type="http://schemas.openxmlformats.org/officeDocument/2006/relationships/notesMaster" Target="/ppt/notesMasters/notesMaster1.xml" Id="Rd38e78ff0da6429d" /><Relationship Type="http://schemas.openxmlformats.org/officeDocument/2006/relationships/presProps" Target="/ppt/presProps.xml" Id="Ra4375dbd371c49bb" /><Relationship Type="http://schemas.openxmlformats.org/officeDocument/2006/relationships/viewProps" Target="/ppt/viewProps.xml" Id="R437b04f2c9a84c48" /><Relationship Type="http://schemas.openxmlformats.org/officeDocument/2006/relationships/tableStyles" Target="/ppt/tableStyles.xml" Id="Rbc8632632bc74a40" /><Relationship Type="http://schemas.openxmlformats.org/officeDocument/2006/relationships/slide" Target="/ppt/slides/slide1.xml" Id="R43d40e6248094fa6" /><Relationship Type="http://schemas.openxmlformats.org/officeDocument/2006/relationships/slide" Target="/ppt/slides/slide2.xml" Id="Rc330756853a64776" /><Relationship Type="http://schemas.openxmlformats.org/officeDocument/2006/relationships/slide" Target="/ppt/slides/slide3.xml" Id="R4e153b0151e54694" /><Relationship Type="http://schemas.openxmlformats.org/officeDocument/2006/relationships/slide" Target="/ppt/slides/slide4.xml" Id="R0ffb2bc732a64cc5" /><Relationship Type="http://schemas.openxmlformats.org/officeDocument/2006/relationships/slide" Target="/ppt/slides/slide5.xml" Id="R75aa3b4eaeae4cbf" /><Relationship Type="http://schemas.openxmlformats.org/officeDocument/2006/relationships/slide" Target="/ppt/slides/slide6.xml" Id="R1982831b419043c7" /><Relationship Type="http://schemas.openxmlformats.org/officeDocument/2006/relationships/slide" Target="/ppt/slides/slide7.xml" Id="R363ab280bbcd440d" /><Relationship Type="http://schemas.openxmlformats.org/officeDocument/2006/relationships/slide" Target="/ppt/slides/slide8.xml" Id="R18683e7b80f44565" /><Relationship Type="http://schemas.openxmlformats.org/officeDocument/2006/relationships/slide" Target="/ppt/slides/slide9.xml" Id="R998231dfbc7e4699" /><Relationship Type="http://schemas.openxmlformats.org/officeDocument/2006/relationships/slide" Target="/ppt/slides/slide10.xml" Id="R1d2c485bb16d4179" /><Relationship Type="http://schemas.openxmlformats.org/officeDocument/2006/relationships/slide" Target="/ppt/slides/slide11.xml" Id="R1a27c3e88cd243bd" /><Relationship Type="http://schemas.openxmlformats.org/officeDocument/2006/relationships/slide" Target="/ppt/slides/slide12.xml" Id="R82d6082e0c8e4df2" /><Relationship Type="http://schemas.openxmlformats.org/officeDocument/2006/relationships/slide" Target="/ppt/slides/slide13.xml" Id="R175dbed174824354" /><Relationship Type="http://schemas.openxmlformats.org/officeDocument/2006/relationships/slide" Target="/ppt/slides/slide14.xml" Id="Rb181dbf3a6ed436d" /><Relationship Type="http://schemas.openxmlformats.org/officeDocument/2006/relationships/slide" Target="/ppt/slides/slide15.xml" Id="R466b3652a22449d3" /><Relationship Type="http://schemas.openxmlformats.org/officeDocument/2006/relationships/slide" Target="/ppt/slides/slide16.xml" Id="Rac4e909281ee4064" /><Relationship Type="http://schemas.openxmlformats.org/officeDocument/2006/relationships/slide" Target="/ppt/slides/slide17.xml" Id="R144e0e0f7f9a4c7b" /><Relationship Type="http://schemas.openxmlformats.org/officeDocument/2006/relationships/slide" Target="/ppt/slides/slide18.xml" Id="R5ad58b13583a414f" /><Relationship Type="http://schemas.openxmlformats.org/officeDocument/2006/relationships/slide" Target="/ppt/slides/slide19.xml" Id="R4958b706ac8748cd" /><Relationship Type="http://schemas.openxmlformats.org/officeDocument/2006/relationships/slide" Target="/ppt/slides/slide20.xml" Id="Rd9f090e2933f42b7" /><Relationship Type="http://schemas.openxmlformats.org/officeDocument/2006/relationships/slide" Target="/ppt/slides/slide21.xml" Id="R4e8aebf06d5749a5" /><Relationship Type="http://schemas.openxmlformats.org/officeDocument/2006/relationships/slide" Target="/ppt/slides/slide22.xml" Id="Rb5f4438db20f462c" /><Relationship Type="http://schemas.openxmlformats.org/officeDocument/2006/relationships/slide" Target="/ppt/slides/slide23.xml" Id="Rc1ac7b1ab2954e1e" /><Relationship Type="http://schemas.openxmlformats.org/officeDocument/2006/relationships/slide" Target="/ppt/slides/slide24.xml" Id="R4c936c5ab2294e9c" /><Relationship Type="http://schemas.openxmlformats.org/officeDocument/2006/relationships/slide" Target="/ppt/slides/slide25.xml" Id="R1f9b1a7abca9406c" /><Relationship Type="http://schemas.openxmlformats.org/officeDocument/2006/relationships/slide" Target="/ppt/slides/slide26.xml" Id="R184c41cadb834872" /><Relationship Type="http://schemas.openxmlformats.org/officeDocument/2006/relationships/slide" Target="/ppt/slides/slide27.xml" Id="R9a7ec6fb7b054f48" /><Relationship Type="http://schemas.openxmlformats.org/officeDocument/2006/relationships/slide" Target="/ppt/slides/slide28.xml" Id="R9676aaa60a7c4408" /><Relationship Type="http://schemas.openxmlformats.org/officeDocument/2006/relationships/slide" Target="/ppt/slides/slide29.xml" Id="Rd8424a512a2f4185" /><Relationship Type="http://schemas.openxmlformats.org/officeDocument/2006/relationships/slide" Target="/ppt/slides/slide30.xml" Id="R664a768538a24c5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1ba044bfeaa465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3d1beba922b435a" /><Relationship Type="http://schemas.openxmlformats.org/officeDocument/2006/relationships/notesMaster" Target="/ppt/notesMasters/notesMaster1.xml" Id="Rfe86e869995d4c2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9d80d20899f4587" /><Relationship Type="http://schemas.openxmlformats.org/officeDocument/2006/relationships/notesMaster" Target="/ppt/notesMasters/notesMaster1.xml" Id="R33d63258a36f4b2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bf9495cdeb745d9" /><Relationship Type="http://schemas.openxmlformats.org/officeDocument/2006/relationships/notesMaster" Target="/ppt/notesMasters/notesMaster1.xml" Id="R7fa343d640a847c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669a383b12845fe" /><Relationship Type="http://schemas.openxmlformats.org/officeDocument/2006/relationships/notesMaster" Target="/ppt/notesMasters/notesMaster1.xml" Id="Rffe7c4afbe9b4cc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652545793594ccb" /><Relationship Type="http://schemas.openxmlformats.org/officeDocument/2006/relationships/notesMaster" Target="/ppt/notesMasters/notesMaster1.xml" Id="R189596244d5b4f9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81deafc38e3471b" /><Relationship Type="http://schemas.openxmlformats.org/officeDocument/2006/relationships/notesMaster" Target="/ppt/notesMasters/notesMaster1.xml" Id="Rbbcdd3e7fb914f3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1c8ab3e891f454c" /><Relationship Type="http://schemas.openxmlformats.org/officeDocument/2006/relationships/notesMaster" Target="/ppt/notesMasters/notesMaster1.xml" Id="Re0cb5df95630445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c3492016ced42e7" /><Relationship Type="http://schemas.openxmlformats.org/officeDocument/2006/relationships/notesMaster" Target="/ppt/notesMasters/notesMaster1.xml" Id="R4650acc11965436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a95e18737204d73" /><Relationship Type="http://schemas.openxmlformats.org/officeDocument/2006/relationships/notesMaster" Target="/ppt/notesMasters/notesMaster1.xml" Id="Rec360d24fd3b408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ea30292ec7b44ba" /><Relationship Type="http://schemas.openxmlformats.org/officeDocument/2006/relationships/notesMaster" Target="/ppt/notesMasters/notesMaster1.xml" Id="R2ecb23a4681c473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fbfcf8edb2c4a84" /><Relationship Type="http://schemas.openxmlformats.org/officeDocument/2006/relationships/notesMaster" Target="/ppt/notesMasters/notesMaster1.xml" Id="R2c9b2cef3cfa43a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6dbd94b07b347e8" /><Relationship Type="http://schemas.openxmlformats.org/officeDocument/2006/relationships/notesMaster" Target="/ppt/notesMasters/notesMaster1.xml" Id="R8b05cc2e32b344f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5647691082c4eaa" /><Relationship Type="http://schemas.openxmlformats.org/officeDocument/2006/relationships/notesMaster" Target="/ppt/notesMasters/notesMaster1.xml" Id="R2917dae33c53483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4e2b2aca6e34175" /><Relationship Type="http://schemas.openxmlformats.org/officeDocument/2006/relationships/notesMaster" Target="/ppt/notesMasters/notesMaster1.xml" Id="R397bfbcef39c4f3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c7b0db10e964fb6" /><Relationship Type="http://schemas.openxmlformats.org/officeDocument/2006/relationships/notesMaster" Target="/ppt/notesMasters/notesMaster1.xml" Id="R85c67a408c5b4b5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4c915a553a344af" /><Relationship Type="http://schemas.openxmlformats.org/officeDocument/2006/relationships/notesMaster" Target="/ppt/notesMasters/notesMaster1.xml" Id="R9f164932154d4f8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9fba6e4d7dd4734" /><Relationship Type="http://schemas.openxmlformats.org/officeDocument/2006/relationships/notesMaster" Target="/ppt/notesMasters/notesMaster1.xml" Id="R1cecad8ae8484ab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b8d91cdf95a45b4" /><Relationship Type="http://schemas.openxmlformats.org/officeDocument/2006/relationships/notesMaster" Target="/ppt/notesMasters/notesMaster1.xml" Id="R6ab91b2739c64c6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700df6af619483b" /><Relationship Type="http://schemas.openxmlformats.org/officeDocument/2006/relationships/notesMaster" Target="/ppt/notesMasters/notesMaster1.xml" Id="R53a4beb5c6234c9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0f904f9007c4fb5" /><Relationship Type="http://schemas.openxmlformats.org/officeDocument/2006/relationships/notesMaster" Target="/ppt/notesMasters/notesMaster1.xml" Id="R7d5c862af97c4db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08ed770991744be" /><Relationship Type="http://schemas.openxmlformats.org/officeDocument/2006/relationships/notesMaster" Target="/ppt/notesMasters/notesMaster1.xml" Id="R3441db38fc10472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fa871a296994ee7" /><Relationship Type="http://schemas.openxmlformats.org/officeDocument/2006/relationships/notesMaster" Target="/ppt/notesMasters/notesMaster1.xml" Id="R4fb2d8b7d5114e8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2ab40bb27334b1e" /><Relationship Type="http://schemas.openxmlformats.org/officeDocument/2006/relationships/notesMaster" Target="/ppt/notesMasters/notesMaster1.xml" Id="R61978ac19029495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c90f2a9ecd44a68" /><Relationship Type="http://schemas.openxmlformats.org/officeDocument/2006/relationships/notesMaster" Target="/ppt/notesMasters/notesMaster1.xml" Id="Rff758408a4ab4fc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d751b0f96234141" /><Relationship Type="http://schemas.openxmlformats.org/officeDocument/2006/relationships/notesMaster" Target="/ppt/notesMasters/notesMaster1.xml" Id="Rf6294c58421c4a62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1bae94ec22b4def" /><Relationship Type="http://schemas.openxmlformats.org/officeDocument/2006/relationships/notesMaster" Target="/ppt/notesMasters/notesMaster1.xml" Id="R0c201a0fc60f460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c4afc7e1e894daa" /><Relationship Type="http://schemas.openxmlformats.org/officeDocument/2006/relationships/notesMaster" Target="/ppt/notesMasters/notesMaster1.xml" Id="R26021db288934a8d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44309b32606d4118" /><Relationship Type="http://schemas.openxmlformats.org/officeDocument/2006/relationships/notesMaster" Target="/ppt/notesMasters/notesMaster1.xml" Id="Rb7f4571dc8844b8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118da75e2f8948d9" /><Relationship Type="http://schemas.openxmlformats.org/officeDocument/2006/relationships/notesMaster" Target="/ppt/notesMasters/notesMaster1.xml" Id="Rcd963f83886546f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4efeb46781e4209" /><Relationship Type="http://schemas.openxmlformats.org/officeDocument/2006/relationships/notesMaster" Target="/ppt/notesMasters/notesMaster1.xml" Id="R3218d2a81b244e3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0955f7ddb54ba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31f690235842e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8196e822e946d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b44fa4567744e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54e9974c4042d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c01a04a4ae436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047aff7cb5468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5a339e4dd14de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ae20f122d8486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c99d44a2e2479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e084bf3b0c4425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AABC8D-3D0F-4AE2-ACB0-B6BE56226B4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18EA193-DBAD-4335-B926-42E1827359C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2807579-33AD-4D7D-8C2E-09AA1F6D8A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3005D7-212D-457F-A581-5012EF1057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CB43B2-E122-4F7F-847E-703807E861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B58543D-BEEB-4B5F-BD92-AEBF27E317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C8CAC14-DD06-403B-98EB-45EF1A2DF1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4DBB64-CFF9-4F28-A8B5-4FDE4F5CAF0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B8520B3-E6E8-4307-AB13-DA00CF81D6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D38791-9CF0-4BBB-8067-9D6693BE2E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4D168E-3D89-46A1-9192-B286A7DEB9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93189B9-24AA-4351-A9B9-888EB3CE08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36CD74-A166-4424-970E-25C192F5E5A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67363D-2369-4A8F-8AFB-783507FA1BD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FA7206A-73C0-438D-9167-5E2E8345F4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432C32-C272-4B86-B757-E47BBE0004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4B27DB3-D8E5-4055-880C-613AB9062D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92B08F7-360A-4E13-ADA8-4C558585FE5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9F3A50A-94F4-4F9A-974C-DD23073C6C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AA1CC7-6634-4050-8B70-DF1E24C9EC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4810495-B1F5-42BA-B2EF-43F6F05BB0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D0DC1A-BD61-42C7-9653-AC2B28EB21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D431A23-4C43-44CB-BBF3-58AE7C95A1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A011230-7FE6-4F4E-972C-89F4B90111C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06913C5-B19C-4164-B33F-C451C9FD802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FEB89E8-64AD-4C12-9DE7-11C61F43F97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6C103F1-90BA-458D-8045-B40E94B55F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C365AA2-DE68-44F2-BD27-388B835CE9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EB72308-EA4B-430D-9A28-C2E83FE546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314A15F-8471-432D-96EC-17B538ED65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CBCFD97-E6FF-453C-918B-C95041FD5D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633F264-80B1-4FC2-A4EA-F57E192595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FD1E70F-E809-4BD2-AFE8-EBE18914F6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E32F459-5871-4120-949D-132724F748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E3D56C7-6C0E-45BF-929E-99D5D24E984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FB7BC12-5253-4F92-8BAB-AE2147182C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4AF9D0-A94C-4A96-A494-8F3B8240F0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EBF473-15FD-4307-B9C1-77937F3E3DE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7B471F2-1654-48D2-911D-2ED6633190F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753E52F-C21B-4F06-BDE5-66DF80A872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C01EED6-3912-4580-9E3E-D12805D60ED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0EE1DEE-3D93-45B8-BCA0-52901D13B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BAE7B6C-0913-484B-89CE-CB3B869943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D4CF749-020E-4C3B-BD86-98DA1AE7B9C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D79949E-115C-446E-BBCC-2D6F0144DA0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CA2923-33A7-4138-AEE4-C930B1610B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B413189-275F-4183-8407-91A969B683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FD95F6C-D2A0-4D17-801E-AC4D5E1431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A292B62-3179-4CE2-8874-E90BD2E16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401A5E3-7E11-4A15-A86B-1B57C9D817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CD97DF-ED6E-42C1-92AC-9DCF1F5776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9724F83-E5E2-435A-9D6C-A51E726F92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CA2688D-CBE7-454B-9DCE-DA146AE03A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06FD5BE-2337-46E0-94AD-1C379283D9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E62DF53-B1D2-450D-B16F-E73B492B01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766C48-F4A1-4FAF-B4AD-35A563DAD4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9D3230-4522-47BA-B0B8-C9B279F67C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7630D6F-B513-4156-B11E-B15E1B77AE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0392e27b4904ef8" /><Relationship Type="http://schemas.openxmlformats.org/officeDocument/2006/relationships/slideLayout" Target="/ppt/slideLayouts/slideLayout1.xml" Id="R781024c123bf4efa" /><Relationship Type="http://schemas.openxmlformats.org/officeDocument/2006/relationships/slideLayout" Target="/ppt/slideLayouts/slideLayout2.xml" Id="R317fe0215f364650" /><Relationship Type="http://schemas.openxmlformats.org/officeDocument/2006/relationships/slideLayout" Target="/ppt/slideLayouts/slideLayout3.xml" Id="R782dd020193641fd" /><Relationship Type="http://schemas.openxmlformats.org/officeDocument/2006/relationships/slideLayout" Target="/ppt/slideLayouts/slideLayout4.xml" Id="Rcb19847541344a29" /><Relationship Type="http://schemas.openxmlformats.org/officeDocument/2006/relationships/slideLayout" Target="/ppt/slideLayouts/slideLayout5.xml" Id="R2b6feead69144ee9" /><Relationship Type="http://schemas.openxmlformats.org/officeDocument/2006/relationships/slideLayout" Target="/ppt/slideLayouts/slideLayout6.xml" Id="R4ee5381726e04d7e" /><Relationship Type="http://schemas.openxmlformats.org/officeDocument/2006/relationships/slideLayout" Target="/ppt/slideLayouts/slideLayout7.xml" Id="R9d2ddc355f494429" /><Relationship Type="http://schemas.openxmlformats.org/officeDocument/2006/relationships/slideLayout" Target="/ppt/slideLayouts/slideLayout8.xml" Id="Rd9b0e4ffaeef40b5" /><Relationship Type="http://schemas.openxmlformats.org/officeDocument/2006/relationships/slideLayout" Target="/ppt/slideLayouts/slideLayout9.xml" Id="R30385268b1c048f8" /><Relationship Type="http://schemas.openxmlformats.org/officeDocument/2006/relationships/slideLayout" Target="/ppt/slideLayouts/slideLayout10.xml" Id="R0f89f85c44dd44c0" /><Relationship Type="http://schemas.openxmlformats.org/officeDocument/2006/relationships/slideLayout" Target="/ppt/slideLayouts/slideLayout11.xml" Id="Ree29ab6a41b34e8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2008837-FA19-415A-9DCE-6B7995F669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EF4D0CC-0F53-4DE3-96CF-ABE207DBF2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ACF7C47-0F7F-4FE3-B7A3-3119E21F0EC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12AF831-9ABC-4603-8418-37529BFAC47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6A8DD6-9E26-4966-A317-4F4A441F450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81024c123bf4efa"/>
    <p:sldLayoutId xmlns:r="http://schemas.openxmlformats.org/officeDocument/2006/relationships" id="2147483650" r:id="R317fe0215f364650"/>
    <p:sldLayoutId xmlns:r="http://schemas.openxmlformats.org/officeDocument/2006/relationships" id="2147483651" r:id="R782dd020193641fd"/>
    <p:sldLayoutId xmlns:r="http://schemas.openxmlformats.org/officeDocument/2006/relationships" id="2147483652" r:id="Rcb19847541344a29"/>
    <p:sldLayoutId xmlns:r="http://schemas.openxmlformats.org/officeDocument/2006/relationships" id="2147483653" r:id="R2b6feead69144ee9"/>
    <p:sldLayoutId xmlns:r="http://schemas.openxmlformats.org/officeDocument/2006/relationships" id="2147483654" r:id="R4ee5381726e04d7e"/>
    <p:sldLayoutId xmlns:r="http://schemas.openxmlformats.org/officeDocument/2006/relationships" id="2147483655" r:id="R9d2ddc355f494429"/>
    <p:sldLayoutId xmlns:r="http://schemas.openxmlformats.org/officeDocument/2006/relationships" id="2147483656" r:id="Rd9b0e4ffaeef40b5"/>
    <p:sldLayoutId xmlns:r="http://schemas.openxmlformats.org/officeDocument/2006/relationships" id="2147483657" r:id="R30385268b1c048f8"/>
    <p:sldLayoutId xmlns:r="http://schemas.openxmlformats.org/officeDocument/2006/relationships" id="2147483658" r:id="R0f89f85c44dd44c0"/>
    <p:sldLayoutId xmlns:r="http://schemas.openxmlformats.org/officeDocument/2006/relationships" id="2147483659" r:id="Ree29ab6a41b34e8a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ae0b33f1be74aaa" /><Relationship Type="http://schemas.openxmlformats.org/officeDocument/2006/relationships/notesSlide" Target="/ppt/notesSlides/notesSlide1.xml" Id="R0f52def464c3402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8f6a9bb3e8a4192" /><Relationship Type="http://schemas.openxmlformats.org/officeDocument/2006/relationships/notesSlide" Target="/ppt/notesSlides/notesSlide2.xml" Id="R4315e63f9130456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921833b000447d0" /><Relationship Type="http://schemas.openxmlformats.org/officeDocument/2006/relationships/notesSlide" Target="/ppt/notesSlides/notesSlide3.xml" Id="Rbeb105148395473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e3622abe34640e5" /><Relationship Type="http://schemas.openxmlformats.org/officeDocument/2006/relationships/notesSlide" Target="/ppt/notesSlides/notesSlide4.xml" Id="R0655c67574dc4e3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32138a19f394c16" /><Relationship Type="http://schemas.openxmlformats.org/officeDocument/2006/relationships/notesSlide" Target="/ppt/notesSlides/notesSlide5.xml" Id="Rebaa56d63e10457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4300ce992fb4959" /><Relationship Type="http://schemas.openxmlformats.org/officeDocument/2006/relationships/notesSlide" Target="/ppt/notesSlides/notesSlide6.xml" Id="R25cb1995ceea463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1a2bbd9a16a4475" /><Relationship Type="http://schemas.openxmlformats.org/officeDocument/2006/relationships/notesSlide" Target="/ppt/notesSlides/notesSlide7.xml" Id="R4dca63b767844ee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f27fb300c924b34" /><Relationship Type="http://schemas.openxmlformats.org/officeDocument/2006/relationships/notesSlide" Target="/ppt/notesSlides/notesSlide8.xml" Id="R88ba3dabb27a4c9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7d284699162462d" /><Relationship Type="http://schemas.openxmlformats.org/officeDocument/2006/relationships/notesSlide" Target="/ppt/notesSlides/notesSlide9.xml" Id="Rc4201c43f23649b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73998c68ec645e5" /><Relationship Type="http://schemas.openxmlformats.org/officeDocument/2006/relationships/notesSlide" Target="/ppt/notesSlides/notesSlide10.xml" Id="Ra133727b45e346b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1febe8bf8ad49c4" /><Relationship Type="http://schemas.openxmlformats.org/officeDocument/2006/relationships/notesSlide" Target="/ppt/notesSlides/notesSlide11.xml" Id="R2be6ff3a8ed6425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d244eddc9284cb8" /><Relationship Type="http://schemas.openxmlformats.org/officeDocument/2006/relationships/notesSlide" Target="/ppt/notesSlides/notesSlide12.xml" Id="R5339cddfb48d4d6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b434fbcaf24491b" /><Relationship Type="http://schemas.openxmlformats.org/officeDocument/2006/relationships/notesSlide" Target="/ppt/notesSlides/notesSlide13.xml" Id="R0bcd820fd2bb484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1712f6feee045c5" /><Relationship Type="http://schemas.openxmlformats.org/officeDocument/2006/relationships/notesSlide" Target="/ppt/notesSlides/notesSlide14.xml" Id="R54de5748121f4d9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98ad945006b4be1" /><Relationship Type="http://schemas.openxmlformats.org/officeDocument/2006/relationships/notesSlide" Target="/ppt/notesSlides/notesSlide15.xml" Id="R7ee92928bc684ac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70d800e8d8e4f5b" /><Relationship Type="http://schemas.openxmlformats.org/officeDocument/2006/relationships/notesSlide" Target="/ppt/notesSlides/notesSlide16.xml" Id="Ra2be4a3a2888441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b136c01ffed4ebf" /><Relationship Type="http://schemas.openxmlformats.org/officeDocument/2006/relationships/notesSlide" Target="/ppt/notesSlides/notesSlide17.xml" Id="R3590352930a84b2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bccbbfd0f5f4354" /><Relationship Type="http://schemas.openxmlformats.org/officeDocument/2006/relationships/notesSlide" Target="/ppt/notesSlides/notesSlide18.xml" Id="Rcc41b2f28763411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94ede2cfee8470e" /><Relationship Type="http://schemas.openxmlformats.org/officeDocument/2006/relationships/notesSlide" Target="/ppt/notesSlides/notesSlide19.xml" Id="Rc63fa286ca4c404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ed508d0ac5f46f8" /><Relationship Type="http://schemas.openxmlformats.org/officeDocument/2006/relationships/notesSlide" Target="/ppt/notesSlides/notesSlide20.xml" Id="R4af35351622740e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bd3e4f8b74d4f49" /><Relationship Type="http://schemas.openxmlformats.org/officeDocument/2006/relationships/notesSlide" Target="/ppt/notesSlides/notesSlide21.xml" Id="Rc6a7d931d86d453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6ae0fac0de64c56" /><Relationship Type="http://schemas.openxmlformats.org/officeDocument/2006/relationships/notesSlide" Target="/ppt/notesSlides/notesSlide22.xml" Id="Rb69fd0500811497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20a2912728c4817" /><Relationship Type="http://schemas.openxmlformats.org/officeDocument/2006/relationships/notesSlide" Target="/ppt/notesSlides/notesSlide23.xml" Id="R45a271ad45d3488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13e61bfda28444e" /><Relationship Type="http://schemas.openxmlformats.org/officeDocument/2006/relationships/notesSlide" Target="/ppt/notesSlides/notesSlide24.xml" Id="R92f6b28298db477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c808e2265a34e71" /><Relationship Type="http://schemas.openxmlformats.org/officeDocument/2006/relationships/notesSlide" Target="/ppt/notesSlides/notesSlide25.xml" Id="R94a7d61d48504b5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6108af18fbb41ea" /><Relationship Type="http://schemas.openxmlformats.org/officeDocument/2006/relationships/notesSlide" Target="/ppt/notesSlides/notesSlide26.xml" Id="Raefa4c2824f0429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1ab48a141a34e4d" /><Relationship Type="http://schemas.openxmlformats.org/officeDocument/2006/relationships/notesSlide" Target="/ppt/notesSlides/notesSlide27.xml" Id="R2936a4fd71ca42e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704047159134e94" /><Relationship Type="http://schemas.openxmlformats.org/officeDocument/2006/relationships/notesSlide" Target="/ppt/notesSlides/notesSlide28.xml" Id="Rdcba752cc06a457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79d81ad643b42f5" /><Relationship Type="http://schemas.openxmlformats.org/officeDocument/2006/relationships/notesSlide" Target="/ppt/notesSlides/notesSlide29.xml" Id="R020a6063793c414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1ac81d1704546fd" /><Relationship Type="http://schemas.openxmlformats.org/officeDocument/2006/relationships/notesSlide" Target="/ppt/notesSlides/notesSlide30.xml" Id="R8370ab831cc4421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CDFD01A-FAF3-4CD6-A055-E766385F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20DB5EF-5B9A-4A09-85F5-AE9B6FC1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6B6EC1D-3281-4BF7-8D0D-CB4BB308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Defensible patent value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through evidence gates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F62F838-FFF3-46EF-A848-C04BD23E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Independent 30-slide reviewer and financing-decision package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189FC58-5A0F-4092-9164-A66BE585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8887B36-40AC-4A1E-8BBB-6EC6E6E5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2BABF0C-2DF7-4A65-8AD0-041E559B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2026.08.03-44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B607AF4-ABB2-405A-A020-46631FFA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2026-08-03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68C1F43-0271-4164-9A1A-A683FDB6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D52267-8FC4-4F2B-B929-4A2DB74C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17B677B-5E50-4C81-8E0F-5BA6A4B8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47237699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5E73C5D-3689-4500-9D39-5842DC02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6120CE4-A2AF-40BE-A8E5-3B3F673B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Financing thesis: patent value is NOT_COMPUTED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8127BB5-2397-4C0E-8168-EFD25AFF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38B06F7-7917-4759-BD14-E712C852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7CBFFD-DA17-4343-9E14-F255B454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6682363-1F40-47D2-A29D-09E02543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D55C3A0-F420-4052-8310-3D75CB71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objective is to estimate defensible, premise-specific patent-value ranges through a transparent gated evidence chain.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30F6C44-63F6-4A10-87F3-DD70AB6A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22 publications means 20 national + EP + WO; 28 formal country rows are not 28 confirmed live rights.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Ordinary PCT national-phase and EP validation windows are long past; any exception is country- and dossier-specific.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Seven separate outputs remain null/NOT_COMPUTED; seven output-specific gates keep premises, risks and collateral recovery separate.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5E9F9C5-2CC0-43BF-81E0-A827064C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1BEE5B-6CFD-4191-8D25-BCFC79B4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EA5030E-57BC-4694-986F-4C60CB6D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Continue diligence; do not make a final value or credit decision before the output-specific gates close.</a:t>
            </a:r>
          </a:p>
        </p:txBody>
      </p:sp>
    </p:spTree>
    <p:extLst>
      <p:ext uri="{BB962C8B-B14F-4D97-AF65-F5344CB8AC3E}">
        <p14:creationId xmlns:p14="http://schemas.microsoft.com/office/powerpoint/2010/main" val="116487260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563B18C-7167-4687-82D3-FEDFE9F0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8089BAD-99B0-491E-B9BA-5E4DBF5C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Three reasons to proceed—and three reasons to wait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422DB40-3EE8-4C85-8F5E-56EC457D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B165788-DD23-4F38-92EA-77C240A1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B97F9D-BDFD-4BCC-B49F-6ACF7C52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480567B-5D0C-4C4B-9D75-132210FB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Strong signal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supports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does not prove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central EPO opposition concluded with the patent maintained as amended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Documented 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and enforceability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signal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 or worldwide validity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Product- and claim-specific 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Another product, country or paid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B2C97FD-B3E7-4B5D-ABA2-1B4CB49E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lender should price only the evidence for which title, enforceability and cash flow have been confirmed.</a:t>
            </a:r>
          </a:p>
        </p:txBody>
      </p:sp>
    </p:spTree>
    <p:extLst>
      <p:ext uri="{BB962C8B-B14F-4D97-AF65-F5344CB8AC3E}">
        <p14:creationId xmlns:p14="http://schemas.microsoft.com/office/powerpoint/2010/main" val="64541311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CA5F0DB-F54B-4718-A0A2-E7909C9D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9226A72-7C04-4052-9686-F148EF63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Seven steps lead to separate value outputs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66C91FA-F402-4054-8116-04331798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7EB054F-0CE4-4140-8573-0AA39D4C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27BA54-25FF-428E-A4A7-75DC964E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EA8297E-7C02-456D-9EA5-E5124889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BB225-2D96-4D15-9F87-25C245B4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Market evidence → scope-key reconciliation → covered sales → four economic routes → weighted dated cash flows → PV and single-use adjustments → separate non-additive outputs.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DB80D02-35E5-4108-8B14-681BE7B9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All seven premise-specific outputs and every intermediate value remain null/NOT_COMPUTED.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All seven output-specific mandatory gates remain OPEN.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Missing is not zero, market is not patent value, and neither time nor risk may be counted twice.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946D25E-719B-40C5-81FF-23A2A7FF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1C21B89-0844-4597-8B32-042138C6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Credit risk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D9A4C98-AED7-4C9E-9CD3-DBB6DB09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One open output dependency prevents that premise-specific low, central and high range from being computed.</a:t>
            </a:r>
          </a:p>
        </p:txBody>
      </p:sp>
    </p:spTree>
    <p:extLst>
      <p:ext uri="{BB962C8B-B14F-4D97-AF65-F5344CB8AC3E}">
        <p14:creationId xmlns:p14="http://schemas.microsoft.com/office/powerpoint/2010/main" val="9288424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D09C662-D81C-4F56-A729-5E67B919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1C3FB55-E561-42EA-A68F-C7FAC762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Resistance data drives the patented heating control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DF46FA-88B5-4423-9C72-E312520A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22468B1-1730-4837-96F3-B3D57C4F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5755A1-A114-4C11-A8B6-B3883F49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5976333-2B5E-4595-BB45-35697BCE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01A1231-6DF9-45FF-AE09-74CEEB18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CCE6305-AF56-4E4E-BB1C-38CEC480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Measurement: heating-element resistance.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Data: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Control: power delivered to the heater and user-adjustment limits.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0C9C06-6668-4D9A-9131-F0B37764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7E04D1-8405-4A9B-B6E3-F9DE80BE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Interpretive limit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5C3B482-C8CE-4874-983D-302FDC4D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plain-language description does not replace country-specific claim construction or product-specific claim analysis.</a:t>
            </a:r>
          </a:p>
        </p:txBody>
      </p:sp>
    </p:spTree>
    <p:extLst>
      <p:ext uri="{BB962C8B-B14F-4D97-AF65-F5344CB8AC3E}">
        <p14:creationId xmlns:p14="http://schemas.microsoft.com/office/powerpoint/2010/main" val="19996082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C4A71C-998B-4645-909D-8282CC46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9EB133-7EA9-46E0-85A2-824E225C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nine B2 claims are the starting point for review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A5FE8D-D3CB-4448-9229-5815CED6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108B73F-BE9C-40EF-99E3-9923D2E5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2E6CFC-E2F8-4517-9B67-87B7F240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45E6A2-AD81-447A-808D-A97F9EF7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Public description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 test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Controller / method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 of an electric vaporiser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version and country?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 measurement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Heating-element resistance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and when is it measured?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Stored values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Resistance–power mapping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Where is the data stored?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Non-proportional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Defined nature of the power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 claim limitation met?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Adjustment limits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Minimum and stored maximum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does the interface implement the limits?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1AEC4C1-09D2-494D-A6BF-38479ED6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Every claim limitation must be evidenced; a feature list alone is insufficient.</a:t>
            </a:r>
          </a:p>
        </p:txBody>
      </p:sp>
    </p:spTree>
    <p:extLst>
      <p:ext uri="{BB962C8B-B14F-4D97-AF65-F5344CB8AC3E}">
        <p14:creationId xmlns:p14="http://schemas.microsoft.com/office/powerpoint/2010/main" val="119110529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BCF41E2-6E38-42B1-9B20-BE25328C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91FA5C-1749-4434-A880-8AC4CB86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Core IP events are traceable to official records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C1D28F-9A84-41A8-9C17-C7099952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66CB0D4-BE07-4463-9836-4E277B6B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824B545-E5ED-4B20-BBA2-3C2BB9DB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7A0FF63-3482-4A94-A7D1-ADD3DA9B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4A94A4A-48D0-4801-8EF7-8ABB79AF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667F6E4-E5D0-4B26-9053-A05EF46B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 August 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61C101F-FDDC-4012-81F8-E8641389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C95E02D-E297-4A92-86CE-1B48CDC4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6C8CDC-6B09-4B80-9449-177BE824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 April 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BAA0222-2351-4334-B45B-D0CFC98D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publication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8CD81F4-E35C-43C9-ADF4-84D8EB6D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D2B9B4A-92A5-4C1D-B7F5-A10637AF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72DAF87-3224-4AEF-B969-5433D9A0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amended claims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5A4CFBE-40C3-41B5-9030-749B0330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central EPO opposition and appeal proceedings have concluded; national post-grant status remains separate.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09DB08-9D4B-4086-AF49-CDAC794C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1BD6FF3-F031-4FB3-A28D-0A98B737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5FB9CD7-0B12-485A-8BBD-4ACA0F18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National post-grant rights remain separate from the central EPO proceedings.</a:t>
            </a:r>
          </a:p>
        </p:txBody>
      </p:sp>
    </p:spTree>
    <p:extLst>
      <p:ext uri="{BB962C8B-B14F-4D97-AF65-F5344CB8AC3E}">
        <p14:creationId xmlns:p14="http://schemas.microsoft.com/office/powerpoint/2010/main" val="97685634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C66A6E7-5D34-47E5-99EC-2C55D39D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GEOGRAPHIC COVERAGE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10A8E39-DEBC-4BB5-ABE6-3E58694D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22 publications = 20 national + EP + WO; 28 country rows do not prove live rights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1D63B8A-2A85-4919-BCE8-EAD60112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947506C-B491-472B-8A9B-BEEA45F3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50FF44A-6D17-402A-8AEE-ADF1D876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EPO family; national registers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359063-1E4C-46F1-A99C-7CAF2190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9333021-3227-4DAD-B8C4-1ABDB337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956181-15AF-4CA7-B1B2-0052EAE3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7A0DD0D-0D6C-4AA5-BD49-9DDA9085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BF21192-03C1-4589-B913-45A5D5F8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D4E3B3D-83FE-4673-9803-E6D99BB6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ACA8A1-325B-4081-8C72-210A281F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proceedings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F5CD70F-DD4B-4F9E-B6A2-DFCD7184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DA32818-52B5-4D4F-82D8-AFB3F5EE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8BC3607-63AF-4893-B7EE-BA5562FD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national-register checks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F30BE1E-F553-4E01-8067-83E07FDD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80F45ED-7783-42D0-8644-3A801D40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B83C444-7287-4EE5-8088-B290A8A2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enforceable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6872294-A5DA-407F-92EF-692E1707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publication route is a map, not proof of title or validity.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9D2CE942-4F1E-441C-AAF0-AA0C3F71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9DA1EA-C754-4E7E-89AD-ED8AD5C9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E9292A4-99F2-4643-9E58-71C0DB22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Counsel's country matrix should include proprietor, operative claims, renewal fee, receipt, encumbrances, UPC position and next deadline.</a:t>
            </a:r>
          </a:p>
        </p:txBody>
      </p:sp>
    </p:spTree>
    <p:extLst>
      <p:ext uri="{BB962C8B-B14F-4D97-AF65-F5344CB8AC3E}">
        <p14:creationId xmlns:p14="http://schemas.microsoft.com/office/powerpoint/2010/main" val="153128097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294FE6-EE9A-48CB-916B-6F2648FA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8B1EBD3-FC5E-4BCB-B57E-B62B1775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 decisions are strong but narrowly scoped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D330D2A-BA67-4537-AC67-6BC30364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BCEE0B8-FCCC-4305-B325-7B8BEA3D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A8D17E-9B11-4ED9-8237-57434EF4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Official judgments: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43743D7-0FDF-4051-8050-62A926F3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Reference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event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 and 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 (14 January 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dismissed the nullity action concerning the German part of EP3032975B2. The official register records an appeal to the Federal Court of Justice under case number X ZR 21/26. Not final while the BGH appeal is pending.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 (2 April 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found that the products examined directly infringed claims 1 and 6 and indirectly infringed them in relation to supplementary components, and ordered the remedies listed in the judgment. The official judgment is available; appeal status, finality and enforcement have not been independently confirmed in this publication.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2B831B5-D0C9-4B91-8EEE-B5AF3E5F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Germany is possible case-specific evidence for the adjudicated product and claim only; any transfer requires current counsel mapping and procedural-status review.</a:t>
            </a:r>
          </a:p>
        </p:txBody>
      </p:sp>
    </p:spTree>
    <p:extLst>
      <p:ext uri="{BB962C8B-B14F-4D97-AF65-F5344CB8AC3E}">
        <p14:creationId xmlns:p14="http://schemas.microsoft.com/office/powerpoint/2010/main" val="201369016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3A14811-3CA7-461E-9190-68F23FA0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FD4EC16-E4EC-440E-A808-534BFC0C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Chinese matter is not an infringement victory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2C5C14D-BD0F-4C8D-8FFE-B4B3382D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AE4FA61-39A8-4557-9979-CB300E31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8E40EB-FADF-44EC-A46C-0809AB5D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2DCF191-2539-4D78-9996-E392BAD1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1398F63-9F95-4D65-9730-BA304C00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Public secondary docket information points to an applicant-side re-examination of a rejected application.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0822FF3-44BA-4C12-9800-7B599495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proceeding is classified as a review-request matter.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official decision and detailed reasons were not obtained for the public package.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was later published as granted on 4 May 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5B315C8-21CB-4E6E-9C83-5B7CBCF4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27EA143-66E9-4C8E-90F0-17511E6B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Use limitation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BECE4F-721A-4AD9-96A1-2F3639CE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matter must not be described as Chinese infringement litigation, a counterparty invalidity action or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166243878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9A3EB66-B152-4E02-B5CE-CA474EB1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8ADCE89-3D54-46ED-AA21-C5C2745B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Four current IP alerts require a documented owner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5DFA0A9-85C8-4E05-884F-475E6ABA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AC1ED71-CC76-4875-9C4F-82F939E9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76B0DFA-502A-4D93-98C1-7188118F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1FEF084-0B34-4B99-8D77-DB862020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 / region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Deadline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the next Australian renewal immediately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 August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Finland's year-14 renewal fee is due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Reconcile every European national right before the payment cycle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 December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and pay the United States 7.5-year maintenance fee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EDDE9CD-E650-42AC-9113-94778522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Deadline monitoring is an operational collateral-value control, not an administrative detail.</a:t>
            </a:r>
          </a:p>
        </p:txBody>
      </p:sp>
    </p:spTree>
    <p:extLst>
      <p:ext uri="{BB962C8B-B14F-4D97-AF65-F5344CB8AC3E}">
        <p14:creationId xmlns:p14="http://schemas.microsoft.com/office/powerpoint/2010/main" val="125238518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82BC4E-0234-497E-96BF-7DE47420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B8C711-E067-4D85-AE06-44F52D52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195-country market evidence is an input—not patent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C9CCC90-43D0-4FE2-9D3A-B68F208A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1C30567-BC32-4700-A5E6-4FFC7AE6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7F349D5-C0F7-4295-A37D-384F02C9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FD92808-C9DA-4C41-9A83-2EA9F1D8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51CCDE9-85D1-4CD3-9FA9-6FC4294E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3EECFDE-C575-472D-ADA7-A856E8E3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52AA8A-4530-4AA6-88FA-5D5F6EA8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A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0EB8E2A-5312-4332-A767-89FC7C3D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4044830-D3A2-4A90-AEDA-D5E4C691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23A0DAE-3061-47E0-A205-9EECEFCA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B countries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64029E4-185B-4302-B095-8456F866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D3465E9-EDCC-4095-9164-69D10A7F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D97560E-DEA0-48B3-8E67-150D3F83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C countries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3AF47778-DA07-4D6B-A934-A3276130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0273013-769A-478B-B266-7FD676BA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4B39180-D3EF-495C-8B49-C1FFAA9A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D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D75885E-6444-44EB-8711-99DE325A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evidence observations; the UN component of the universe comprises 193 Member States.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ADA349B-BC46-4C1E-82FF-3EB41D12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2A7021-D53F-4FE2-B5F5-A4207B34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793CAFE-53DB-44D1-8658-2F9C5BC2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Grades A–D describe evidence maturity, not market size or commercial attractiveness.</a:t>
            </a:r>
          </a:p>
        </p:txBody>
      </p:sp>
    </p:spTree>
    <p:extLst>
      <p:ext uri="{BB962C8B-B14F-4D97-AF65-F5344CB8AC3E}">
        <p14:creationId xmlns:p14="http://schemas.microsoft.com/office/powerpoint/2010/main" val="95213904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8A344C-3B3F-46BD-A5B3-1ED93A2B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14FF401-79E3-4971-9077-D1802AA1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83517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116 market measures and 36 Swedish FHM register counts; method control 28 / 0 / 15 / 152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BBEA8B5-0E60-45BD-B43C-2D2095C2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FA7148B-A296-4E21-A4EB-BF6AFA44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616604F-77F5-4197-8F79-10BED5C4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World Bank; Statistics Canada; Health Canada; New Zealand Ministry of Health; Destatis; Vero; Sejm; FHM; FTC; ADM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7BFC5B-1DED-45FF-8E07-93C6BBA7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observation / supported model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CAD 1.219160bn (≈EUR 822.6m; ECB 2024) / EUR 822.58m; monthly route +CAD 1,000. Canada 7/10; D5/D7 failed, D10 open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 → 1.518m l of taxed liquid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11,801.062 l; EUR 3.54m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New Zealand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identified AIS/AVP vaping subtotal NZD 274.180m (≈EUR 153.3m; ECB 2024): consumables 189.402 + devices/hardware 84.709 + mixed systems 0.069m. NZ 7/10; D5 failed, D8/D10 open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Poland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2020–2023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e-liquid flow 1,451,529 → 805,441 litres; tax bridge for 4,382,500 broad-group devices + 62,500 component sets. Not e-cigarette-only, retail value or a donor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reported cartridge-system-plus-disposable sales reached USD 2.763bn (≈EUR 2.336bn; ECB 2021) in 2021; manufacturer reporting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78625A3-352C-4FE1-A449-C064BC81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Litres, shipment values and excise taxes are not summed into one market.</a:t>
            </a:r>
          </a:p>
        </p:txBody>
      </p:sp>
    </p:spTree>
    <p:extLst>
      <p:ext uri="{BB962C8B-B14F-4D97-AF65-F5344CB8AC3E}">
        <p14:creationId xmlns:p14="http://schemas.microsoft.com/office/powerpoint/2010/main" val="199623271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273BF43-3CF2-4ED5-836B-A4E25F5C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33A6C2-2427-4558-89FA-626DAB1D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2024: strong point estimate, 7/10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FFD21B4-6232-4206-9573-985A7387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A2C7FF-B6B5-4CB2-BC9D-0B5CD677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3280670-6BB0-4A2F-9AEA-60348E43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9C96A6D-90EC-4A0C-840E-A7C96AD1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CEC7B6F-0B87-41A6-B48A-7DAF1967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BC8EE8-0170-483C-8E2A-03D407E6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CAD 1.219160bn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574D5E7-EB77-418F-927C-421EBDC6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consumer retail · ≈EUR 822.6m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74D48C7-EA44-45A6-BA83-3B875DD4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2DC19C7-4A14-4694-BE01-C8364C09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CAD 1.160754bn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D79AA3E-0FBA-4D4A-9625-C98E5912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shipments · ≈EUR 783.2m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5F47315-60AF-4AB4-9D5E-8C9A0350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2EAD98D-2C00-4933-9397-F608CA58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CAD 1,000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8E4E8B6-C110-4EFF-8551-06194E46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monthly–quarterly gap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FA9A530-4CC9-4CEB-AC56-F69E228C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is CAD 58.406m, or 5.03%, above shipments. The residual is not margin or a market range; official tax evidence closes D8.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9E8F62-44D0-41FA-953A-4FF91646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8064071-9E81-447B-A55F-A32A00D4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B027A68-5278-4B38-A0AB-33D11999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 passes 7/10. D5 failed: NAICS 459999 is outside the target population. D7 failed: exact product-class quality metrics are unavailable. D10 remains open: transaction stages are unreconciled.</a:t>
            </a:r>
          </a:p>
        </p:txBody>
      </p:sp>
    </p:spTree>
    <p:extLst>
      <p:ext uri="{BB962C8B-B14F-4D97-AF65-F5344CB8AC3E}">
        <p14:creationId xmlns:p14="http://schemas.microsoft.com/office/powerpoint/2010/main" val="182565766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15FEC82-5D8C-4173-9DE2-AD108BF8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GERMANY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ED0EE92-D7AC-4A3E-91A5-361E22D7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liquid volume rose; value needs a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46A3549-6C4E-4A91-84D1-9A5E0C22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0322CDA-C7E4-471A-B305-CEF10EEF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F4142C5-B94B-4E3D-8DFA-9525D8DA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05A088C-09CC-4029-8671-EA226108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Taxed liquid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Excise tax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201m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1.284m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266m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1.518m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404m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Provisional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C8CD9E0-BB7E-44B1-8C94-226C2111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Taxed liquid volume excludes devices, tax-free and illicit trade and is not retail value.</a:t>
            </a:r>
          </a:p>
        </p:txBody>
      </p:sp>
    </p:spTree>
    <p:extLst>
      <p:ext uri="{BB962C8B-B14F-4D97-AF65-F5344CB8AC3E}">
        <p14:creationId xmlns:p14="http://schemas.microsoft.com/office/powerpoint/2010/main" val="130734097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F326A39-6B08-47EA-9CA3-10382719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7A84515-4112-4BC5-A002-8E112B6B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 informs the adjudicated case—it does not globalise 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1734FA-D9D1-4E82-9271-FF180020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03DD469-93A3-443F-927C-4BFAEF52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0F6EC0A-4B30-4507-B389-C921921A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84FECAC-E38A-4FFA-B906-E15B7315C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1F5A64C-143F-42A6-B2AF-7C93EC69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971B765-8DC7-4820-89A9-E9990CEA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EUR 667.92m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1ED503E-58B0-47FA-A04F-1950F4D7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0.44/ml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25F0DA3-1ADC-4571-96AE-F35A02B8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6CAD2D9-3A18-4F33-879E-67E7C6E6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EUR 1,199.22m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0FFDBE1-2CA5-4444-BCEC-5795ED8A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0.79/ml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548F11E-19E8-4C5E-A675-9B5BB7B9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DBEB0C9-0320-4766-8136-B8D1319F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1,654.62m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8C7CDDB-4E97-48EA-80D0-EC2F8FB1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1.09/ml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733AE15-CBD2-4732-8202-38025F151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Formula: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C953688-3103-46A4-8CCA-0F0D99CA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86C9D92-DB41-49EE-8637-AEA70353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AD20889-E12D-426C-BFD3-57C4C2BF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7589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published German judgment is possible case-specific evidence for the adjudicated product and claim only. Transfer to another product, counterparty, period or country requires current counsel-reviewed claim mapping and procedural-status verification.</a:t>
            </a:r>
          </a:p>
        </p:txBody>
      </p:sp>
    </p:spTree>
    <p:extLst>
      <p:ext uri="{BB962C8B-B14F-4D97-AF65-F5344CB8AC3E}">
        <p14:creationId xmlns:p14="http://schemas.microsoft.com/office/powerpoint/2010/main" val="78765340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213E1D-5D73-4748-8D24-7407C911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GLOBAL 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A31B55B-E47E-4842-A628-54F3383C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Global estimates are checks, not our estimate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5501F89-7B9C-411E-AF06-9B4CB280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B437512-B305-457D-9CAF-A2B495A8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8964F3-E9DA-4A72-A777-FE988196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5480599-AB9D-4608-AFF7-FF61DCB2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1AAF22B-8D2F-4550-9AF0-CBA65BFA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0599198-C694-4D79-8279-E590CCF1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USD 26.0bn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2E31F9C-AE3F-4872-84B1-B92652C8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F5C0820-3CD1-442D-BD80-2AEF4E78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7B3D8EB-15FD-4A4C-80F2-6CFE636B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USD 45.7bn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BC5D0FA-F77F-4A42-B5E2-3DD66E86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99B038D-B20B-4381-9017-014CC859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8378A9E-2431-4CB2-BA86-E164D0A6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83389FC-4060-45DC-BC57-20074954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A7DEA1E3-D3A4-4E1B-B7C9-9907E53E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4C5E943-5661-412B-AB9F-D7E452BB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965A9AC-36D4-4CE5-8599-DA040DDD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Commission benchmark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64BEAFD-9163-45D3-8EC4-8ABDE0E6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EU benchmark supports a scale cross-check; the commercial range is wide because product scopes and methods may differ.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A39F05F6-2DDE-4327-88ED-8DDFD2492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1E783A2-9F0E-40ED-A82D-01126B32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43EF856-6CA5-4FC2-ACA8-2AFF76BD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EU figure is based on commercial Euromonitor 2025 data; Cyprus, Luxembourg and Malta are missing. It is not a national donor market. The estimates are compared, not summed or used automatically as a royalty base.</a:t>
            </a:r>
          </a:p>
        </p:txBody>
      </p:sp>
    </p:spTree>
    <p:extLst>
      <p:ext uri="{BB962C8B-B14F-4D97-AF65-F5344CB8AC3E}">
        <p14:creationId xmlns:p14="http://schemas.microsoft.com/office/powerpoint/2010/main" val="43596952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6BA03F-E2CA-40A6-99E6-576D6C87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8A0B8F4-DE1A-4037-8DED-53E2C969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Donor 0/3 is an evidence-readiness input—not the final objective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6CD8783-A5D0-40A5-A662-10344577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9DD0EEF-65F0-4004-8294-693A9B2C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A52E21-30E8-4FDB-B835-667873A7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Market-values model; Method-route control; Readiness and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7C251A1-2852-40A6-8CAF-98F8D30D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282C188-0C18-4529-8960-D6B139F3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current donor gate is 0/3; it measures readiness for a possible global market model, not any final patent-value output.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75EDD0-23CC-4637-9D8E-F229964B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Every donor candidate must pass D1–D10; zero candidates are currently accepted.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donor gate does not replace national rights, product–claim mapping, attributable covered sales or an economic basis.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Market estimates remain cross-checks; they are neither added together nor relabelled as patent value.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C3AB0D8-DC0B-4762-B201-A7E71B8A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5950B72-ADF6-45C2-A180-36DBD228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Only then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B0A9DA4-2AEE-4661-87AB-F32D78B8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Compare demand, tax, customs, company and price methods; never add alternative estimates or turn missing evidence into zero.</a:t>
            </a:r>
          </a:p>
        </p:txBody>
      </p:sp>
    </p:spTree>
    <p:extLst>
      <p:ext uri="{BB962C8B-B14F-4D97-AF65-F5344CB8AC3E}">
        <p14:creationId xmlns:p14="http://schemas.microsoft.com/office/powerpoint/2010/main" val="180557304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710CAB-86E0-46DA-B288-2DA498D0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VALUE BRIDGE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799A060-F14F-48C2-B4EB-A8B41CFC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Five evidence filters feed the controlled seven-step value model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D3221D9-1318-415F-A17F-908A2E9E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E7706AC-88A4-44BC-AA17-3D13B720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3DBB59B-3B6B-40B7-A085-518B9FAB3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6742D3-9433-4D9E-BB84-EBC87CD84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Filter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and metric scope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Jurisdiction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Enforceable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 globally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 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evidence: Germany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× country × period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Cash 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Royalty/settlement − costs − taxes − delay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D58570F-0647-4884-A0ED-349E0970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probability-weighted, dated and risk-consistent cash flow can support an output; the overall market cannot do so by itself.</a:t>
            </a:r>
          </a:p>
        </p:txBody>
      </p:sp>
    </p:spTree>
    <p:extLst>
      <p:ext uri="{BB962C8B-B14F-4D97-AF65-F5344CB8AC3E}">
        <p14:creationId xmlns:p14="http://schemas.microsoft.com/office/powerpoint/2010/main" val="40788706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7582266-6625-4705-8B02-A587786E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CUSTOMERS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7A6379-6755-4717-B810-86822E29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Potential customers are hypotheses, not yet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87034E8-2FE6-4D6C-A791-4F8D8B9A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6E93C06-3E55-4C71-B35E-F95F59AE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3B3D4E-43E2-47C5-838C-00F1855A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A32981D-1F30-4F80-9016-1BC7A877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CF82D21-1220-43D7-B5BD-0C62BC19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Commercialisation routes point to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15F102A-26A9-47B3-A83C-476D7B35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Manufacturer: licence, freedom to operate or settlement.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Technology provider: integrable function or legal position.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Financier or buyer: controllable, realisable cash flow and downside protection.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61A1E0B-AB82-4CA0-979C-EB087F54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59019C9-36C7-4F92-A32A-97523475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2F1E68D-3EE2-4434-80E4-91D56F3F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Document 10–15 interviews, decision criteria, objections, budget and next step. The public evidence does not yet include these.</a:t>
            </a:r>
          </a:p>
        </p:txBody>
      </p:sp>
    </p:spTree>
    <p:extLst>
      <p:ext uri="{BB962C8B-B14F-4D97-AF65-F5344CB8AC3E}">
        <p14:creationId xmlns:p14="http://schemas.microsoft.com/office/powerpoint/2010/main" val="82353984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DC1F48F-DBDC-4832-A079-4268DE95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EB71135-1F16-43E4-B80B-7CB164F5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competition map must cover four parallel levels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DADEF86-512A-4559-A1A3-E9DA4621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637DA27-2239-46C2-90FC-1B2E8A1A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F3188BC-4A95-4152-947E-992EAE37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71F1C9B-D8DA-4161-9FA4-D5D7B759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Analysis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Function, architecture, price,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Comparison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in a different way?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 assessment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acquisition, in-house development, litigation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 model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04BDD79-6A66-4215-B229-A24C6F6A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technical advantage is not credible until alternatives have been documented and sourced.</a:t>
            </a:r>
          </a:p>
        </p:txBody>
      </p:sp>
    </p:spTree>
    <p:extLst>
      <p:ext uri="{BB962C8B-B14F-4D97-AF65-F5344CB8AC3E}">
        <p14:creationId xmlns:p14="http://schemas.microsoft.com/office/powerpoint/2010/main" val="77475380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F6875E5-E0B1-4ACC-B90E-29C1FB27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TECHNICAL VALIDATION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28944AE-76E6-4505-AEDD-6B84FCD3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validation needs an unbroken evidence chain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0AA767A-B4D3-457E-BA60-418A5D05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C25DFD-5989-4174-AFEB-CD49B356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F8596F-1522-4CBE-B8C5-4EFDB285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B94C1A0-0048-4E4C-A834-1CE68515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731D89B-BABA-4270-89EB-99931347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AA8B664-2BDA-460F-9806-9B462BF2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0BE2818-F751-4F2D-A0BA-3A6D5B20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Sample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44E3C07-E8BE-4672-AD10-6E66670E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Purchase in the correct country and period; document the seller, product version and serial details.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8E7FCE8-F5F8-4243-866E-74C7B037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0E6494D-2C87-4819-B374-3FF02082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2FB0082-B0DF-41FF-8FD3-C08A7CC9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Chain of custody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CE698EA-44CB-4DEB-B1A8-DCA60757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 receipt, storage, opening, imaging and file hashes.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24D3BCDB-5B40-470F-960F-9AC14A1C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1EA9AED-4612-467D-A8D4-C55D441E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552F221-0C87-4486-939E-9DC7D67F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and testing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2FFA47E-03EF-4A60-93D1-D0E3F2FC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Produce an independent measurement protocol, raw data and repeatability test.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3AA43B-ACE8-4D93-8F3D-1D1B9663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4AABC2E-1281-48C9-930A-DD1B9230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B9CEE19-D199-4533-BB80-F15D939F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391DBA8-CDBE-4B6F-95E7-1295571B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 every claim limitation to evidence and counsel's conclusion.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E75A7C6-F5DD-4C7D-BD29-A05A3325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Market sales can be attributed only after product identity and claim mapping are controlled.</a:t>
            </a:r>
          </a:p>
        </p:txBody>
      </p:sp>
    </p:spTree>
    <p:extLst>
      <p:ext uri="{BB962C8B-B14F-4D97-AF65-F5344CB8AC3E}">
        <p14:creationId xmlns:p14="http://schemas.microsoft.com/office/powerpoint/2010/main" val="79800713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4E74E92-7E1D-492B-8A91-EF768DAB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B47B44-0420-4C8E-A32F-C79B2583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starts with hard gates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4EDF62B-B44F-46C1-8A61-D01FFC92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1DD33C3-9FA9-4E2E-B406-0B077270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2C85D1D-3A37-4D16-82F9-AB65CA7C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BAC2765-8C3B-4ABF-BC86-2DEACF5A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BA3B966-63E0-4856-B11B-9DCF0038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8DD3F24-29F7-49B3-A872-24765C11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BAA7383-1C40-4794-B71D-9D2D30BF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right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94BA6F8-628D-4D43-905B-EE423788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outreach without country-specific title, validity, encumbrance and deadline information.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BD47B64-1E07-4512-AFE5-16684025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FE1454-DF6E-49B0-83CF-DA13C44B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63A19E6-36C9-418C-9EF5-084D29AE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product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0CB4D72-38DC-4A92-908B-49A6BFE8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assertion without a product sample, claim chart and documentation of the local act.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5798E7D-735F-470E-BAB6-77CE24E2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4AE90E0-A99D-488F-BD32-A67E61CB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949FB17-619C-4340-B8E1-EE3DD208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Score the target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F26E67B-46BE-449E-94FA-B84001AE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sales, evidence, counterparty, jurisdiction, cost and recoverability.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3690EDBF-5BE1-4D76-8C62-7DE17D0A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A3C1DA4-52CF-4B8E-84B1-166910BF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6472916-3865-4B11-A809-9F7EC352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 a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7BD1E65-2483-4602-9E7C-98338883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Negotiate licence, settlement, assignment or financing options under controlled conditions.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7F53E11-AD05-4B4B-A1CD-7371D987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An outreach letter does not automatically interrupt limitation or prove service of notice.</a:t>
            </a:r>
          </a:p>
        </p:txBody>
      </p:sp>
    </p:spTree>
    <p:extLst>
      <p:ext uri="{BB962C8B-B14F-4D97-AF65-F5344CB8AC3E}">
        <p14:creationId xmlns:p14="http://schemas.microsoft.com/office/powerpoint/2010/main" val="89728317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840ACC2-9B55-4FEB-87BE-6DA290C8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34B50B9-1DE3-45CC-B8E7-CE7DE20E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Routes differ in cash flow, control and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74E019-D191-44C2-92B3-BF730591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8C6B870-6E89-4E30-B0BD-15BF53D8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5A0C9BD-5588-43B1-8080-D74E1AEB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15199F-A03A-44B1-AD47-92F62541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Route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Key risk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recurring royalty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Royalty-base audit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Settlement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Lump sum / phased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 automatic precedent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Assignment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Purchase price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Future upside is transferred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 financing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 or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 and controls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Litigation financing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Capital tied to 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High cost and outcome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603DA1-321E-4576-8578-650BDC31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Choose a route only after the right, counterparty, cash flow and downside have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02711073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6BE0EE7-9AF2-4C42-9B30-B55A1394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0A91FA2-9364-477D-BECC-249C8270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Seven distinct patent-value outputs start at null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60FF19-5B57-435C-94CA-43CBA383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16EC863-0A26-4A32-A988-4AF48554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7A9A2FF-6D6C-440D-A233-3EFFDEC5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6245D8E-E56C-47FC-9945-B24B2851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Country-specific relevant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Authority / counterparty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Counsel-reviewed product 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or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/ legal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 and recoverability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Proceeding and counterparty analysis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and taxes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Budget / tax adviser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Discount rate and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8292C62-DF71-47E5-A6ED-0807C4F3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Market-participant, owner-specific, RFR/direct-use, third-party licensing, enforcement, transaction and collateral outputs remain null/NOT_COMPUTED and may not be added.</a:t>
            </a:r>
          </a:p>
        </p:txBody>
      </p:sp>
    </p:spTree>
    <p:extLst>
      <p:ext uri="{BB962C8B-B14F-4D97-AF65-F5344CB8AC3E}">
        <p14:creationId xmlns:p14="http://schemas.microsoft.com/office/powerpoint/2010/main" val="30639697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21BE4E-4209-42B4-901C-CAA2E194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DFD1891-80D0-4D6A-8BF4-3BD566375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Sensitivities follow evidenced risks without overlap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9A0504-21B9-4A6D-98DF-C5D71AC7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7172531-455B-472B-92C7-B4227B02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8718605-213E-4303-8A65-D70F17EC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E45207E-B68D-4548-9D15-30BD9570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Driver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Jurisdictions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 country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Prioritised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Broader verified coverage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One product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Validated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 but documented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/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Expert-supported lower bound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terms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Verified upper bound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Appeal and prolonged collection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path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structure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Full litigation budget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pilot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covered by counterparty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ABE7E0-E77A-4A8C-ACBE-A52F9E38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Do not enter percentages before source evidence; never count the same sales, cash flow, time factor or risk twice.</a:t>
            </a:r>
          </a:p>
        </p:txBody>
      </p:sp>
    </p:spTree>
    <p:extLst>
      <p:ext uri="{BB962C8B-B14F-4D97-AF65-F5344CB8AC3E}">
        <p14:creationId xmlns:p14="http://schemas.microsoft.com/office/powerpoint/2010/main" val="187718080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0FD3980-4153-4F64-8FD1-436A2902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REVIEWER QUESTIONS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8BCA060-D1AA-4031-83CC-4DAD9E32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Five questions determine the lender's next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36A6D5C-AE7B-4AFE-8B11-AB3153BF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5B63B4C-B9E6-4ECA-8254-9AD840CF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6739B54-953F-4854-9E03-C2651051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1517517-E470-4FED-A1E3-157E3D25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Required answer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exactly is owned, and where is it enforceable?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Signed rights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satisfies which claim limitations?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independent test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are the verified relevant sales?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Product–country–period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From where and when does debt-service cash arise?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payments, forecast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does the collateral realise in a downside case?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value + realisation path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896ACE9-6744-45CC-88A1-7378AB353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If any one answer remains materially open, financing must be conditional and phased.</a:t>
            </a:r>
          </a:p>
        </p:txBody>
      </p:sp>
    </p:spTree>
    <p:extLst>
      <p:ext uri="{BB962C8B-B14F-4D97-AF65-F5344CB8AC3E}">
        <p14:creationId xmlns:p14="http://schemas.microsoft.com/office/powerpoint/2010/main" val="87993793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A2C1441-25D5-40B4-A7E6-E4D8D582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EVIDENCE REQUESTS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0D8EAE-E86F-4E1C-A183-D57A5801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Missing evidence is prioritised by impact, not ease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52A1B3-BF78-4415-B944-D66EA7CA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6B13001-80A3-4900-B35F-341654C2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CD7D367-AA21-4CC9-9C45-162C238E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B3ACBEF-AEA4-4DE5-B599-0FBD1217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Decision impact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Title, transfers, encumbrances, renewal fees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Existing and controllable right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samples, tests and claim charts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 sales and counterparty 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receivables and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Debt-service capacity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Financial statements, debt, budget and funding need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Company and credit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IP/company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and price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0DB4CD-B239-4F7D-BE31-4EBA89F0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public package shows the gaps; confidential evidence belongs in an access-controlled data room.</a:t>
            </a:r>
          </a:p>
        </p:txBody>
      </p:sp>
    </p:spTree>
    <p:extLst>
      <p:ext uri="{BB962C8B-B14F-4D97-AF65-F5344CB8AC3E}">
        <p14:creationId xmlns:p14="http://schemas.microsoft.com/office/powerpoint/2010/main" val="421166724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755CEE-ED7A-497A-B5CF-D9913D63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0EB8F58-19B9-405F-8644-1E67E32C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90-day programme closes seven gates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7E76773-7962-4656-B2CE-EDEB8AF9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F097734-2B3A-4484-ADA1-DDF8A3D8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357EC04-21B3-44B6-877F-8C44EB03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ABD792A-0781-480E-A6FF-668360CC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FBA9487-0B75-43D3-B95A-53DF63C5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788FAE0-C433-4DB9-9062-424F7B75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657DA2-8145-40BA-A2F3-CF62A819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0–30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C542AB6-D17D-4370-9C28-45F6F6D8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Fix valuation basis, subject, intended use and scope keys; verify rights, title, encumbrances, operative claims and remaining term.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C267C46-002F-4DF8-9321-D7C88972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75EA92-BD15-46F7-9693-90967175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04C77A5-85F3-4817-A423-66060469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31–60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A580818-E4D3-461E-B56B-4C1D201F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 product and covered sales with Boolean/time masks, measured SKU sales and counsel claim state; infringement evidence only for enforcement.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315B5A1-136E-4674-9F05-4157C84F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AFFB8ED-8BE6-4BDF-A598-991DE3E1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A56C01F-C3E4-43B5-A1C9-DB33CBC0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61–90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9817C5D-BC78-42E0-86EF-C2DDED39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Select RFR/direct use, licensing, enforcement or strategic route; define a complete scenario set whose probabilities sum to one.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D6C6C9-13C2-44AA-B85E-50E1A302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EC4B7F9-63AC-49C8-9752-56908EF6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B3DE3E5-D6A4-4B00-908B-33B12B6C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Decision gate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EED5EF7-EA3D-4C75-928F-79EAA024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Discount weighted dated cash flows without risk/time duplication; collateral requires a separate recovery, priority, marketability, sale-time and cost case.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452359A-61C1-43F0-969B-6DF3B6B0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downloadable package is refreshed at most once per Asia/Nicosia calendar day.</a:t>
            </a:r>
          </a:p>
        </p:txBody>
      </p:sp>
    </p:spTree>
    <p:extLst>
      <p:ext uri="{BB962C8B-B14F-4D97-AF65-F5344CB8AC3E}">
        <p14:creationId xmlns:p14="http://schemas.microsoft.com/office/powerpoint/2010/main" val="155129187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8564C6-F0E5-4F84-A931-488142A5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96B407-114A-48D0-90B6-400C3B6F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Defensible patent value is a transparent chain—not the largest market number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17762B5-35F7-4EB3-9D7D-DAC6D098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Objective: estimate defensible, premise-specific patent-value ranges.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Current state: seven non-additive outputs are null/NOT_COMPUTED and all 7/7 output-specific gates are OPEN.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Next decision: close basis, rights, product, sales, economics, cash-flow and risk evidence without double counting.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This is an independent public evidence summary, not Pixan Oy's official position, a valuation or a financing recommendation.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B54FC56-275F-4C8A-ABCD-33E9A530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2026.08.03-44 · 2026-08-03 · 30 / 30</a:t>
            </a:r>
          </a:p>
        </p:txBody>
      </p:sp>
    </p:spTree>
    <p:extLst>
      <p:ext uri="{BB962C8B-B14F-4D97-AF65-F5344CB8AC3E}">
        <p14:creationId xmlns:p14="http://schemas.microsoft.com/office/powerpoint/2010/main" val="101273956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2026-08-04T06:59:08.2760000Z</dcterms:created>
  <dcterms:modified xsi:type="dcterms:W3CDTF">2026-08-04T06:59:08.2760000Z</dcterms:modified>
</coreProperties>
</file>